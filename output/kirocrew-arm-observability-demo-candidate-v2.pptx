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fdf9ad96ba4913" /><Relationship Type="http://schemas.openxmlformats.org/officeDocument/2006/relationships/extended-properties" Target="/docProps/app.xml" Id="Re7df51bc92894e28" /><Relationship Type="http://schemas.openxmlformats.org/officeDocument/2006/relationships/officeDocument" Target="/ppt/presentation.xml" Id="Rea3fdaf0ccd54089" /></Relationships>
</file>

<file path=ppt/presentation.xml><?xml version="1.0" encoding="utf-8"?>
<p:presentation xmlns:p="http://schemas.openxmlformats.org/presentationml/2006/main">
  <p:sldMasterIdLst>
    <p:sldMasterId xmlns:r="http://schemas.openxmlformats.org/officeDocument/2006/relationships" id="2147483648" r:id="R2dfc9421e6044cf6"/>
  </p:sldMasterIdLst>
  <p:notesMasterIdLst>
    <p:notesMasterId xmlns:r="http://schemas.openxmlformats.org/officeDocument/2006/relationships" r:id="R7f7898b7eabb485b"/>
  </p:notesMasterIdLst>
  <p:sldIdLst>
    <p:sldId xmlns:r="http://schemas.openxmlformats.org/officeDocument/2006/relationships" id="256" r:id="R5675e45e1791480a"/>
    <p:sldId xmlns:r="http://schemas.openxmlformats.org/officeDocument/2006/relationships" id="257" r:id="Rb39650ff01b14117"/>
    <p:sldId xmlns:r="http://schemas.openxmlformats.org/officeDocument/2006/relationships" id="258" r:id="Rc32864239a884790"/>
    <p:sldId xmlns:r="http://schemas.openxmlformats.org/officeDocument/2006/relationships" id="259" r:id="R025359ff29cc4f49"/>
    <p:sldId xmlns:r="http://schemas.openxmlformats.org/officeDocument/2006/relationships" id="260" r:id="R9d55f5aadc374e35"/>
    <p:sldId xmlns:r="http://schemas.openxmlformats.org/officeDocument/2006/relationships" id="261" r:id="R40dc30eeb37b4089"/>
    <p:sldId xmlns:r="http://schemas.openxmlformats.org/officeDocument/2006/relationships" id="262" r:id="Rbe18c82ddad346b6"/>
    <p:sldId xmlns:r="http://schemas.openxmlformats.org/officeDocument/2006/relationships" id="263" r:id="R32a59ea9c23c401b"/>
    <p:sldId xmlns:r="http://schemas.openxmlformats.org/officeDocument/2006/relationships" id="264" r:id="R7ab0294f856b41e4"/>
    <p:sldId xmlns:r="http://schemas.openxmlformats.org/officeDocument/2006/relationships" id="265" r:id="R38a47661c3d54b76"/>
    <p:sldId xmlns:r="http://schemas.openxmlformats.org/officeDocument/2006/relationships" id="266" r:id="R6cf53a062ea44a79"/>
    <p:sldId xmlns:r="http://schemas.openxmlformats.org/officeDocument/2006/relationships" id="267" r:id="R8d6f375938be46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3ed9f3045c4f99" /><Relationship Type="http://schemas.openxmlformats.org/officeDocument/2006/relationships/slideMaster" Target="/ppt/slideMasters/slideMaster1.xml" Id="R2dfc9421e6044cf6" /><Relationship Type="http://schemas.openxmlformats.org/officeDocument/2006/relationships/notesMaster" Target="/ppt/notesMasters/notesMaster1.xml" Id="R7f7898b7eabb485b" /><Relationship Type="http://schemas.openxmlformats.org/officeDocument/2006/relationships/presProps" Target="/ppt/presProps.xml" Id="R15f8438a16a14a4b" /><Relationship Type="http://schemas.openxmlformats.org/officeDocument/2006/relationships/tableStyles" Target="/ppt/tableStyles.xml" Id="Ree3ef007b8564127" /><Relationship Type="http://schemas.openxmlformats.org/officeDocument/2006/relationships/slide" Target="/ppt/slides/slide1.xml" Id="R5675e45e1791480a" /><Relationship Type="http://schemas.openxmlformats.org/officeDocument/2006/relationships/slide" Target="/ppt/slides/slide2.xml" Id="Rb39650ff01b14117" /><Relationship Type="http://schemas.openxmlformats.org/officeDocument/2006/relationships/slide" Target="/ppt/slides/slide3.xml" Id="Rc32864239a884790" /><Relationship Type="http://schemas.openxmlformats.org/officeDocument/2006/relationships/slide" Target="/ppt/slides/slide4.xml" Id="R025359ff29cc4f49" /><Relationship Type="http://schemas.openxmlformats.org/officeDocument/2006/relationships/slide" Target="/ppt/slides/slide5.xml" Id="R9d55f5aadc374e35" /><Relationship Type="http://schemas.openxmlformats.org/officeDocument/2006/relationships/slide" Target="/ppt/slides/slide6.xml" Id="R40dc30eeb37b4089" /><Relationship Type="http://schemas.openxmlformats.org/officeDocument/2006/relationships/slide" Target="/ppt/slides/slide7.xml" Id="Rbe18c82ddad346b6" /><Relationship Type="http://schemas.openxmlformats.org/officeDocument/2006/relationships/slide" Target="/ppt/slides/slide8.xml" Id="R32a59ea9c23c401b" /><Relationship Type="http://schemas.openxmlformats.org/officeDocument/2006/relationships/slide" Target="/ppt/slides/slide9.xml" Id="R7ab0294f856b41e4" /><Relationship Type="http://schemas.openxmlformats.org/officeDocument/2006/relationships/slide" Target="/ppt/slides/slide10.xml" Id="R38a47661c3d54b76" /><Relationship Type="http://schemas.openxmlformats.org/officeDocument/2006/relationships/slide" Target="/ppt/slides/slide11.xml" Id="R6cf53a062ea44a79" /><Relationship Type="http://schemas.openxmlformats.org/officeDocument/2006/relationships/slide" Target="/ppt/slides/slide12.xml" Id="R8d6f375938be46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dbfd05277d4f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822912470a4274" /><Relationship Type="http://schemas.openxmlformats.org/officeDocument/2006/relationships/notesMaster" Target="/ppt/notesMasters/notesMaster1.xml" Id="R25c3c0a8efe64e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7229d2d3844b32" /><Relationship Type="http://schemas.openxmlformats.org/officeDocument/2006/relationships/notesMaster" Target="/ppt/notesMasters/notesMaster1.xml" Id="Re69506ea596249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80b766378c4653" /><Relationship Type="http://schemas.openxmlformats.org/officeDocument/2006/relationships/notesMaster" Target="/ppt/notesMasters/notesMaster1.xml" Id="R97f3684ed04342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5dae213cbc4478" /><Relationship Type="http://schemas.openxmlformats.org/officeDocument/2006/relationships/notesMaster" Target="/ppt/notesMasters/notesMaster1.xml" Id="Rd21a319e204e44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d7a29427084152" /><Relationship Type="http://schemas.openxmlformats.org/officeDocument/2006/relationships/notesMaster" Target="/ppt/notesMasters/notesMaster1.xml" Id="Rcc8cf64c6a0942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d5f5fa27c94a16" /><Relationship Type="http://schemas.openxmlformats.org/officeDocument/2006/relationships/notesMaster" Target="/ppt/notesMasters/notesMaster1.xml" Id="R45d1f553998640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444067536d4a71" /><Relationship Type="http://schemas.openxmlformats.org/officeDocument/2006/relationships/notesMaster" Target="/ppt/notesMasters/notesMaster1.xml" Id="Ra6437acc08344f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e586bf64794bfa" /><Relationship Type="http://schemas.openxmlformats.org/officeDocument/2006/relationships/notesMaster" Target="/ppt/notesMasters/notesMaster1.xml" Id="Rac0d89da298c44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b9bd72aea24ff8" /><Relationship Type="http://schemas.openxmlformats.org/officeDocument/2006/relationships/notesMaster" Target="/ppt/notesMasters/notesMaster1.xml" Id="Rdd447a7946ab4d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8ad2f8f4bd46df" /><Relationship Type="http://schemas.openxmlformats.org/officeDocument/2006/relationships/notesMaster" Target="/ppt/notesMasters/notesMaster1.xml" Id="R4068f4e1e29f46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62dd5326de46eb" /><Relationship Type="http://schemas.openxmlformats.org/officeDocument/2006/relationships/notesMaster" Target="/ppt/notesMasters/notesMaster1.xml" Id="R898f90596a9946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f123bfc4774ba7" /><Relationship Type="http://schemas.openxmlformats.org/officeDocument/2006/relationships/notesMaster" Target="/ppt/notesMasters/notesMaster1.xml" Id="R4619d9bb5abb41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The observability walkthrough distinguishes native Gateway metrics from custom Mac and EC2 samples. Native Gateway metric collection and the custom client/server app are active. Collection events show a controlled Mac client quit and restart while the server Gateway remained running. Sources: evidence/aws/arm-20260913/final-cloud-verification.json; evidence/aws/arm-20260913/mcp-live-receipt.json;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desktop is connected to the ARM host with the local Gateway off. The ARM probe verifies direct MCP grants and S3 IAM outcomes. Native backend enforcement and sandbox behavior remain pending. The reference cites the September 11 baseline. Sources: kirocrew-security-layers.html; evidence/nightly/baseline-verification.json; evidence/aws/arm-20260913/client-runtime-receipt.json;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now directs the demo to a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core Gateway and MCP runtime files and service definitions. The custom App Kit backend runs with Crew authority; its installed app files are Crew-writable.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The desktop uses the existing administrator account to invoke the verified owner-token helper; the helper enters the Gateway mount namespace and then drops to crew for the stock token mint. Crew has no new sudo permission. Sources: infrastructure/bootstrap.sh; infrastructure/kirocrew-demo.service; infrastructure/kirocrew-mcp-demo.service; infrastructure/mcp-enforcement/server.py; infrastructure/ec2-demo.json; evidence/aws/arm-20260913/observability-runtime-receipt.json;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2026-09-13T14:07:16Z and records native_crew_backend_verified=false. An unauthenticated request returned 401, and discovery returned four tools. read_allowed returned 55 bytes and the expected SHA256, with AWS request ID 5NMYCQ5YF956H52H. mcp_denied returned tool_grant_denied at the MCP boundary. iam_denied returned S3 AccessDenied, HTTP 403, and request ID 5NMQFXT3FYT6A0A9. This probe directly exercises MCP and AWS; it does not establish native Crew execution or the configured Crew hook denial. Sources: evidence/aws/arm-20260913/mcp-live-receipt.json;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client is 0.7.0-nightly.20260913t061222. Its 24 selected paths passed RECORD hash and size checks in both bundled architecture lanes, 48 checks in total. Three selected paths differ from the September 12 baseline; that comparison does not establish behavioral equivalence. The EC2 server remains the custom Linux ARM64 repack of 0.7.0-nightly.20260912t060850, with 48 locked dependencies. Its 24 selected control modules match the frozen installed nightly source and are root-owned without group or world write access. The server was not upgraded when the Mac app changed. Kiro CLI 2.21.4 is installed separately from the official ARM artifact. It is the selected agent backend, but whoami reports unauthenticated and ACP startup exits with 'not logged in'. Full native-session performance remains unverified. Local-model downloads remain off. Sources: evidence/nightly/client-20260913-verification.json; evidence/aws/arm-20260913/runtime-preparation.json; evidence/aws/arm-20260913/source-verification.json; evidence/aws/arm-20260913/install-services.log; infrastructure/kirocrew-demo.service; output/admin-console/07-agent-backend.jpg; output/admin-console/10-native-auth-log.jpg;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In the admin portal, open Developer → Telemetry and select Latency. The screenshot shows Gateway request and boot duration instruments, process CPU and garbage-collection counters. The API readback at 14:50:25 UTC confirms collection enabled, no environment pin, two local metric shards and no OTLP endpoint. Native local export is configured for ten-second intervals, seven-day retention and a 64 MiB target. Active writers can temporarily keep the directory above that target. Anonymous usage beacons are disabled. Model turn statistics remain empty because native Kiro CLI authentication has not succeeded; a displayed zero turn latency is not a measured zero-latency model session. The metrics directory is /var/lib/kirocrew/metrics. This pane reports native Gateway instrumentation. The custom Mac and EC2 samples appear in Demo Observability. Sources: evidence/aws/arm-20260913/observability-api-readback.json; infrastructure/set-demo-telemetry.py; output/admin-console/08-telemetry-controls.jpg; output/admin-console/09-native-telemetry.jpg; evidence/aws/arm-20260913/observability-runtime-receipt.json; .build/installed-nightly/kiro_crew/metrics/local_exporter.py.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Apps → Demo Observability. The App Kit page reads the custom collectors through the authenticated Gateway proxy; its snapshot returned HTTP 200. The screenshot shows the Mac sample at 14:43:14 UTC: four percent aggregate process CPU and 772.4 MiB RSS. Its EC2 sample at 14:43:35 UTC shows 6.2 percent host CPU and about 14.6 GiB available memory. The later API readback at 14:50:25 UTC independently confirms both sources current; its values differ as the processes continue running. These are snapshots, not a performance benchmark. The Mac checks confirm the desktop is running, the local SSH tunnel listener accepts a connection and the local Gateway is off. A reachable local tunnel listener alone does not prove a remote Gateway response. EC2 checks separately confirm Gateway and MCP services active and both loopback ports reachable. Both collectors run every 60 seconds. The UI refreshes every 15 seconds, marks samples stale after 180 seconds, and displays missing values as unknown. Each source retains at most 240 samples, about four hours with uninterrupted collection. Collection events are capped at 200. The custom app is version 1.0.1; its loopback backend runs on port 9102 behind the Gateway proxy. Sources: evidence/aws/arm-20260913/observability-api-readback.json; evidence/aws/arm-20260913/observability-update.json; infrastructure/observability/app/app.json; infrastructure/observability/app/backend/server.py; infrastructure/observability-collector/collector.py; output/admin-console/11-client-server-telemetry.jpg;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controlled check, quit the Mac desktop and keep the browser admin portal open through the existing SSH tunnel. The client collector recorded the desktop stopped and the collection log added a warning at 14:44:42 UTC. The stopped-client screenshot shows zero client processes while Gateway and MCP service checks stay active. Relaunch the desktop. The client log recorded an informational recovery at 14:49:34 UTC. The server Gateway remained PID 4991, started at 14:26:10 UTC, across the client quit and relaunch. These observations demonstrate independent client and Gateway lifetimes. They do not establish survival of an active model session, because native Kiro CLI authentication is pending. The displayed log timestamps are local Eastern time, four hours behind UTC. The page exposes fixed collection events, not raw application logs, prompts or chat contents. Use the Client and Server filters to inspect each source. Sources: output/admin-console/12-collection-logs.jpg; output/admin-console/13-client-stopped.jpg; infrastructure/observability-collector/collector.py; evidence/aws/arm-20260913/observability-runtime-receipt.json;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evidence/aws/arm-20260913/mcp-live-receipt.json;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credits, and there is no NAT gateway or load balancer. The older x86 instance is stopped.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38ae7bcace4d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82b521d5d64223" /><Relationship Type="http://schemas.openxmlformats.org/officeDocument/2006/relationships/slideLayout" Target="/ppt/slideLayouts/slideLayout1.xml" Id="Rc2a84b81c19c4f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a84b81c19c4f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570fd2da474c68" /><Relationship Type="http://schemas.openxmlformats.org/officeDocument/2006/relationships/notesSlide" Target="/ppt/notesSlides/notesSlide1.xml" Id="R51a60945d5d541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16cfdba8ab4eaf" /><Relationship Type="http://schemas.openxmlformats.org/officeDocument/2006/relationships/image" Target="/ppt/media/image.png" Id="R2c34d036bde34b66" /><Relationship Type="http://schemas.openxmlformats.org/officeDocument/2006/relationships/notesSlide" Target="/ppt/notesSlides/notesSlide2.xml" Id="R79ee65d6c22740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e14a3fc68d4b5c" /><Relationship Type="http://schemas.openxmlformats.org/officeDocument/2006/relationships/image" Target="/ppt/media/image2.png" Id="Rdebe4ad6e4b8428c" /><Relationship Type="http://schemas.openxmlformats.org/officeDocument/2006/relationships/notesSlide" Target="/ppt/notesSlides/notesSlide3.xml" Id="Rb97f2a254c5944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3d4c7097364269" /><Relationship Type="http://schemas.openxmlformats.org/officeDocument/2006/relationships/notesSlide" Target="/ppt/notesSlides/notesSlide4.xml" Id="Ra1cf0532fae14e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ee9dabc90f4c6a" /><Relationship Type="http://schemas.openxmlformats.org/officeDocument/2006/relationships/notesSlide" Target="/ppt/notesSlides/notesSlide5.xml" Id="R031a47359e5d48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7b9e24b8eb42f9" /><Relationship Type="http://schemas.openxmlformats.org/officeDocument/2006/relationships/notesSlide" Target="/ppt/notesSlides/notesSlide6.xml" Id="R5c1e183eba824c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ed3d5005b943c6" /><Relationship Type="http://schemas.openxmlformats.org/officeDocument/2006/relationships/notesSlide" Target="/ppt/notesSlides/notesSlide7.xml" Id="R1e725a1453af43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4520e3692748a3" /><Relationship Type="http://schemas.openxmlformats.org/officeDocument/2006/relationships/image" Target="/ppt/media/image.jpeg" Id="R6ff96eb00ada4038" /><Relationship Type="http://schemas.openxmlformats.org/officeDocument/2006/relationships/notesSlide" Target="/ppt/notesSlides/notesSlide8.xml" Id="Rc5e8e30371d645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e339093bbd4714" /><Relationship Type="http://schemas.openxmlformats.org/officeDocument/2006/relationships/image" Target="/ppt/media/image2.jpeg" Id="Re52edbc5ad0e4be6" /><Relationship Type="http://schemas.openxmlformats.org/officeDocument/2006/relationships/notesSlide" Target="/ppt/notesSlides/notesSlide9.xml" Id="R7fd28e787d554d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5eb33f9f2345ef" /><Relationship Type="http://schemas.openxmlformats.org/officeDocument/2006/relationships/image" Target="/ppt/media/image3.jpeg" Id="R5b0e64861e394ec4" /><Relationship Type="http://schemas.openxmlformats.org/officeDocument/2006/relationships/notesSlide" Target="/ppt/notesSlides/notesSlide10.xml" Id="R5d69ba55b29447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28c762a8194d81" /><Relationship Type="http://schemas.openxmlformats.org/officeDocument/2006/relationships/notesSlide" Target="/ppt/notesSlides/notesSlide11.xml" Id="R9fab881e82cb43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83b6e0ac714a4b" /><Relationship Type="http://schemas.openxmlformats.org/officeDocument/2006/relationships/notesSlide" Target="/ppt/notesSlides/notesSlide12.xml" Id="Rc633a1ea83b74e89"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D5CE0C-4B7B-4E58-8040-29C75DB86C10}"/>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CC8D2EB9-4FE1-4D7E-9177-0EE669520EC2}"/>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0CF3064C-3B74-4915-BA80-A18111DD4856}"/>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AE152F22-5B7F-456F-9571-6AB0798FD75F}"/>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1011900223"/>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663C85-C340-4377-B13C-9F6E4679AF6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75E5BA02-B11C-4F19-859D-B193A0DD8FBD}"/>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88A02449-14FF-49FD-BC8C-0C2780CF7145}"/>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c34d036bde34b66"/>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C83AE3-CEE3-439B-816A-46974F7683A0}"/>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606870479"/>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63622D8-329E-405E-AEEB-E15D249716CF}"/>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ebe4ad6e4b8428c"/>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275799E-B737-471A-8244-CB53B7BFD9BD}"/>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t4g.xlarge · 4 vCPUs · 16 GiB RAM · 40 GiB gp3 · SSH from the client IP /32</a:t>
            </a:r>
          </a:p>
        </p:txBody>
      </p:sp>
    </p:spTree>
    <p:extLst>
      <p:ext uri="{BB962C8B-B14F-4D97-AF65-F5344CB8AC3E}">
        <p14:creationId xmlns:p14="http://schemas.microsoft.com/office/powerpoint/2010/main" val="734614119"/>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BDD242-855F-48A0-8121-CDCB7593D3B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1001334-094F-497A-975A-38D3A926CB77}"/>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797447488"/>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CBD9E80-0D26-48E3-8947-0039593FCF4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CE13A395-5934-4CE4-ADC6-E0D09AA73E7A}"/>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801547606"/>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BDD208-3105-4F99-BA54-7F39BE833B7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390B4813-F24B-4852-BFBA-455B97912CCF}"/>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178F9937-E4A4-454E-9550-EF5D25104651}"/>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14:07:16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5NMQFXT3FYT6A0A9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FEAF08-4B97-4943-97B0-A99F0260C193}"/>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7A92DBC3-A887-4F23-AC0F-30392893C8CF}"/>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47427845"/>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55F5CB-62BD-4A6A-9BDF-4CA0EB5955B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nightly baselines</a:t>
            </a:r>
          </a:p>
        </p:txBody>
      </p:sp>
      <p:sp>
        <p:nvSpPr>
          <p:cNvPr id="2" name="">
            <a:extLst xmlns:a="http://schemas.openxmlformats.org/drawingml/2006/main">
              <a:ext uri="{FF2B5EF4-FFF2-40B4-BE49-F238E27FC236}">
                <a16:creationId xmlns:a16="http://schemas.microsoft.com/office/drawing/2014/main" id="{B7A77CD5-2AE4-4E01-BD4A-0A5EFA187A22}"/>
              </a:ext>
            </a:extLst>
          </p:cNvPr>
          <p:cNvSpPr>
            <a:spLocks xmlns:a="http://schemas.openxmlformats.org/drawingml/2006/main" noGrp="1"/>
          </p:cNvSpPr>
          <p:nvPr/>
        </p:nvSpPr>
        <p:spPr>
          <a:xfrm xmlns:a="http://schemas.openxmlformats.org/drawingml/2006/main">
            <a:off x="609600" y="1466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Mac client · September 13</a:t>
            </a:r>
          </a:p>
        </p:txBody>
      </p:sp>
      <p:sp>
        <p:nvSpPr>
          <p:cNvPr id="3" name="">
            <a:extLst xmlns:a="http://schemas.openxmlformats.org/drawingml/2006/main">
              <a:ext uri="{FF2B5EF4-FFF2-40B4-BE49-F238E27FC236}">
                <a16:creationId xmlns:a16="http://schemas.microsoft.com/office/drawing/2014/main" id="{5803BB37-82CB-4C2E-87AE-CD68FC3732D8}"/>
              </a:ext>
            </a:extLst>
          </p:cNvPr>
          <p:cNvSpPr>
            <a:spLocks xmlns:a="http://schemas.openxmlformats.org/drawingml/2006/main" noGrp="1"/>
          </p:cNvSpPr>
          <p:nvPr/>
        </p:nvSpPr>
        <p:spPr>
          <a:xfrm xmlns:a="http://schemas.openxmlformats.org/drawingml/2006/main">
            <a:off x="609600" y="21336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0.7.0-nightly.20260913t061222</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selected RECORD checks passed across two bundle lanes</a:t>
            </a:r>
          </a:p>
        </p:txBody>
      </p:sp>
      <p:sp>
        <p:nvSpPr>
          <p:cNvPr id="4" name="">
            <a:extLst xmlns:a="http://schemas.openxmlformats.org/drawingml/2006/main">
              <a:ext uri="{FF2B5EF4-FFF2-40B4-BE49-F238E27FC236}">
                <a16:creationId xmlns:a16="http://schemas.microsoft.com/office/drawing/2014/main" id="{A4F8CDA0-7C75-434F-A9CE-7BCA38818E4B}"/>
              </a:ext>
            </a:extLst>
          </p:cNvPr>
          <p:cNvSpPr>
            <a:spLocks xmlns:a="http://schemas.openxmlformats.org/drawingml/2006/main" noGrp="1"/>
          </p:cNvSpPr>
          <p:nvPr/>
        </p:nvSpPr>
        <p:spPr>
          <a:xfrm xmlns:a="http://schemas.openxmlformats.org/drawingml/2006/main">
            <a:off x="609600" y="3533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EC2 server · frozen September 12</a:t>
            </a:r>
          </a:p>
        </p:txBody>
      </p:sp>
      <p:sp>
        <p:nvSpPr>
          <p:cNvPr id="5" name="">
            <a:extLst xmlns:a="http://schemas.openxmlformats.org/drawingml/2006/main">
              <a:ext uri="{FF2B5EF4-FFF2-40B4-BE49-F238E27FC236}">
                <a16:creationId xmlns:a16="http://schemas.microsoft.com/office/drawing/2014/main" id="{66803FA6-7442-41B6-B62C-C3738E30B0E6}"/>
              </a:ext>
            </a:extLst>
          </p:cNvPr>
          <p:cNvSpPr>
            <a:spLocks xmlns:a="http://schemas.openxmlformats.org/drawingml/2006/main" noGrp="1"/>
          </p:cNvSpPr>
          <p:nvPr/>
        </p:nvSpPr>
        <p:spPr>
          <a:xfrm xmlns:a="http://schemas.openxmlformats.org/drawingml/2006/main">
            <a:off x="609600" y="42005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ARM64 repack; 24 selected control modules match</a:t>
            </a:r>
          </a:p>
        </p:txBody>
      </p:sp>
      <p:sp>
        <p:nvSpPr>
          <p:cNvPr id="6" name="">
            <a:extLst xmlns:a="http://schemas.openxmlformats.org/drawingml/2006/main">
              <a:ext uri="{FF2B5EF4-FFF2-40B4-BE49-F238E27FC236}">
                <a16:creationId xmlns:a16="http://schemas.microsoft.com/office/drawing/2014/main" id="{70A678CA-0E9D-4540-8FC1-95E40FE04E5C}"/>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0243B"/>
                </a:solidFill>
                <a:latin typeface="Arial"/>
                <a:ea typeface="Arial"/>
                <a:cs typeface="Arial"/>
              </a:defRPr>
            </a:pPr>
            <a:r>
              <a:rPr sz="1875" b="0">
                <a:solidFill>
                  <a:srgbClr val="10243B"/>
                </a:solidFill>
                <a:latin typeface="Arial"/>
                <a:ea typeface="Arial"/>
                <a:cs typeface="Arial"/>
              </a:rPr>
              <a:t>Selected backend: Kiro CLI 2.21.4</a:t>
            </a:r>
          </a:p>
        </p:txBody>
      </p:sp>
      <p:sp>
        <p:nvSpPr>
          <p:cNvPr id="7" name="">
            <a:extLst xmlns:a="http://schemas.openxmlformats.org/drawingml/2006/main">
              <a:ext uri="{FF2B5EF4-FFF2-40B4-BE49-F238E27FC236}">
                <a16:creationId xmlns:a16="http://schemas.microsoft.com/office/drawing/2014/main" id="{F58E65DF-B866-47C5-9F6F-C3CF789BB58C}"/>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Kiro CLI is not logged in. Native session remains pending.</a:t>
            </a:r>
          </a:p>
        </p:txBody>
      </p:sp>
    </p:spTree>
    <p:extLst>
      <p:ext uri="{BB962C8B-B14F-4D97-AF65-F5344CB8AC3E}">
        <p14:creationId xmlns:p14="http://schemas.microsoft.com/office/powerpoint/2010/main" val="1670529948"/>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823F3F-4236-4802-9B40-91BF509407B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F9F890A2-DFD8-49EA-A7BE-F5A1DA4195EE}"/>
              </a:ext>
            </a:extLst>
          </p:cNvPr>
          <p:cNvSpPr>
            <a:spLocks xmlns:a="http://schemas.openxmlformats.org/drawingml/2006/main" noGrp="1"/>
          </p:cNvSpPr>
          <p:nvPr/>
        </p:nvSpPr>
        <p:spPr>
          <a:xfrm xmlns:a="http://schemas.openxmlformats.org/drawingml/2006/main">
            <a:off x="609600" y="1381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8666"/>
                </a:solidFill>
                <a:latin typeface="Arial"/>
                <a:ea typeface="Arial"/>
                <a:cs typeface="Arial"/>
              </a:defRPr>
            </a:pPr>
            <a:r>
              <a:rPr sz="2325" b="1">
                <a:solidFill>
                  <a:srgbClr val="008666"/>
                </a:solidFill>
                <a:latin typeface="Arial"/>
                <a:ea typeface="Arial"/>
                <a:cs typeface="Arial"/>
              </a:rPr>
              <a:t>Developer → Telemetry → Latency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ff96eb00ada4038"/>
          <a:srcRect xmlns:a="http://schemas.openxmlformats.org/drawingml/2006/main" l="23300" t="42500" r="2000" b="17000"/>
          <a:stretch xmlns:a="http://schemas.openxmlformats.org/drawingml/2006/main">
            <a:fillRect l="0" t="0" r="0" b="0"/>
          </a:stretch>
        </p:blipFill>
        <p:spPr>
          <a:xfrm xmlns:a="http://schemas.openxmlformats.org/drawingml/2006/main">
            <a:off x="609600" y="2076450"/>
            <a:ext cx="10972800"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3CBB98-2EE7-4B09-8671-DC169B478D21}"/>
              </a:ext>
            </a:extLst>
          </p:cNvPr>
          <p:cNvSpPr>
            <a:spLocks xmlns:a="http://schemas.openxmlformats.org/drawingml/2006/main" noGrp="1"/>
          </p:cNvSpPr>
          <p:nvPr/>
        </p:nvSpPr>
        <p:spPr>
          <a:xfrm xmlns:a="http://schemas.openxmlformats.org/drawingml/2006/main">
            <a:off x="609600" y="5762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Local export: 10 s · 7 days · 64 MiB target · no OTLP · beacon off</a:t>
            </a:r>
          </a:p>
        </p:txBody>
      </p:sp>
      <p:sp>
        <p:nvSpPr>
          <p:cNvPr id="5" name="">
            <a:extLst xmlns:a="http://schemas.openxmlformats.org/drawingml/2006/main">
              <a:ext uri="{FF2B5EF4-FFF2-40B4-BE49-F238E27FC236}">
                <a16:creationId xmlns:a16="http://schemas.microsoft.com/office/drawing/2014/main" id="{50D4C97A-4542-458D-8019-D5428836917B}"/>
              </a:ext>
            </a:extLst>
          </p:cNvPr>
          <p:cNvSpPr>
            <a:spLocks xmlns:a="http://schemas.openxmlformats.org/drawingml/2006/main" noGrp="1"/>
          </p:cNvSpPr>
          <p:nvPr/>
        </p:nvSpPr>
        <p:spPr>
          <a:xfrm xmlns:a="http://schemas.openxmlformats.org/drawingml/2006/main">
            <a:off x="609600" y="6229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B62758"/>
                </a:solidFill>
                <a:latin typeface="Arial"/>
                <a:ea typeface="Arial"/>
                <a:cs typeface="Arial"/>
              </a:defRPr>
            </a:pPr>
            <a:r>
              <a:rPr sz="1800" b="1">
                <a:solidFill>
                  <a:srgbClr val="B62758"/>
                </a:solidFill>
                <a:latin typeface="Arial"/>
                <a:ea typeface="Arial"/>
                <a:cs typeface="Arial"/>
              </a:rPr>
              <a:t>Gateway metrics are present. Native model-session metrics remain pending.</a:t>
            </a:r>
          </a:p>
        </p:txBody>
      </p:sp>
    </p:spTree>
    <p:extLst>
      <p:ext uri="{BB962C8B-B14F-4D97-AF65-F5344CB8AC3E}">
        <p14:creationId xmlns:p14="http://schemas.microsoft.com/office/powerpoint/2010/main" val="1930273315"/>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EF0D07-1C08-44AC-853D-3C1937EF1E3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52edbc5ad0e4be6"/>
          <a:srcRect xmlns:a="http://schemas.openxmlformats.org/drawingml/2006/main" l="7900" t="8600" r="2600" b="27800"/>
          <a:stretch xmlns:a="http://schemas.openxmlformats.org/drawingml/2006/main">
            <a:fillRect l="0" t="0" r="0" b="0"/>
          </a:stretch>
        </p:blipFill>
        <p:spPr>
          <a:xfrm xmlns:a="http://schemas.openxmlformats.org/drawingml/2006/main">
            <a:off x="609600" y="1362075"/>
            <a:ext cx="10972800"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E6804A-EEBB-4F68-B863-D6D647292F4E}"/>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Collect: 60 s · Refresh: 15 s · Stale: 180 s · Retain: 240 samples per source</a:t>
            </a:r>
          </a:p>
        </p:txBody>
      </p:sp>
      <p:sp>
        <p:nvSpPr>
          <p:cNvPr id="4" name="">
            <a:extLst xmlns:a="http://schemas.openxmlformats.org/drawingml/2006/main">
              <a:ext uri="{FF2B5EF4-FFF2-40B4-BE49-F238E27FC236}">
                <a16:creationId xmlns:a16="http://schemas.microsoft.com/office/drawing/2014/main" id="{B34E6642-2B24-43A2-B404-CB093FEABB14}"/>
              </a:ext>
            </a:extLst>
          </p:cNvPr>
          <p:cNvSpPr>
            <a:spLocks xmlns:a="http://schemas.openxmlformats.org/drawingml/2006/main" noGrp="1"/>
          </p:cNvSpPr>
          <p:nvPr/>
        </p:nvSpPr>
        <p:spPr>
          <a:xfrm xmlns:a="http://schemas.openxmlformats.org/drawingml/2006/main">
            <a:off x="609600" y="63912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0243B"/>
                </a:solidFill>
                <a:latin typeface="Arial"/>
                <a:ea typeface="Arial"/>
                <a:cs typeface="Arial"/>
              </a:defRPr>
            </a:pPr>
            <a:r>
              <a:rPr sz="1725" b="0">
                <a:solidFill>
                  <a:srgbClr val="10243B"/>
                </a:solidFill>
                <a:latin typeface="Arial"/>
                <a:ea typeface="Arial"/>
                <a:cs typeface="Arial"/>
              </a:rPr>
              <a:t>Custom host and process samples; native Gateway metrics use the Telemetry pane.</a:t>
            </a:r>
          </a:p>
        </p:txBody>
      </p:sp>
    </p:spTree>
    <p:extLst>
      <p:ext uri="{BB962C8B-B14F-4D97-AF65-F5344CB8AC3E}">
        <p14:creationId xmlns:p14="http://schemas.microsoft.com/office/powerpoint/2010/main" val="862905927"/>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A363A-0026-497C-89AA-1B5E21682B3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Close the client; the server keeps running</a:t>
            </a:r>
          </a:p>
        </p:txBody>
      </p:sp>
      <p:sp>
        <p:nvSpPr>
          <p:cNvPr id="2" name="">
            <a:extLst xmlns:a="http://schemas.openxmlformats.org/drawingml/2006/main">
              <a:ext uri="{FF2B5EF4-FFF2-40B4-BE49-F238E27FC236}">
                <a16:creationId xmlns:a16="http://schemas.microsoft.com/office/drawing/2014/main" id="{75123547-BC18-4B27-9110-22795BFD8A14}"/>
              </a:ext>
            </a:extLst>
          </p:cNvPr>
          <p:cNvSpPr>
            <a:spLocks xmlns:a="http://schemas.openxmlformats.org/drawingml/2006/main" noGrp="1"/>
          </p:cNvSpPr>
          <p:nvPr/>
        </p:nvSpPr>
        <p:spPr>
          <a:xfrm xmlns:a="http://schemas.openxmlformats.org/drawingml/2006/main">
            <a:off x="609600" y="1419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666"/>
                </a:solidFill>
                <a:latin typeface="Arial"/>
                <a:ea typeface="Arial"/>
                <a:cs typeface="Arial"/>
              </a:defRPr>
            </a:pPr>
            <a:r>
              <a:rPr sz="2175" b="1">
                <a:solidFill>
                  <a:srgbClr val="008666"/>
                </a:solidFill>
                <a:latin typeface="Arial"/>
                <a:ea typeface="Arial"/>
                <a:cs typeface="Arial"/>
              </a:rPr>
              <a:t>Client stopped: 14:44:42 UTC · Relaunched: 14:49:34 UTC</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b0e64861e394ec4"/>
          <a:srcRect xmlns:a="http://schemas.openxmlformats.org/drawingml/2006/main" l="8000" t="38900" r="2500" b="16300"/>
          <a:stretch xmlns:a="http://schemas.openxmlformats.org/drawingml/2006/main">
            <a:fillRect l="0" t="0" r="0" b="0"/>
          </a:stretch>
        </p:blipFill>
        <p:spPr>
          <a:xfrm xmlns:a="http://schemas.openxmlformats.org/drawingml/2006/main">
            <a:off x="609600" y="2324100"/>
            <a:ext cx="10972800" cy="3086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6D60B8D-B8EE-446C-AB8A-C4F00B430C81}"/>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0243B"/>
                </a:solidFill>
                <a:latin typeface="Arial"/>
                <a:ea typeface="Arial"/>
                <a:cs typeface="Arial"/>
              </a:defRPr>
            </a:pPr>
            <a:r>
              <a:rPr sz="2100" b="1">
                <a:solidFill>
                  <a:srgbClr val="10243B"/>
                </a:solidFill>
                <a:latin typeface="Arial"/>
                <a:ea typeface="Arial"/>
                <a:cs typeface="Arial"/>
              </a:rPr>
              <a:t>EC2 Gateway PID 4991 stayed running through the client restart.</a:t>
            </a:r>
          </a:p>
        </p:txBody>
      </p:sp>
      <p:sp>
        <p:nvSpPr>
          <p:cNvPr id="5" name="">
            <a:extLst xmlns:a="http://schemas.openxmlformats.org/drawingml/2006/main">
              <a:ext uri="{FF2B5EF4-FFF2-40B4-BE49-F238E27FC236}">
                <a16:creationId xmlns:a16="http://schemas.microsoft.com/office/drawing/2014/main" id="{83287E42-5AF4-4802-B39D-0584E2D07CC7}"/>
              </a:ext>
            </a:extLst>
          </p:cNvPr>
          <p:cNvSpPr>
            <a:spLocks xmlns:a="http://schemas.openxmlformats.org/drawingml/2006/main" noGrp="1"/>
          </p:cNvSpPr>
          <p:nvPr/>
        </p:nvSpPr>
        <p:spPr>
          <a:xfrm xmlns:a="http://schemas.openxmlformats.org/drawingml/2006/main">
            <a:off x="609600" y="6362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Fixed collection events. Active model-session continuity remains unverified.</a:t>
            </a:r>
          </a:p>
        </p:txBody>
      </p:sp>
    </p:spTree>
    <p:extLst>
      <p:ext uri="{BB962C8B-B14F-4D97-AF65-F5344CB8AC3E}">
        <p14:creationId xmlns:p14="http://schemas.microsoft.com/office/powerpoint/2010/main" val="495501499"/>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8F3018-A63A-4A03-B266-AB15767B915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460770E8-AB1F-4E9E-8D1D-29B2BB81BC40}"/>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7D366A20-1654-4FEF-8584-AB0D2C06CD44}"/>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A61D51C8-92E5-4209-AB22-01CD402654D3}"/>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D3EC6835-4EF0-465C-80F8-92E3EE1CF016}"/>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DCD33BEA-3439-445A-9EA6-EF22912B4C1F}"/>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1288380611"/>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7F12F3-E19F-466A-BE03-413C84FD43F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711F7695-76A6-4C3C-9A9F-3158A10703E1}"/>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B25442F5-392F-41D1-B2DA-3608EBE035A5}"/>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ARM storage adds $3.20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The stopped rollback disk adds $1.92 per month.</a:t>
            </a:r>
          </a:p>
        </p:txBody>
      </p:sp>
      <p:sp>
        <p:nvSpPr>
          <p:cNvPr id="4" name="">
            <a:extLst xmlns:a="http://schemas.openxmlformats.org/drawingml/2006/main">
              <a:ext uri="{FF2B5EF4-FFF2-40B4-BE49-F238E27FC236}">
                <a16:creationId xmlns:a16="http://schemas.microsoft.com/office/drawing/2014/main" id="{0763FDCA-F354-403D-A886-38A4E9E0474C}"/>
              </a:ext>
            </a:extLst>
          </p:cNvPr>
          <p:cNvSpPr>
            <a:spLocks xmlns:a="http://schemas.openxmlformats.org/drawingml/2006/main" noGrp="1"/>
          </p:cNvSpPr>
          <p:nvPr/>
        </p:nvSpPr>
        <p:spPr>
          <a:xfrm xmlns:a="http://schemas.openxmlformats.org/drawingml/2006/main">
            <a:off x="609600" y="38862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83A6973E-4D26-4279-BA46-0B3F3976C6AD}"/>
              </a:ext>
            </a:extLst>
          </p:cNvPr>
          <p:cNvSpPr>
            <a:spLocks xmlns:a="http://schemas.openxmlformats.org/drawingml/2006/main" noGrp="1"/>
          </p:cNvSpPr>
          <p:nvPr/>
        </p:nvSpPr>
        <p:spPr>
          <a:xfrm xmlns:a="http://schemas.openxmlformats.org/drawingml/2006/main">
            <a:off x="609600" y="4695825"/>
            <a:ext cx="10858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Includes both disks; excludes S3, transfer, model use and tax.</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Stop the ARM host after the demo. EBS remains billable.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The x86 host stays stopped for rollback.</a:t>
            </a:r>
          </a:p>
        </p:txBody>
      </p:sp>
      <p:sp>
        <p:nvSpPr>
          <p:cNvPr id="6" name="">
            <a:extLst xmlns:a="http://schemas.openxmlformats.org/drawingml/2006/main">
              <a:ext uri="{FF2B5EF4-FFF2-40B4-BE49-F238E27FC236}">
                <a16:creationId xmlns:a16="http://schemas.microsoft.com/office/drawing/2014/main" id="{17F3F5C3-242E-4545-B04B-AB541CC24754}"/>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Refresh the SSH address after restart.</a:t>
            </a:r>
          </a:p>
        </p:txBody>
      </p:sp>
    </p:spTree>
    <p:extLst>
      <p:ext uri="{BB962C8B-B14F-4D97-AF65-F5344CB8AC3E}">
        <p14:creationId xmlns:p14="http://schemas.microsoft.com/office/powerpoint/2010/main" val="11447772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2026-09-13T14:56:26.4520000Z</dcterms:created>
  <dcterms:modified xsi:type="dcterms:W3CDTF">2026-09-13T14:56:26.4520000Z</dcterms:modified>
</coreProperties>
</file>