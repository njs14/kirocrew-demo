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89cbae28a1c4cc0" /><Relationship Type="http://schemas.openxmlformats.org/officeDocument/2006/relationships/extended-properties" Target="/docProps/app.xml" Id="Rac04a8fecd98497b" /><Relationship Type="http://schemas.openxmlformats.org/officeDocument/2006/relationships/officeDocument" Target="/ppt/presentation.xml" Id="Rcfa5f98aecf8488c" /></Relationships>
</file>

<file path=ppt/presentation.xml><?xml version="1.0" encoding="utf-8"?>
<p:presentation xmlns:p="http://schemas.openxmlformats.org/presentationml/2006/main">
  <p:sldMasterIdLst>
    <p:sldMasterId xmlns:r="http://schemas.openxmlformats.org/officeDocument/2006/relationships" id="2147483648" r:id="Rb4aa519f302b460e"/>
  </p:sldMasterIdLst>
  <p:notesMasterIdLst>
    <p:notesMasterId xmlns:r="http://schemas.openxmlformats.org/officeDocument/2006/relationships" r:id="Rcac1379d5cb94ade"/>
  </p:notesMasterIdLst>
  <p:sldIdLst>
    <p:sldId xmlns:r="http://schemas.openxmlformats.org/officeDocument/2006/relationships" id="256" r:id="R84f2a2d50fd742ff"/>
    <p:sldId xmlns:r="http://schemas.openxmlformats.org/officeDocument/2006/relationships" id="257" r:id="Rc25c17b45080498d"/>
    <p:sldId xmlns:r="http://schemas.openxmlformats.org/officeDocument/2006/relationships" id="258" r:id="R474f93c6612a4ba3"/>
    <p:sldId xmlns:r="http://schemas.openxmlformats.org/officeDocument/2006/relationships" id="259" r:id="R60d99f133667446c"/>
    <p:sldId xmlns:r="http://schemas.openxmlformats.org/officeDocument/2006/relationships" id="260" r:id="R4d586ab5baed4f1c"/>
    <p:sldId xmlns:r="http://schemas.openxmlformats.org/officeDocument/2006/relationships" id="261" r:id="Rc5d69a0545b94090"/>
    <p:sldId xmlns:r="http://schemas.openxmlformats.org/officeDocument/2006/relationships" id="262" r:id="R7a20e0fd46874985"/>
    <p:sldId xmlns:r="http://schemas.openxmlformats.org/officeDocument/2006/relationships" id="263" r:id="R134fc53a6ecb4d22"/>
    <p:sldId xmlns:r="http://schemas.openxmlformats.org/officeDocument/2006/relationships" id="264" r:id="R88412f3c3bb343e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0d564aa647d4384" /><Relationship Type="http://schemas.openxmlformats.org/officeDocument/2006/relationships/slideMaster" Target="/ppt/slideMasters/slideMaster1.xml" Id="Rb4aa519f302b460e" /><Relationship Type="http://schemas.openxmlformats.org/officeDocument/2006/relationships/notesMaster" Target="/ppt/notesMasters/notesMaster1.xml" Id="Rcac1379d5cb94ade" /><Relationship Type="http://schemas.openxmlformats.org/officeDocument/2006/relationships/presProps" Target="/ppt/presProps.xml" Id="R2e359235c6544fb9" /><Relationship Type="http://schemas.openxmlformats.org/officeDocument/2006/relationships/tableStyles" Target="/ppt/tableStyles.xml" Id="R8d95649c63da4871" /><Relationship Type="http://schemas.openxmlformats.org/officeDocument/2006/relationships/slide" Target="/ppt/slides/slide1.xml" Id="R84f2a2d50fd742ff" /><Relationship Type="http://schemas.openxmlformats.org/officeDocument/2006/relationships/slide" Target="/ppt/slides/slide2.xml" Id="Rc25c17b45080498d" /><Relationship Type="http://schemas.openxmlformats.org/officeDocument/2006/relationships/slide" Target="/ppt/slides/slide3.xml" Id="R474f93c6612a4ba3" /><Relationship Type="http://schemas.openxmlformats.org/officeDocument/2006/relationships/slide" Target="/ppt/slides/slide4.xml" Id="R60d99f133667446c" /><Relationship Type="http://schemas.openxmlformats.org/officeDocument/2006/relationships/slide" Target="/ppt/slides/slide5.xml" Id="R4d586ab5baed4f1c" /><Relationship Type="http://schemas.openxmlformats.org/officeDocument/2006/relationships/slide" Target="/ppt/slides/slide6.xml" Id="Rc5d69a0545b94090" /><Relationship Type="http://schemas.openxmlformats.org/officeDocument/2006/relationships/slide" Target="/ppt/slides/slide7.xml" Id="R7a20e0fd46874985" /><Relationship Type="http://schemas.openxmlformats.org/officeDocument/2006/relationships/slide" Target="/ppt/slides/slide8.xml" Id="R134fc53a6ecb4d22" /><Relationship Type="http://schemas.openxmlformats.org/officeDocument/2006/relationships/slide" Target="/ppt/slides/slide9.xml" Id="R88412f3c3bb343e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b4c3d149a324e8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a63073402984581" /><Relationship Type="http://schemas.openxmlformats.org/officeDocument/2006/relationships/notesMaster" Target="/ppt/notesMasters/notesMaster1.xml" Id="R3aabe4ecc1974fd7" /></Relationships>
</file>

<file path=ppt/notesSlides/_rels/notesSlide2.xml.rels>&#65279;<?xml version="1.0" encoding="utf-8"?><Relationships xmlns="http://schemas.openxmlformats.org/package/2006/relationships"><Relationship Type="http://schemas.openxmlformats.org/officeDocument/2006/relationships/slide" Target="/ppt/slides/slide2.xml" Id="R7ab3487f17384dc2" /><Relationship Type="http://schemas.openxmlformats.org/officeDocument/2006/relationships/notesMaster" Target="/ppt/notesMasters/notesMaster1.xml" Id="Rfcdb11a510f34243" /></Relationships>
</file>

<file path=ppt/notesSlides/_rels/notesSlide3.xml.rels>&#65279;<?xml version="1.0" encoding="utf-8"?><Relationships xmlns="http://schemas.openxmlformats.org/package/2006/relationships"><Relationship Type="http://schemas.openxmlformats.org/officeDocument/2006/relationships/slide" Target="/ppt/slides/slide3.xml" Id="R6883717f420341e5" /><Relationship Type="http://schemas.openxmlformats.org/officeDocument/2006/relationships/notesMaster" Target="/ppt/notesMasters/notesMaster1.xml" Id="R3aeb2f3cab384d04" /></Relationships>
</file>

<file path=ppt/notesSlides/_rels/notesSlide4.xml.rels>&#65279;<?xml version="1.0" encoding="utf-8"?><Relationships xmlns="http://schemas.openxmlformats.org/package/2006/relationships"><Relationship Type="http://schemas.openxmlformats.org/officeDocument/2006/relationships/slide" Target="/ppt/slides/slide4.xml" Id="R096f7f84d420474a" /><Relationship Type="http://schemas.openxmlformats.org/officeDocument/2006/relationships/notesMaster" Target="/ppt/notesMasters/notesMaster1.xml" Id="R34ff69ccca914b3c" /></Relationships>
</file>

<file path=ppt/notesSlides/_rels/notesSlide5.xml.rels>&#65279;<?xml version="1.0" encoding="utf-8"?><Relationships xmlns="http://schemas.openxmlformats.org/package/2006/relationships"><Relationship Type="http://schemas.openxmlformats.org/officeDocument/2006/relationships/slide" Target="/ppt/slides/slide5.xml" Id="R423eb78d91034002" /><Relationship Type="http://schemas.openxmlformats.org/officeDocument/2006/relationships/notesMaster" Target="/ppt/notesMasters/notesMaster1.xml" Id="Rbbc9d44041184833" /></Relationships>
</file>

<file path=ppt/notesSlides/_rels/notesSlide6.xml.rels>&#65279;<?xml version="1.0" encoding="utf-8"?><Relationships xmlns="http://schemas.openxmlformats.org/package/2006/relationships"><Relationship Type="http://schemas.openxmlformats.org/officeDocument/2006/relationships/slide" Target="/ppt/slides/slide6.xml" Id="Rb4ca1f3c87914523" /><Relationship Type="http://schemas.openxmlformats.org/officeDocument/2006/relationships/notesMaster" Target="/ppt/notesMasters/notesMaster1.xml" Id="R869619f3ea7c4236" /></Relationships>
</file>

<file path=ppt/notesSlides/_rels/notesSlide7.xml.rels>&#65279;<?xml version="1.0" encoding="utf-8"?><Relationships xmlns="http://schemas.openxmlformats.org/package/2006/relationships"><Relationship Type="http://schemas.openxmlformats.org/officeDocument/2006/relationships/slide" Target="/ppt/slides/slide7.xml" Id="R9b5454907aa3497f" /><Relationship Type="http://schemas.openxmlformats.org/officeDocument/2006/relationships/notesMaster" Target="/ppt/notesMasters/notesMaster1.xml" Id="R2bd1879923ea4367" /></Relationships>
</file>

<file path=ppt/notesSlides/_rels/notesSlide8.xml.rels>&#65279;<?xml version="1.0" encoding="utf-8"?><Relationships xmlns="http://schemas.openxmlformats.org/package/2006/relationships"><Relationship Type="http://schemas.openxmlformats.org/officeDocument/2006/relationships/slide" Target="/ppt/slides/slide8.xml" Id="R57df2e880f974aba" /><Relationship Type="http://schemas.openxmlformats.org/officeDocument/2006/relationships/notesMaster" Target="/ppt/notesMasters/notesMaster1.xml" Id="R52a25449cdcb42bc" /></Relationships>
</file>

<file path=ppt/notesSlides/_rels/notesSlide9.xml.rels>&#65279;<?xml version="1.0" encoding="utf-8"?><Relationships xmlns="http://schemas.openxmlformats.org/package/2006/relationships"><Relationship Type="http://schemas.openxmlformats.org/officeDocument/2006/relationships/slide" Target="/ppt/slides/slide9.xml" Id="Reb21cce9af1d43f3" /><Relationship Type="http://schemas.openxmlformats.org/officeDocument/2006/relationships/notesMaster" Target="/ppt/notesMasters/notesMaster1.xml" Id="Rff1a0fec68874fe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00:00–00:20. The Mac is the desktop client. The EC2 host runs the Gateway and holds the workspace. The local Gateway listener is off. Direct MCP and AWS checks passed, including an allowed S3 read, an MCP grant denial and an S3 IAM denial. Native Kiro CLI authentication and a verified backend session remain pending. Sources: evidence/aws/stack-state.json; evidence/aws/client-runtime-verification.json; evidence/aws/mcp-live-receipt.json; evidence/aws/walkthrough-direct-probe.json.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00:20–00:55. The enclosure maps controls around the execution host. In remote mode, the Gateway, selected backend and workspace run on the same host. The reference includes enterprise controls and Crew capabilities beyond this demo. The checks verify the remote desktop connection, direct MCP grants and S3 IAM outcomes. Native backend enforcement and sandbox behavior remain pending. The reference cites the September 11 baseline. Sources: kirocrew-security-layers.html; evidence/nightly/baseline-verification.json; evidence/aws/client-runtime-verification.json; evidence/aws/mcp-live-receipt.json.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00:55–01:35. CloudFormation created one t3a.small in an existing public subnet in us-east-1. The security group admits TCP 22 only from the current client IPv4 /32. SSH forwards laptop port 5599 to EC2 loopback port 5476. The Gateway, Kiro CLI installation and workspace share the Crew execution boundary. The MCP service runs on the same EC2 instance under a separate UID and listens on loopback port 8001. It uses the instance role for the fixed S3 requests. The role permits the allowed prefix and explicitly denies GetObject under the denied prefix. Native Kiro CLI sign-in remains pending. The host has encrypted 24 GiB gp3 storage and requires IMDSv2. Separate host checks confirmed bootstrap and active services after CloudFormation created the stack. Primary AWS MCP in us-east-1 handled provisioning. The demo MCP service on EC2 is separate from that provisioning connector. The detailed browser view contains ports and the remaining host configuration. Sources: infrastructure/ec2-demo.json; evidence/aws/stack-state.json; evidence/aws/security-group.json; evidence/aws/ssh-verification.json; evidence/aws/ec2-console-bootstrap.json; evidence/aws/primary-mcp-tools.json.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01:35–02:10. Root owns the executable and service files. The crew user runs the Gateway, backend and workspace. An owner-based firewall rule blocks metadata requests from the crew UID, and the Gateway requires that guard service. The mcp-demo UID can obtain the instance role through IMDSv2. That role permits reads under two demonstration S3 prefixes, explicitly denies GetObject under denied/, and includes the SSM core managed policy. The MCP service exposes four fixed tools. Root remains a trusted administrator. The operator’s IAM user keys remain local. Crew owns and can edit its configuration. Sources: infrastructure/bootstrap.sh; infrastructure/kirocrew-demo.service; infrastructure/kirocrew-mcp-demo.service; infrastructure/mcp-enforcement/server.py; infrastructure/ec2-demo.json.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02:10–02:45. The direct probe verified read_allowed, mcp_denied and iam_denied. Native Crew denial is pending. read_allowed returns the object length and digest. The MCP service grants crew_denied so the Crew hook can block it before dispatch. Its configured rule names @aws-enforcement/crew_denied. mcp_denied appears in discovery, but the service rejects the call before loading AWS credentials or invoking the SDK. iam_denied passes the MCP grant and attempts GetObject on an existing object under denied/, where IAM applies the explicit deny. After native sign-in, inspect each request and approve the three routed calls once. crew_denied must stop automatically before an approval card or MCP dispatch. An operator rejection cannot count as that proof. Sources: infrastructure/configure-demo.py; infrastructure/mcp-enforcement/server.py; evidence/aws/iam-demo-policy.json; evidence/aws/fixture-hashes.json; evidence/aws/walkthrough-direct-probe.json.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02:45–03:20. The probe called the MCP service directly. The direct_mcp_service_probe receipt passed at 2026-09-13T04:17:07Z and explicitly records native_crew_backend_verified=false. The unauthenticated request returned 401, and discovery returned four tools. read_allowed returned 55 bytes and the expected SHA256, with AWS request ID NJ47PCKDNPWNT29P. mcp_denied returned tool_grant_denied without an AWS dispatch for its trace. iam_denied returned S3 AccessDenied, HTTP 403, and request ID NJ428FX3JS4EV6VK. An independent check confirmed that the denied object existed. An STS failure does not satisfy the S3-denial check. The exact command in WALKTHROUGH.md passed again at 2026-09-13T04:48:49Z, with fresh AWS request IDs C25PB34E90H62Y2N for the allowed read and 4FM4E0EGXJ783W7H for the IAM denial. The second run has a separate receipt. Sources: evidence/aws/mcp-live-receipt.json; evidence/aws/mcp-live-audit.jsonl; evidence/aws/walkthrough-direct-probe.json; evidence/aws/seed-fixtures-result.json; infrastructure/mcp-enforcement/TEST-RECEIPT.json.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03:20–03:50. The installed Mac app and package identify 0.7.0-nightly.20260912t060850. EC2 runs a custom Linux repack with Linux dependencies and native libraries. Installed metadata provides no source commit. The archive SHA256 is 5133df99766a436a0fe346c6c57b4475fa00389a62fe7e464ec8440942e33d39. The Linux dependency lock pins versions and accepted artifact hashes. On EC2, 24 selected modules for Crew controls match the installed nightly RECORD. Those files are root-owned and neither group- nor world-writable. Kiro CLI 2.21.4 comes from the official stable Linux artifact and matches its manifest. Backend authentication and a native session remain pending. The desktop shows Gateway connected, enforcement-demo and /srv/kirocrew-demo/workspace. Local port 5476 has no listener, and SSH owns port 5599. The UI warns about low memory with about 1.2 GB free on the 2 GiB instance. Performance during a full backend session remains unverified. Sources: evidence/nightly/installed-nightly-verification.json; evidence/aws/linux-repack.json; infrastructure/crew-requirements-linux.lock; evidence/aws/deployed-nightly-verification.json; evidence/aws/kiro-cli-artifact.json; evidence/aws/client-runtime-verification.json.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03:50–05:50. Show the native desktop connected on port 5599 and the remote workspace at /srv/kirocrew-demo/workspace. Confirm that local port 5476 has no listener. Run the direct MCP command from WALKTHROUGH.md as mcp-demo on EC2. The bearer token stays on the instance. Show the 55-byte digest, tool_grant_denied and S3 AccessDenied 403 with a new AWS request ID. The receipt must report direct_mcp_service_probe, passed=true and native_crew_backend_verified=false. This direct path is available while Kiro CLI authentication remains pending. After successful authentication through scripts/ec2-login.py, use native-demo.sh to test four native turns in a dedicated session. Inspect the real request card and approve read_allowed, mcp_denied and iam_denied once each. crew_denied must stop automatically before any approval card or MCP arrival. An approval card on that turn fails the test, even if the runner rejects it. The runner correlates callback IDs and MCP/AWS traces. The Crew-denial SEL record lacks a direct trace ID, so the correlation uses the dedicated session and isolated turn interval. Sources: WALKTHROUGH.md; scripts/native-backend-demo.README.md; scripts/EC2-LOGIN.md; evidence/aws/walkthrough-direct-probe.json.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05:50–06:20. AWS Pricing API returned $0.0188 per On Demand Linux t3a.small hour in us-east-1. AWS lists public IPv4 at $0.005 per hour. Together they cost $0.0238 per running hour, rounded to $0.024. The gp3 rate is $0.08 per GB-month, so 24 GiB costs $1.92 per month. At 730 running hours, compute, IPv4 and EBS total $19.294, or about $19 per month. S3, transfer, model usage and taxes add charges. The instance uses standard credits and has no NAT gateway or load balancer. After finishing active work, use scripts/demo-cloud.py stop --dry-run, inspect the plan, then stop --apply. Stopping releases the ephemeral public IPv4 and stops compute billing. The EBS volume remains billable. Refresh the SSH target after restart. Use the helper to update CloudFormation if the allowed client /32 changes. Stack deletion removes the instance and root EBS but retains the S3 bucket and its policy. The UI warns about low memory on the 2 GiB host. Full backend performance remains unverified. The separate client rollback procedure restores local mode. Sources: evidence/aws/t3a-small-pricing.json; evidence/aws/gp3-pricing.json; https://aws.amazon.com/vpc/pricing/ ; infrastructure/ec2-demo.json; infrastructure/RUNBOOK.md.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29b483f0de648c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805f2571cdb4471" /><Relationship Type="http://schemas.openxmlformats.org/officeDocument/2006/relationships/slideLayout" Target="/ppt/slideLayouts/slideLayout1.xml" Id="R7b0d897578fa4d3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b0d897578fa4d3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75f09d6029b4c89" /><Relationship Type="http://schemas.openxmlformats.org/officeDocument/2006/relationships/notesSlide" Target="/ppt/notesSlides/notesSlide1.xml" Id="R9ca8fc26393f47e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5d232f68368407e" /><Relationship Type="http://schemas.openxmlformats.org/officeDocument/2006/relationships/image" Target="/ppt/media/image.png" Id="Rb014d2621b024e8e" /><Relationship Type="http://schemas.openxmlformats.org/officeDocument/2006/relationships/notesSlide" Target="/ppt/notesSlides/notesSlide2.xml" Id="Rc587b1daa26542e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15958a7a1084abc" /><Relationship Type="http://schemas.openxmlformats.org/officeDocument/2006/relationships/image" Target="/ppt/media/image2.png" Id="R5edf14cd3c32400b" /><Relationship Type="http://schemas.openxmlformats.org/officeDocument/2006/relationships/notesSlide" Target="/ppt/notesSlides/notesSlide3.xml" Id="R54d0f113b6c6492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81d4bf7d47e4405" /><Relationship Type="http://schemas.openxmlformats.org/officeDocument/2006/relationships/notesSlide" Target="/ppt/notesSlides/notesSlide4.xml" Id="Rdf9c13d03390491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919735e464348f4" /><Relationship Type="http://schemas.openxmlformats.org/officeDocument/2006/relationships/notesSlide" Target="/ppt/notesSlides/notesSlide5.xml" Id="Ra9fab210c429495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fea26de21544732" /><Relationship Type="http://schemas.openxmlformats.org/officeDocument/2006/relationships/notesSlide" Target="/ppt/notesSlides/notesSlide6.xml" Id="R4fa107f042f046b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b9423d6e24a45ac" /><Relationship Type="http://schemas.openxmlformats.org/officeDocument/2006/relationships/notesSlide" Target="/ppt/notesSlides/notesSlide7.xml" Id="Rdfc64577bef6418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dbeacc93e8343fe" /><Relationship Type="http://schemas.openxmlformats.org/officeDocument/2006/relationships/notesSlide" Target="/ppt/notesSlides/notesSlide8.xml" Id="Rea7ff30ec38d4ef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5e495aa63414695" /><Relationship Type="http://schemas.openxmlformats.org/officeDocument/2006/relationships/notesSlide" Target="/ppt/notesSlides/notesSlide9.xml" Id="R17811191dba84610" /></Relationships>
</file>

<file path=ppt/slides/slide1.xml><?xml version="1.0" encoding="utf-8"?>
<p:sld xmlns:p="http://schemas.openxmlformats.org/presentationml/2006/main">
  <p:cSld>
    <p:bg>
      <p:bgPr>
        <a:solidFill xmlns:a="http://schemas.openxmlformats.org/drawingml/2006/main">
          <a:srgbClr val="10243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C67B7CA-87B2-4582-BF04-1CE2FFCFF019}"/>
              </a:ext>
            </a:extLst>
          </p:cNvPr>
          <p:cNvSpPr>
            <a:spLocks xmlns:a="http://schemas.openxmlformats.org/drawingml/2006/main" noGrp="1"/>
          </p:cNvSpPr>
          <p:nvPr/>
        </p:nvSpPr>
        <p:spPr>
          <a:xfrm xmlns:a="http://schemas.openxmlformats.org/drawingml/2006/main">
            <a:off x="647700" y="1095375"/>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5400" b="1">
                <a:solidFill>
                  <a:srgbClr val="FFFFFF"/>
                </a:solidFill>
                <a:latin typeface="Arial"/>
                <a:ea typeface="Arial"/>
                <a:cs typeface="Arial"/>
              </a:defRPr>
            </a:pPr>
            <a:r>
              <a:rPr sz="5400" b="1">
                <a:solidFill>
                  <a:srgbClr val="FFFFFF"/>
                </a:solidFill>
                <a:latin typeface="Arial"/>
                <a:ea typeface="Arial"/>
                <a:cs typeface="Arial"/>
              </a:rPr>
              <a:t>KiroCrew on EC2</a:t>
            </a:r>
          </a:p>
        </p:txBody>
      </p:sp>
      <p:sp>
        <p:nvSpPr>
          <p:cNvPr id="2" name="">
            <a:extLst xmlns:a="http://schemas.openxmlformats.org/drawingml/2006/main">
              <a:ext uri="{FF2B5EF4-FFF2-40B4-BE49-F238E27FC236}">
                <a16:creationId xmlns:a16="http://schemas.microsoft.com/office/drawing/2014/main" id="{F94BAD9F-5D02-4131-A9AD-B53C30617112}"/>
              </a:ext>
            </a:extLst>
          </p:cNvPr>
          <p:cNvSpPr>
            <a:spLocks xmlns:a="http://schemas.openxmlformats.org/drawingml/2006/main" noGrp="1"/>
          </p:cNvSpPr>
          <p:nvPr/>
        </p:nvSpPr>
        <p:spPr>
          <a:xfrm xmlns:a="http://schemas.openxmlformats.org/drawingml/2006/main">
            <a:off x="685800" y="2571750"/>
            <a:ext cx="10477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525" b="0">
                <a:solidFill>
                  <a:srgbClr val="FFFFFF"/>
                </a:solidFill>
                <a:latin typeface="Arial"/>
                <a:ea typeface="Arial"/>
                <a:cs typeface="Arial"/>
              </a:defRPr>
            </a:pPr>
            <a:r>
              <a:rPr sz="3525" b="0">
                <a:solidFill>
                  <a:srgbClr val="FFFFFF"/>
                </a:solidFill>
                <a:latin typeface="Arial"/>
                <a:ea typeface="Arial"/>
                <a:cs typeface="Arial"/>
              </a:rPr>
              <a:t>Desktop client and</a:t>
            </a:r>
          </a:p>
          <a:p xmlns:a="http://schemas.openxmlformats.org/drawingml/2006/main">
            <a:pPr>
              <a:defRPr sz="3525" b="0">
                <a:solidFill>
                  <a:srgbClr val="FFFFFF"/>
                </a:solidFill>
                <a:latin typeface="Arial"/>
                <a:ea typeface="Arial"/>
                <a:cs typeface="Arial"/>
              </a:defRPr>
            </a:pPr>
            <a:r>
              <a:rPr sz="3525" b="0">
                <a:solidFill>
                  <a:srgbClr val="FFFFFF"/>
                </a:solidFill>
                <a:latin typeface="Arial"/>
                <a:ea typeface="Arial"/>
                <a:cs typeface="Arial"/>
              </a:rPr>
              <a:t>EC2 execution environment</a:t>
            </a:r>
          </a:p>
        </p:txBody>
      </p:sp>
      <p:sp>
        <p:nvSpPr>
          <p:cNvPr id="3" name="">
            <a:extLst xmlns:a="http://schemas.openxmlformats.org/drawingml/2006/main">
              <a:ext uri="{FF2B5EF4-FFF2-40B4-BE49-F238E27FC236}">
                <a16:creationId xmlns:a16="http://schemas.microsoft.com/office/drawing/2014/main" id="{58311DD9-69F4-4AFC-8E5A-A3EEE3409017}"/>
              </a:ext>
            </a:extLst>
          </p:cNvPr>
          <p:cNvSpPr>
            <a:spLocks xmlns:a="http://schemas.openxmlformats.org/drawingml/2006/main" noGrp="1"/>
          </p:cNvSpPr>
          <p:nvPr/>
        </p:nvSpPr>
        <p:spPr>
          <a:xfrm xmlns:a="http://schemas.openxmlformats.org/drawingml/2006/main">
            <a:off x="685800" y="44005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BCD3E7"/>
                </a:solidFill>
                <a:latin typeface="Arial"/>
                <a:ea typeface="Arial"/>
                <a:cs typeface="Arial"/>
              </a:defRPr>
            </a:pPr>
            <a:r>
              <a:rPr sz="2100" b="0">
                <a:solidFill>
                  <a:srgbClr val="BCD3E7"/>
                </a:solidFill>
                <a:latin typeface="Arial"/>
                <a:ea typeface="Arial"/>
                <a:cs typeface="Arial"/>
              </a:rPr>
              <a:t>CloudFormation in us-east-1</a:t>
            </a:r>
          </a:p>
        </p:txBody>
      </p:sp>
      <p:sp>
        <p:nvSpPr>
          <p:cNvPr id="4" name="">
            <a:extLst xmlns:a="http://schemas.openxmlformats.org/drawingml/2006/main">
              <a:ext uri="{FF2B5EF4-FFF2-40B4-BE49-F238E27FC236}">
                <a16:creationId xmlns:a16="http://schemas.microsoft.com/office/drawing/2014/main" id="{E4DC6E78-6565-4979-B22D-7173C46EF12C}"/>
              </a:ext>
            </a:extLst>
          </p:cNvPr>
          <p:cNvSpPr>
            <a:spLocks xmlns:a="http://schemas.openxmlformats.org/drawingml/2006/main" noGrp="1"/>
          </p:cNvSpPr>
          <p:nvPr/>
        </p:nvSpPr>
        <p:spPr>
          <a:xfrm xmlns:a="http://schemas.openxmlformats.org/drawingml/2006/main">
            <a:off x="685800" y="516255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Direct MCP and AWS checks passed.</a:t>
            </a:r>
          </a:p>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Native Kiro CLI sign-in and session pending.</a:t>
            </a:r>
          </a:p>
        </p:txBody>
      </p:sp>
    </p:spTree>
    <p:extLst>
      <p:ext uri="{BB962C8B-B14F-4D97-AF65-F5344CB8AC3E}">
        <p14:creationId xmlns:p14="http://schemas.microsoft.com/office/powerpoint/2010/main" val="529160330"/>
      </p:ext>
    </p:extLst>
  </p:cSld>
</p:sld>
</file>

<file path=ppt/slides/slide2.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C71DD47-0F3A-4990-A70E-04A90D2359F6}"/>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One execution host</a:t>
            </a:r>
          </a:p>
        </p:txBody>
      </p:sp>
      <p:sp>
        <p:nvSpPr>
          <p:cNvPr id="2" name="">
            <a:extLst xmlns:a="http://schemas.openxmlformats.org/drawingml/2006/main">
              <a:ext uri="{FF2B5EF4-FFF2-40B4-BE49-F238E27FC236}">
                <a16:creationId xmlns:a16="http://schemas.microsoft.com/office/drawing/2014/main" id="{A866DD00-E023-497A-BE79-A0D74C84B193}"/>
              </a:ext>
            </a:extLst>
          </p:cNvPr>
          <p:cNvSpPr>
            <a:spLocks xmlns:a="http://schemas.openxmlformats.org/drawingml/2006/main" noGrp="1"/>
          </p:cNvSpPr>
          <p:nvPr/>
        </p:nvSpPr>
        <p:spPr>
          <a:xfrm xmlns:a="http://schemas.openxmlformats.org/drawingml/2006/main">
            <a:off x="609600" y="1866900"/>
            <a:ext cx="4286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10243B"/>
                </a:solidFill>
                <a:latin typeface="Arial"/>
                <a:ea typeface="Arial"/>
                <a:cs typeface="Arial"/>
              </a:defRPr>
            </a:pPr>
            <a:r>
              <a:rPr sz="2250" b="0">
                <a:solidFill>
                  <a:srgbClr val="10243B"/>
                </a:solidFill>
                <a:latin typeface="Arial"/>
                <a:ea typeface="Arial"/>
                <a:cs typeface="Arial"/>
              </a:rPr>
              <a:t>Local mode</a:t>
            </a:r>
          </a:p>
          <a:p xmlns:a="http://schemas.openxmlformats.org/drawingml/2006/main">
            <a:pPr>
              <a:defRPr sz="2250" b="0">
                <a:solidFill>
                  <a:srgbClr val="10243B"/>
                </a:solidFill>
                <a:latin typeface="Arial"/>
                <a:ea typeface="Arial"/>
                <a:cs typeface="Arial"/>
              </a:defRPr>
            </a:pPr>
            <a:r>
              <a:rPr sz="2250" b="0">
                <a:solidFill>
                  <a:srgbClr val="10243B"/>
                </a:solidFill>
                <a:latin typeface="Arial"/>
                <a:ea typeface="Arial"/>
                <a:cs typeface="Arial"/>
              </a:rPr>
              <a:t>Developer endpoint</a:t>
            </a:r>
          </a:p>
        </p:txBody>
      </p:sp>
      <p:sp>
        <p:nvSpPr>
          <p:cNvPr id="3" name="">
            <a:extLst xmlns:a="http://schemas.openxmlformats.org/drawingml/2006/main">
              <a:ext uri="{FF2B5EF4-FFF2-40B4-BE49-F238E27FC236}">
                <a16:creationId xmlns:a16="http://schemas.microsoft.com/office/drawing/2014/main" id="{D3C945E3-37AB-4F6E-9CDC-3C9A57DFF22F}"/>
              </a:ext>
            </a:extLst>
          </p:cNvPr>
          <p:cNvSpPr>
            <a:spLocks xmlns:a="http://schemas.openxmlformats.org/drawingml/2006/main" noGrp="1"/>
          </p:cNvSpPr>
          <p:nvPr/>
        </p:nvSpPr>
        <p:spPr>
          <a:xfrm xmlns:a="http://schemas.openxmlformats.org/drawingml/2006/main">
            <a:off x="609600" y="3438525"/>
            <a:ext cx="433387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10243B"/>
                </a:solidFill>
                <a:latin typeface="Arial"/>
                <a:ea typeface="Arial"/>
                <a:cs typeface="Arial"/>
              </a:defRPr>
            </a:pPr>
            <a:r>
              <a:rPr sz="2250" b="0">
                <a:solidFill>
                  <a:srgbClr val="10243B"/>
                </a:solidFill>
                <a:latin typeface="Arial"/>
                <a:ea typeface="Arial"/>
                <a:cs typeface="Arial"/>
              </a:rPr>
              <a:t>Remote mode</a:t>
            </a:r>
          </a:p>
          <a:p xmlns:a="http://schemas.openxmlformats.org/drawingml/2006/main">
            <a:pPr>
              <a:defRPr sz="2250" b="0">
                <a:solidFill>
                  <a:srgbClr val="10243B"/>
                </a:solidFill>
                <a:latin typeface="Arial"/>
                <a:ea typeface="Arial"/>
                <a:cs typeface="Arial"/>
              </a:defRPr>
            </a:pPr>
            <a:r>
              <a:rPr sz="2250" b="0">
                <a:solidFill>
                  <a:srgbClr val="10243B"/>
                </a:solidFill>
                <a:latin typeface="Arial"/>
                <a:ea typeface="Arial"/>
                <a:cs typeface="Arial"/>
              </a:rPr>
              <a:t>Gateway, backend and workspace</a:t>
            </a:r>
          </a:p>
          <a:p xmlns:a="http://schemas.openxmlformats.org/drawingml/2006/main">
            <a:pPr>
              <a:defRPr sz="2250" b="0">
                <a:solidFill>
                  <a:srgbClr val="10243B"/>
                </a:solidFill>
                <a:latin typeface="Arial"/>
                <a:ea typeface="Arial"/>
                <a:cs typeface="Arial"/>
              </a:defRPr>
            </a:pPr>
            <a:r>
              <a:rPr sz="2250" b="0">
                <a:solidFill>
                  <a:srgbClr val="10243B"/>
                </a:solidFill>
                <a:latin typeface="Arial"/>
                <a:ea typeface="Arial"/>
                <a:cs typeface="Arial"/>
              </a:rPr>
              <a:t>on the EC2 instance</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b014d2621b024e8e"/>
          <a:stretch xmlns:a="http://schemas.openxmlformats.org/drawingml/2006/main"/>
        </p:blipFill>
        <p:spPr>
          <a:xfrm xmlns:a="http://schemas.openxmlformats.org/drawingml/2006/main">
            <a:off x="5775325" y="1333500"/>
            <a:ext cx="5308600" cy="52387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FC6D3FC8-1427-4CB7-8BC7-6897941E2B78}"/>
              </a:ext>
            </a:extLst>
          </p:cNvPr>
          <p:cNvSpPr>
            <a:spLocks xmlns:a="http://schemas.openxmlformats.org/drawingml/2006/main" noGrp="1"/>
          </p:cNvSpPr>
          <p:nvPr/>
        </p:nvSpPr>
        <p:spPr>
          <a:xfrm xmlns:a="http://schemas.openxmlformats.org/drawingml/2006/main">
            <a:off x="609600" y="5619750"/>
            <a:ext cx="4476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50667F"/>
                </a:solidFill>
                <a:latin typeface="Arial"/>
                <a:ea typeface="Arial"/>
                <a:cs typeface="Arial"/>
              </a:defRPr>
            </a:pPr>
            <a:r>
              <a:rPr sz="1725" b="0">
                <a:solidFill>
                  <a:srgbClr val="50667F"/>
                </a:solidFill>
                <a:latin typeface="Arial"/>
                <a:ea typeface="Arial"/>
                <a:cs typeface="Arial"/>
              </a:rPr>
              <a:t>Reference map.</a:t>
            </a:r>
          </a:p>
          <a:p xmlns:a="http://schemas.openxmlformats.org/drawingml/2006/main">
            <a:pPr>
              <a:defRPr sz="1725" b="0">
                <a:solidFill>
                  <a:srgbClr val="50667F"/>
                </a:solidFill>
                <a:latin typeface="Arial"/>
                <a:ea typeface="Arial"/>
                <a:cs typeface="Arial"/>
              </a:defRPr>
            </a:pPr>
            <a:r>
              <a:rPr sz="1725" b="0">
                <a:solidFill>
                  <a:srgbClr val="50667F"/>
                </a:solidFill>
                <a:latin typeface="Arial"/>
                <a:ea typeface="Arial"/>
                <a:cs typeface="Arial"/>
              </a:rPr>
              <a:t>Verified here: remote client,</a:t>
            </a:r>
          </a:p>
          <a:p xmlns:a="http://schemas.openxmlformats.org/drawingml/2006/main">
            <a:pPr>
              <a:defRPr sz="1725" b="0">
                <a:solidFill>
                  <a:srgbClr val="50667F"/>
                </a:solidFill>
                <a:latin typeface="Arial"/>
                <a:ea typeface="Arial"/>
                <a:cs typeface="Arial"/>
              </a:defRPr>
            </a:pPr>
            <a:r>
              <a:rPr sz="1725" b="0">
                <a:solidFill>
                  <a:srgbClr val="50667F"/>
                </a:solidFill>
                <a:latin typeface="Arial"/>
                <a:ea typeface="Arial"/>
                <a:cs typeface="Arial"/>
              </a:rPr>
              <a:t>MCP grants and S3 IAM checks.</a:t>
            </a:r>
          </a:p>
        </p:txBody>
      </p:sp>
    </p:spTree>
    <p:extLst>
      <p:ext uri="{BB962C8B-B14F-4D97-AF65-F5344CB8AC3E}">
        <p14:creationId xmlns:p14="http://schemas.microsoft.com/office/powerpoint/2010/main" val="1005329451"/>
      </p:ext>
    </p:extLst>
  </p:cSld>
</p:sld>
</file>

<file path=ppt/slides/slide3.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5B4A1F17-47BB-4EE8-AA6D-D296A5C8E74B}"/>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CloudFormation deployment in us-east-1</a:t>
            </a:r>
          </a:p>
        </p:txBody>
      </p:sp>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5edf14cd3c32400b"/>
          <a:stretch xmlns:a="http://schemas.openxmlformats.org/drawingml/2006/main"/>
        </p:blipFill>
        <p:spPr>
          <a:xfrm xmlns:a="http://schemas.openxmlformats.org/drawingml/2006/main">
            <a:off x="609600" y="1333500"/>
            <a:ext cx="10972800" cy="4572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3048CEB9-82F9-4BF1-A410-9B3FCE5F9F5E}"/>
              </a:ext>
            </a:extLst>
          </p:cNvPr>
          <p:cNvSpPr>
            <a:spLocks xmlns:a="http://schemas.openxmlformats.org/drawingml/2006/main" noGrp="1"/>
          </p:cNvSpPr>
          <p:nvPr/>
        </p:nvSpPr>
        <p:spPr>
          <a:xfrm xmlns:a="http://schemas.openxmlformats.org/drawingml/2006/main">
            <a:off x="609600" y="61817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50667F"/>
                </a:solidFill>
                <a:latin typeface="Arial"/>
                <a:ea typeface="Arial"/>
                <a:cs typeface="Arial"/>
              </a:defRPr>
            </a:pPr>
            <a:r>
              <a:rPr sz="1875" b="0">
                <a:solidFill>
                  <a:srgbClr val="50667F"/>
                </a:solidFill>
                <a:latin typeface="Arial"/>
                <a:ea typeface="Arial"/>
                <a:cs typeface="Arial"/>
              </a:rPr>
              <a:t>One t3a.small. SSH from the client IP /32. Gateway and MCP listen on loopback.</a:t>
            </a:r>
          </a:p>
        </p:txBody>
      </p:sp>
    </p:spTree>
    <p:extLst>
      <p:ext uri="{BB962C8B-B14F-4D97-AF65-F5344CB8AC3E}">
        <p14:creationId xmlns:p14="http://schemas.microsoft.com/office/powerpoint/2010/main" val="879382047"/>
      </p:ext>
    </p:extLst>
  </p:cSld>
</p:sld>
</file>

<file path=ppt/slides/slide4.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2AD8D2E7-5E84-4E27-91FD-56C8A4FF8323}"/>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Host identities and AWS credentials</a:t>
            </a:r>
          </a:p>
        </p:txBody>
      </p:sp>
      <p:graphicFrame>
        <p:nvGraphicFramePr>
          <p:cNvPr id="5" name=""/>
          <p:cNvGraphicFramePr/>
          <p:nvPr/>
        </p:nvGraphicFramePr>
        <p:xfrm>
          <a:off xmlns:a="http://schemas.openxmlformats.org/drawingml/2006/main" x="609600" y="1504950"/>
          <a:ext xmlns:a="http://schemas.openxmlformats.org/drawingml/2006/main" cx="10972800" cy="4114800"/>
        </p:xfrm>
        <a:graphic xmlns:a="http://schemas.openxmlformats.org/drawingml/2006/main">
          <a:graphicData uri="http://schemas.openxmlformats.org/drawingml/2006/table">
            <a:tbl>
              <a:tblPr/>
              <a:tblGrid>
                <a:gridCol w="2762250"/>
                <a:gridCol w="8210550"/>
              </a:tblGrid>
              <a:tr h="571500">
                <a:tc>
                  <a:txBody>
                    <a:bodyPr/>
                    <a:lstStyle/>
                    <a:p>
                      <a:r>
                        <a:rPr sz="1800" b="1">
                          <a:solidFill>
                            <a:srgbClr val="FFFFFF"/>
                          </a:solidFill>
                          <a:latin typeface="Arial"/>
                          <a:ea typeface="Arial"/>
                          <a:cs typeface="Arial"/>
                        </a:rPr>
                        <a:t>Identity</a:t>
                      </a:r>
                    </a:p>
                  </a:txBody>
                  <a:tcPr marL="91440" marR="91440" marT="45720" marB="45720">
                    <a:solidFill>
                      <a:srgbClr val="10243B"/>
                    </a:solidFill>
                  </a:tcPr>
                </a:tc>
                <a:tc>
                  <a:txBody>
                    <a:bodyPr/>
                    <a:lstStyle/>
                    <a:p>
                      <a:r>
                        <a:rPr sz="1800" b="1">
                          <a:solidFill>
                            <a:srgbClr val="FFFFFF"/>
                          </a:solidFill>
                          <a:latin typeface="Arial"/>
                          <a:ea typeface="Arial"/>
                          <a:cs typeface="Arial"/>
                        </a:rPr>
                        <a:t>Execution and authority</a:t>
                      </a:r>
                    </a:p>
                  </a:txBody>
                  <a:tcPr marL="91440" marR="91440" marT="45720" marB="45720">
                    <a:solidFill>
                      <a:srgbClr val="10243B"/>
                    </a:solidFill>
                  </a:tcPr>
                </a:tc>
              </a:tr>
              <a:tr h="1181100">
                <a:tc>
                  <a:txBody>
                    <a:bodyPr/>
                    <a:lstStyle/>
                    <a:p>
                      <a:r>
                        <a:rPr sz="2025" b="0">
                          <a:solidFill>
                            <a:srgbClr val="10243B"/>
                          </a:solidFill>
                          <a:latin typeface="Arial"/>
                          <a:ea typeface="Arial"/>
                          <a:cs typeface="Arial"/>
                        </a:rPr>
                        <a:t>crew</a:t>
                      </a:r>
                    </a:p>
                  </a:txBody>
                  <a:tcPr marL="91440" marR="91440" marT="45720" marB="45720">
                    <a:solidFill>
                      <a:srgbClr val="FFFFFF"/>
                    </a:solidFill>
                  </a:tcPr>
                </a:tc>
                <a:tc>
                  <a:txBody>
                    <a:bodyPr/>
                    <a:lstStyle/>
                    <a:p>
                      <a:r>
                        <a:rPr sz="2025" b="0">
                          <a:solidFill>
                            <a:srgbClr val="10243B"/>
                          </a:solidFill>
                          <a:latin typeface="Arial"/>
                          <a:ea typeface="Arial"/>
                          <a:cs typeface="Arial"/>
                        </a:rPr>
                        <a:t>Gateway, Kiro CLI and workspace</a:t>
                      </a:r>
                    </a:p>
                    <a:p>
                      <a:r>
                        <a:rPr sz="2025" b="0">
                          <a:solidFill>
                            <a:srgbClr val="10243B"/>
                          </a:solidFill>
                          <a:latin typeface="Arial"/>
                          <a:ea typeface="Arial"/>
                          <a:cs typeface="Arial"/>
                        </a:rPr>
                        <a:t>Firewall blocks metadata for the crew UID</a:t>
                      </a:r>
                    </a:p>
                  </a:txBody>
                  <a:tcPr marL="91440" marR="91440" marT="45720" marB="45720">
                    <a:solidFill>
                      <a:srgbClr val="FFFFFF"/>
                    </a:solidFill>
                  </a:tcPr>
                </a:tc>
              </a:tr>
              <a:tr h="1181100">
                <a:tc>
                  <a:txBody>
                    <a:bodyPr/>
                    <a:lstStyle/>
                    <a:p>
                      <a:r>
                        <a:rPr sz="2025" b="0">
                          <a:solidFill>
                            <a:srgbClr val="10243B"/>
                          </a:solidFill>
                          <a:latin typeface="Arial"/>
                          <a:ea typeface="Arial"/>
                          <a:cs typeface="Arial"/>
                        </a:rPr>
                        <a:t>mcp-demo</a:t>
                      </a:r>
                    </a:p>
                  </a:txBody>
                  <a:tcPr marL="91440" marR="91440" marT="45720" marB="45720">
                    <a:solidFill>
                      <a:srgbClr val="E9EFF6"/>
                    </a:solidFill>
                  </a:tcPr>
                </a:tc>
                <a:tc>
                  <a:txBody>
                    <a:bodyPr/>
                    <a:lstStyle/>
                    <a:p>
                      <a:r>
                        <a:rPr sz="2025" b="0">
                          <a:solidFill>
                            <a:srgbClr val="10243B"/>
                          </a:solidFill>
                          <a:latin typeface="Arial"/>
                          <a:ea typeface="Arial"/>
                          <a:cs typeface="Arial"/>
                        </a:rPr>
                        <a:t>Fixed MCP tools and S3 reads</a:t>
                      </a:r>
                    </a:p>
                    <a:p>
                      <a:r>
                        <a:rPr sz="2025" b="0">
                          <a:solidFill>
                            <a:srgbClr val="10243B"/>
                          </a:solidFill>
                          <a:latin typeface="Arial"/>
                          <a:ea typeface="Arial"/>
                          <a:cs typeface="Arial"/>
                        </a:rPr>
                        <a:t>Instance role through IMDSv2</a:t>
                      </a:r>
                    </a:p>
                    <a:p>
                      <a:r>
                        <a:rPr sz="2025" b="0">
                          <a:solidFill>
                            <a:srgbClr val="10243B"/>
                          </a:solidFill>
                          <a:latin typeface="Arial"/>
                          <a:ea typeface="Arial"/>
                          <a:cs typeface="Arial"/>
                        </a:rPr>
                        <a:t>Two S3 prefixes + SSM core permissions</a:t>
                      </a:r>
                    </a:p>
                  </a:txBody>
                  <a:tcPr marL="91440" marR="91440" marT="45720" marB="45720">
                    <a:solidFill>
                      <a:srgbClr val="E9EFF6"/>
                    </a:solidFill>
                  </a:tcPr>
                </a:tc>
              </a:tr>
              <a:tr h="1181100">
                <a:tc>
                  <a:txBody>
                    <a:bodyPr/>
                    <a:lstStyle/>
                    <a:p>
                      <a:r>
                        <a:rPr sz="2025" b="0">
                          <a:solidFill>
                            <a:srgbClr val="10243B"/>
                          </a:solidFill>
                          <a:latin typeface="Arial"/>
                          <a:ea typeface="Arial"/>
                          <a:cs typeface="Arial"/>
                        </a:rPr>
                        <a:t>root / administrator</a:t>
                      </a:r>
                    </a:p>
                  </a:txBody>
                  <a:tcPr marL="91440" marR="91440" marT="45720" marB="45720">
                    <a:solidFill>
                      <a:srgbClr val="FFFFFF"/>
                    </a:solidFill>
                  </a:tcPr>
                </a:tc>
                <a:tc>
                  <a:txBody>
                    <a:bodyPr/>
                    <a:lstStyle/>
                    <a:p>
                      <a:r>
                        <a:rPr sz="2025" b="0">
                          <a:solidFill>
                            <a:srgbClr val="10243B"/>
                          </a:solidFill>
                          <a:latin typeface="Arial"/>
                          <a:ea typeface="Arial"/>
                          <a:cs typeface="Arial"/>
                        </a:rPr>
                        <a:t>Installs code and manages services</a:t>
                      </a:r>
                    </a:p>
                    <a:p>
                      <a:r>
                        <a:rPr sz="2025" b="0">
                          <a:solidFill>
                            <a:srgbClr val="10243B"/>
                          </a:solidFill>
                          <a:latin typeface="Arial"/>
                          <a:ea typeface="Arial"/>
                          <a:cs typeface="Arial"/>
                        </a:rPr>
                        <a:t>Trusted host administration</a:t>
                      </a:r>
                    </a:p>
                  </a:txBody>
                  <a:tcPr marL="91440" marR="91440" marT="45720" marB="45720">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DC76C388-3AEC-428B-9ACF-0910048EA452}"/>
              </a:ext>
            </a:extLst>
          </p:cNvPr>
          <p:cNvSpPr>
            <a:spLocks xmlns:a="http://schemas.openxmlformats.org/drawingml/2006/main" noGrp="1"/>
          </p:cNvSpPr>
          <p:nvPr/>
        </p:nvSpPr>
        <p:spPr>
          <a:xfrm xmlns:a="http://schemas.openxmlformats.org/drawingml/2006/main">
            <a:off x="609600" y="6038850"/>
            <a:ext cx="10715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B62758"/>
                </a:solidFill>
                <a:latin typeface="Arial"/>
                <a:ea typeface="Arial"/>
                <a:cs typeface="Arial"/>
              </a:defRPr>
            </a:pPr>
            <a:r>
              <a:rPr sz="2025" b="1">
                <a:solidFill>
                  <a:srgbClr val="B62758"/>
                </a:solidFill>
                <a:latin typeface="Arial"/>
                <a:ea typeface="Arial"/>
                <a:cs typeface="Arial"/>
              </a:rPr>
              <a:t>The MCP service uses the instance role for fixed S3 calls.</a:t>
            </a:r>
          </a:p>
        </p:txBody>
      </p:sp>
    </p:spTree>
    <p:extLst>
      <p:ext uri="{BB962C8B-B14F-4D97-AF65-F5344CB8AC3E}">
        <p14:creationId xmlns:p14="http://schemas.microsoft.com/office/powerpoint/2010/main" val="22670365"/>
      </p:ext>
    </p:extLst>
  </p:cSld>
</p:sld>
</file>

<file path=ppt/slides/slide5.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31E576E0-D223-436F-AD28-2072B3C3D9FB}"/>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Four calls, three denial boundaries</a:t>
            </a:r>
          </a:p>
        </p:txBody>
      </p:sp>
      <p:graphicFrame>
        <p:nvGraphicFramePr>
          <p:cNvPr id="5" name=""/>
          <p:cNvGraphicFramePr/>
          <p:nvPr/>
        </p:nvGraphicFramePr>
        <p:xfrm>
          <a:off xmlns:a="http://schemas.openxmlformats.org/drawingml/2006/main" x="609600" y="1485900"/>
          <a:ext xmlns:a="http://schemas.openxmlformats.org/drawingml/2006/main" cx="10972800" cy="3733800"/>
        </p:xfrm>
        <a:graphic xmlns:a="http://schemas.openxmlformats.org/drawingml/2006/main">
          <a:graphicData uri="http://schemas.openxmlformats.org/drawingml/2006/table">
            <a:tbl>
              <a:tblPr/>
              <a:tblGrid>
                <a:gridCol w="2857500"/>
                <a:gridCol w="4210050"/>
                <a:gridCol w="3905250"/>
              </a:tblGrid>
              <a:tr h="571500">
                <a:tc>
                  <a:txBody>
                    <a:bodyPr/>
                    <a:lstStyle/>
                    <a:p>
                      <a:r>
                        <a:rPr sz="1800" b="1">
                          <a:solidFill>
                            <a:srgbClr val="FFFFFF"/>
                          </a:solidFill>
                          <a:latin typeface="Arial"/>
                          <a:ea typeface="Arial"/>
                          <a:cs typeface="Arial"/>
                        </a:rPr>
                        <a:t>Tool</a:t>
                      </a:r>
                    </a:p>
                  </a:txBody>
                  <a:tcPr marL="91440" marR="91440" marT="45720" marB="45720">
                    <a:solidFill>
                      <a:srgbClr val="10243B"/>
                    </a:solidFill>
                  </a:tcPr>
                </a:tc>
                <a:tc>
                  <a:txBody>
                    <a:bodyPr/>
                    <a:lstStyle/>
                    <a:p>
                      <a:r>
                        <a:rPr sz="1800" b="1">
                          <a:solidFill>
                            <a:srgbClr val="FFFFFF"/>
                          </a:solidFill>
                          <a:latin typeface="Arial"/>
                          <a:ea typeface="Arial"/>
                          <a:cs typeface="Arial"/>
                        </a:rPr>
                        <a:t>Expected result</a:t>
                      </a:r>
                    </a:p>
                  </a:txBody>
                  <a:tcPr marL="91440" marR="91440" marT="45720" marB="45720">
                    <a:solidFill>
                      <a:srgbClr val="10243B"/>
                    </a:solidFill>
                  </a:tcPr>
                </a:tc>
                <a:tc>
                  <a:txBody>
                    <a:bodyPr/>
                    <a:lstStyle/>
                    <a:p>
                      <a:r>
                        <a:rPr sz="1800" b="1">
                          <a:solidFill>
                            <a:srgbClr val="FFFFFF"/>
                          </a:solidFill>
                          <a:latin typeface="Arial"/>
                          <a:ea typeface="Arial"/>
                          <a:cs typeface="Arial"/>
                        </a:rPr>
                        <a:t>Stopping point</a:t>
                      </a:r>
                    </a:p>
                  </a:txBody>
                  <a:tcPr marL="91440" marR="91440" marT="45720" marB="45720">
                    <a:solidFill>
                      <a:srgbClr val="10243B"/>
                    </a:solidFill>
                  </a:tcPr>
                </a:tc>
              </a:tr>
              <a:tr h="790575">
                <a:tc>
                  <a:txBody>
                    <a:bodyPr/>
                    <a:lstStyle/>
                    <a:p>
                      <a:r>
                        <a:rPr sz="1950" b="0">
                          <a:solidFill>
                            <a:srgbClr val="10243B"/>
                          </a:solidFill>
                          <a:latin typeface="Arial"/>
                          <a:ea typeface="Arial"/>
                          <a:cs typeface="Arial"/>
                        </a:rPr>
                        <a:t>read_allowed</a:t>
                      </a:r>
                    </a:p>
                  </a:txBody>
                  <a:tcPr marL="91440" marR="91440" marT="45720" marB="45720">
                    <a:solidFill>
                      <a:srgbClr val="FFFFFF"/>
                    </a:solidFill>
                  </a:tcPr>
                </a:tc>
                <a:tc>
                  <a:txBody>
                    <a:bodyPr/>
                    <a:lstStyle/>
                    <a:p>
                      <a:r>
                        <a:rPr sz="1950" b="0">
                          <a:solidFill>
                            <a:srgbClr val="10243B"/>
                          </a:solidFill>
                          <a:latin typeface="Arial"/>
                          <a:ea typeface="Arial"/>
                          <a:cs typeface="Arial"/>
                        </a:rPr>
                        <a:t>Digest of allowed object</a:t>
                      </a:r>
                    </a:p>
                  </a:txBody>
                  <a:tcPr marL="91440" marR="91440" marT="45720" marB="45720">
                    <a:solidFill>
                      <a:srgbClr val="FFFFFF"/>
                    </a:solidFill>
                  </a:tcPr>
                </a:tc>
                <a:tc>
                  <a:txBody>
                    <a:bodyPr/>
                    <a:lstStyle/>
                    <a:p>
                      <a:r>
                        <a:rPr sz="1950" b="0">
                          <a:solidFill>
                            <a:srgbClr val="10243B"/>
                          </a:solidFill>
                          <a:latin typeface="Arial"/>
                          <a:ea typeface="Arial"/>
                          <a:cs typeface="Arial"/>
                        </a:rPr>
                        <a:t>S3 completes the read</a:t>
                      </a:r>
                    </a:p>
                  </a:txBody>
                  <a:tcPr marL="91440" marR="91440" marT="45720" marB="45720">
                    <a:solidFill>
                      <a:srgbClr val="FFFFFF"/>
                    </a:solidFill>
                  </a:tcPr>
                </a:tc>
              </a:tr>
              <a:tr h="790575">
                <a:tc>
                  <a:txBody>
                    <a:bodyPr/>
                    <a:lstStyle/>
                    <a:p>
                      <a:r>
                        <a:rPr sz="1950" b="0">
                          <a:solidFill>
                            <a:srgbClr val="10243B"/>
                          </a:solidFill>
                          <a:latin typeface="Arial"/>
                          <a:ea typeface="Arial"/>
                          <a:cs typeface="Arial"/>
                        </a:rPr>
                        <a:t>crew_denied</a:t>
                      </a:r>
                    </a:p>
                  </a:txBody>
                  <a:tcPr marL="91440" marR="91440" marT="45720" marB="45720">
                    <a:solidFill>
                      <a:srgbClr val="E9EFF6"/>
                    </a:solidFill>
                  </a:tcPr>
                </a:tc>
                <a:tc>
                  <a:txBody>
                    <a:bodyPr/>
                    <a:lstStyle/>
                    <a:p>
                      <a:r>
                        <a:rPr sz="1950" b="0">
                          <a:solidFill>
                            <a:srgbClr val="10243B"/>
                          </a:solidFill>
                          <a:latin typeface="Arial"/>
                          <a:ea typeface="Arial"/>
                          <a:cs typeface="Arial"/>
                        </a:rPr>
                        <a:t>Configured tool denial</a:t>
                      </a:r>
                    </a:p>
                  </a:txBody>
                  <a:tcPr marL="91440" marR="91440" marT="45720" marB="45720">
                    <a:solidFill>
                      <a:srgbClr val="E9EFF6"/>
                    </a:solidFill>
                  </a:tcPr>
                </a:tc>
                <a:tc>
                  <a:txBody>
                    <a:bodyPr/>
                    <a:lstStyle/>
                    <a:p>
                      <a:r>
                        <a:rPr sz="1950" b="0">
                          <a:solidFill>
                            <a:srgbClr val="10243B"/>
                          </a:solidFill>
                          <a:latin typeface="Arial"/>
                          <a:ea typeface="Arial"/>
                          <a:cs typeface="Arial"/>
                        </a:rPr>
                        <a:t>Crew, before MCP dispatch</a:t>
                      </a:r>
                    </a:p>
                  </a:txBody>
                  <a:tcPr marL="91440" marR="91440" marT="45720" marB="45720">
                    <a:solidFill>
                      <a:srgbClr val="E9EFF6"/>
                    </a:solidFill>
                  </a:tcPr>
                </a:tc>
              </a:tr>
              <a:tr h="790575">
                <a:tc>
                  <a:txBody>
                    <a:bodyPr/>
                    <a:lstStyle/>
                    <a:p>
                      <a:r>
                        <a:rPr sz="1950" b="0">
                          <a:solidFill>
                            <a:srgbClr val="10243B"/>
                          </a:solidFill>
                          <a:latin typeface="Arial"/>
                          <a:ea typeface="Arial"/>
                          <a:cs typeface="Arial"/>
                        </a:rPr>
                        <a:t>mcp_denied</a:t>
                      </a:r>
                    </a:p>
                  </a:txBody>
                  <a:tcPr marL="91440" marR="91440" marT="45720" marB="45720">
                    <a:solidFill>
                      <a:srgbClr val="FFFFFF"/>
                    </a:solidFill>
                  </a:tcPr>
                </a:tc>
                <a:tc>
                  <a:txBody>
                    <a:bodyPr/>
                    <a:lstStyle/>
                    <a:p>
                      <a:r>
                        <a:rPr sz="1950" b="0">
                          <a:solidFill>
                            <a:srgbClr val="10243B"/>
                          </a:solidFill>
                          <a:latin typeface="Arial"/>
                          <a:ea typeface="Arial"/>
                          <a:cs typeface="Arial"/>
                        </a:rPr>
                        <a:t>tool_grant_denied</a:t>
                      </a:r>
                    </a:p>
                  </a:txBody>
                  <a:tcPr marL="91440" marR="91440" marT="45720" marB="45720">
                    <a:solidFill>
                      <a:srgbClr val="FFFFFF"/>
                    </a:solidFill>
                  </a:tcPr>
                </a:tc>
                <a:tc>
                  <a:txBody>
                    <a:bodyPr/>
                    <a:lstStyle/>
                    <a:p>
                      <a:r>
                        <a:rPr sz="1950" b="0">
                          <a:solidFill>
                            <a:srgbClr val="10243B"/>
                          </a:solidFill>
                          <a:latin typeface="Arial"/>
                          <a:ea typeface="Arial"/>
                          <a:cs typeface="Arial"/>
                        </a:rPr>
                        <a:t>MCP, before AWS dispatch</a:t>
                      </a:r>
                    </a:p>
                  </a:txBody>
                  <a:tcPr marL="91440" marR="91440" marT="45720" marB="45720">
                    <a:solidFill>
                      <a:srgbClr val="FFFFFF"/>
                    </a:solidFill>
                  </a:tcPr>
                </a:tc>
              </a:tr>
              <a:tr h="790575">
                <a:tc>
                  <a:txBody>
                    <a:bodyPr/>
                    <a:lstStyle/>
                    <a:p>
                      <a:r>
                        <a:rPr sz="1950" b="0">
                          <a:solidFill>
                            <a:srgbClr val="10243B"/>
                          </a:solidFill>
                          <a:latin typeface="Arial"/>
                          <a:ea typeface="Arial"/>
                          <a:cs typeface="Arial"/>
                        </a:rPr>
                        <a:t>iam_denied</a:t>
                      </a:r>
                    </a:p>
                  </a:txBody>
                  <a:tcPr marL="91440" marR="91440" marT="45720" marB="45720">
                    <a:solidFill>
                      <a:srgbClr val="E9EFF6"/>
                    </a:solidFill>
                  </a:tcPr>
                </a:tc>
                <a:tc>
                  <a:txBody>
                    <a:bodyPr/>
                    <a:lstStyle/>
                    <a:p>
                      <a:r>
                        <a:rPr sz="1950" b="0">
                          <a:solidFill>
                            <a:srgbClr val="10243B"/>
                          </a:solidFill>
                          <a:latin typeface="Arial"/>
                          <a:ea typeface="Arial"/>
                          <a:cs typeface="Arial"/>
                        </a:rPr>
                        <a:t>S3 AccessDenied (403)</a:t>
                      </a:r>
                    </a:p>
                  </a:txBody>
                  <a:tcPr marL="91440" marR="91440" marT="45720" marB="45720">
                    <a:solidFill>
                      <a:srgbClr val="E9EFF6"/>
                    </a:solidFill>
                  </a:tcPr>
                </a:tc>
                <a:tc>
                  <a:txBody>
                    <a:bodyPr/>
                    <a:lstStyle/>
                    <a:p>
                      <a:r>
                        <a:rPr sz="1950" b="0">
                          <a:solidFill>
                            <a:srgbClr val="10243B"/>
                          </a:solidFill>
                          <a:latin typeface="Arial"/>
                          <a:ea typeface="Arial"/>
                          <a:cs typeface="Arial"/>
                        </a:rPr>
                        <a:t>AWS IAM</a:t>
                      </a:r>
                    </a:p>
                  </a:txBody>
                  <a:tcPr marL="91440" marR="91440" marT="45720" marB="45720">
                    <a:solidFill>
                      <a:srgbClr val="E9EFF6"/>
                    </a:solidFill>
                  </a:tcPr>
                </a:tc>
              </a:tr>
            </a:tbl>
          </a:graphicData>
        </a:graphic>
      </p:graphicFrame>
      <p:sp>
        <p:nvSpPr>
          <p:cNvPr id="3" name="">
            <a:extLst xmlns:a="http://schemas.openxmlformats.org/drawingml/2006/main">
              <a:ext uri="{FF2B5EF4-FFF2-40B4-BE49-F238E27FC236}">
                <a16:creationId xmlns:a16="http://schemas.microsoft.com/office/drawing/2014/main" id="{53EEF0C1-4E12-4670-812F-736387F48F32}"/>
              </a:ext>
            </a:extLst>
          </p:cNvPr>
          <p:cNvSpPr>
            <a:spLocks xmlns:a="http://schemas.openxmlformats.org/drawingml/2006/main" noGrp="1"/>
          </p:cNvSpPr>
          <p:nvPr/>
        </p:nvSpPr>
        <p:spPr>
          <a:xfrm xmlns:a="http://schemas.openxmlformats.org/drawingml/2006/main">
            <a:off x="609600" y="5924550"/>
            <a:ext cx="109061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B62758"/>
                </a:solidFill>
                <a:latin typeface="Arial"/>
                <a:ea typeface="Arial"/>
                <a:cs typeface="Arial"/>
              </a:defRPr>
            </a:pPr>
            <a:r>
              <a:rPr sz="2025" b="1">
                <a:solidFill>
                  <a:srgbClr val="B62758"/>
                </a:solidFill>
                <a:latin typeface="Arial"/>
                <a:ea typeface="Arial"/>
                <a:cs typeface="Arial"/>
              </a:rPr>
              <a:t>The direct probe covers three tools. Native Crew denial remains pending.</a:t>
            </a:r>
          </a:p>
        </p:txBody>
      </p:sp>
    </p:spTree>
    <p:extLst>
      <p:ext uri="{BB962C8B-B14F-4D97-AF65-F5344CB8AC3E}">
        <p14:creationId xmlns:p14="http://schemas.microsoft.com/office/powerpoint/2010/main" val="291327304"/>
      </p:ext>
    </p:extLst>
  </p:cSld>
</p:sld>
</file>

<file path=ppt/slides/slide6.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1E9E147-99B0-42B4-9D01-A902C3C78821}"/>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Observed MCP and AWS results</a:t>
            </a:r>
          </a:p>
        </p:txBody>
      </p:sp>
      <p:sp>
        <p:nvSpPr>
          <p:cNvPr id="2" name="">
            <a:extLst xmlns:a="http://schemas.openxmlformats.org/drawingml/2006/main">
              <a:ext uri="{FF2B5EF4-FFF2-40B4-BE49-F238E27FC236}">
                <a16:creationId xmlns:a16="http://schemas.microsoft.com/office/drawing/2014/main" id="{78BCE64B-FE1D-4E4F-BF8D-0C26643587DA}"/>
              </a:ext>
            </a:extLst>
          </p:cNvPr>
          <p:cNvSpPr>
            <a:spLocks xmlns:a="http://schemas.openxmlformats.org/drawingml/2006/main" noGrp="1"/>
          </p:cNvSpPr>
          <p:nvPr/>
        </p:nvSpPr>
        <p:spPr>
          <a:xfrm xmlns:a="http://schemas.openxmlformats.org/drawingml/2006/main">
            <a:off x="609600" y="14287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8666"/>
                </a:solidFill>
                <a:latin typeface="Arial"/>
                <a:ea typeface="Arial"/>
                <a:cs typeface="Arial"/>
              </a:defRPr>
            </a:pPr>
            <a:r>
              <a:rPr sz="2550" b="1">
                <a:solidFill>
                  <a:srgbClr val="008666"/>
                </a:solidFill>
                <a:latin typeface="Arial"/>
                <a:ea typeface="Arial"/>
                <a:cs typeface="Arial"/>
              </a:rPr>
              <a:t>Direct probe on EC2</a:t>
            </a:r>
          </a:p>
        </p:txBody>
      </p:sp>
      <p:sp>
        <p:nvSpPr>
          <p:cNvPr id="3" name="">
            <a:extLst xmlns:a="http://schemas.openxmlformats.org/drawingml/2006/main">
              <a:ext uri="{FF2B5EF4-FFF2-40B4-BE49-F238E27FC236}">
                <a16:creationId xmlns:a16="http://schemas.microsoft.com/office/drawing/2014/main" id="{6541328D-BB9F-4655-B6E9-6F791275F3AE}"/>
              </a:ext>
            </a:extLst>
          </p:cNvPr>
          <p:cNvSpPr>
            <a:spLocks xmlns:a="http://schemas.openxmlformats.org/drawingml/2006/main" noGrp="1"/>
          </p:cNvSpPr>
          <p:nvPr/>
        </p:nvSpPr>
        <p:spPr>
          <a:xfrm xmlns:a="http://schemas.openxmlformats.org/drawingml/2006/main">
            <a:off x="609600" y="1990725"/>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50667F"/>
                </a:solidFill>
                <a:latin typeface="Arial"/>
                <a:ea typeface="Arial"/>
                <a:cs typeface="Arial"/>
              </a:defRPr>
            </a:pPr>
            <a:r>
              <a:rPr sz="1725" b="0">
                <a:solidFill>
                  <a:srgbClr val="50667F"/>
                </a:solidFill>
                <a:latin typeface="Arial"/>
                <a:ea typeface="Arial"/>
                <a:cs typeface="Arial"/>
              </a:rPr>
              <a:t>direct_mcp_service_probe, 2026-09-13 04:17:07 UTC</a:t>
            </a:r>
          </a:p>
        </p:txBody>
      </p:sp>
      <p:graphicFrame>
        <p:nvGraphicFramePr>
          <p:cNvPr id="10" name=""/>
          <p:cNvGraphicFramePr/>
          <p:nvPr/>
        </p:nvGraphicFramePr>
        <p:xfrm>
          <a:off xmlns:a="http://schemas.openxmlformats.org/drawingml/2006/main" x="609600" y="2552700"/>
          <a:ext xmlns:a="http://schemas.openxmlformats.org/drawingml/2006/main" cx="10972800" cy="3114675"/>
        </p:xfrm>
        <a:graphic xmlns:a="http://schemas.openxmlformats.org/drawingml/2006/main">
          <a:graphicData uri="http://schemas.openxmlformats.org/drawingml/2006/table">
            <a:tbl>
              <a:tblPr/>
              <a:tblGrid>
                <a:gridCol w="3143250"/>
                <a:gridCol w="7829550"/>
              </a:tblGrid>
              <a:tr h="571500">
                <a:tc>
                  <a:txBody>
                    <a:bodyPr/>
                    <a:lstStyle/>
                    <a:p>
                      <a:r>
                        <a:rPr sz="1800" b="1">
                          <a:solidFill>
                            <a:srgbClr val="FFFFFF"/>
                          </a:solidFill>
                          <a:latin typeface="Arial"/>
                          <a:ea typeface="Arial"/>
                          <a:cs typeface="Arial"/>
                        </a:rPr>
                        <a:t>Call</a:t>
                      </a:r>
                    </a:p>
                  </a:txBody>
                  <a:tcPr marL="91440" marR="91440" marT="45720" marB="45720">
                    <a:solidFill>
                      <a:srgbClr val="10243B"/>
                    </a:solidFill>
                  </a:tcPr>
                </a:tc>
                <a:tc>
                  <a:txBody>
                    <a:bodyPr/>
                    <a:lstStyle/>
                    <a:p>
                      <a:r>
                        <a:rPr sz="1800" b="1">
                          <a:solidFill>
                            <a:srgbClr val="FFFFFF"/>
                          </a:solidFill>
                          <a:latin typeface="Arial"/>
                          <a:ea typeface="Arial"/>
                          <a:cs typeface="Arial"/>
                        </a:rPr>
                        <a:t>Receipt output</a:t>
                      </a:r>
                    </a:p>
                  </a:txBody>
                  <a:tcPr marL="91440" marR="91440" marT="45720" marB="45720">
                    <a:solidFill>
                      <a:srgbClr val="10243B"/>
                    </a:solidFill>
                  </a:tcPr>
                </a:tc>
              </a:tr>
              <a:tr h="847725">
                <a:tc>
                  <a:txBody>
                    <a:bodyPr/>
                    <a:lstStyle/>
                    <a:p>
                      <a:r>
                        <a:rPr sz="2025" b="0">
                          <a:solidFill>
                            <a:srgbClr val="10243B"/>
                          </a:solidFill>
                          <a:latin typeface="Arial"/>
                          <a:ea typeface="Arial"/>
                          <a:cs typeface="Arial"/>
                        </a:rPr>
                        <a:t>read_allowed</a:t>
                      </a:r>
                    </a:p>
                  </a:txBody>
                  <a:tcPr marL="91440" marR="91440" marT="45720" marB="45720">
                    <a:solidFill>
                      <a:srgbClr val="FFFFFF"/>
                    </a:solidFill>
                  </a:tcPr>
                </a:tc>
                <a:tc>
                  <a:txBody>
                    <a:bodyPr/>
                    <a:lstStyle/>
                    <a:p>
                      <a:r>
                        <a:rPr sz="2025" b="0">
                          <a:solidFill>
                            <a:srgbClr val="10243B"/>
                          </a:solidFill>
                          <a:latin typeface="Arial"/>
                          <a:ea typeface="Arial"/>
                          <a:cs typeface="Arial"/>
                        </a:rPr>
                        <a:t>55 bytes</a:t>
                      </a:r>
                    </a:p>
                    <a:p>
                      <a:r>
                        <a:rPr sz="2025" b="0">
                          <a:solidFill>
                            <a:srgbClr val="10243B"/>
                          </a:solidFill>
                          <a:latin typeface="Arial"/>
                          <a:ea typeface="Arial"/>
                          <a:cs typeface="Arial"/>
                        </a:rPr>
                        <a:t>SHA256 34ebbefeb5f66527…</a:t>
                      </a:r>
                    </a:p>
                  </a:txBody>
                  <a:tcPr marL="91440" marR="91440" marT="45720" marB="45720">
                    <a:solidFill>
                      <a:srgbClr val="FFFFFF"/>
                    </a:solidFill>
                  </a:tcPr>
                </a:tc>
              </a:tr>
              <a:tr h="847725">
                <a:tc>
                  <a:txBody>
                    <a:bodyPr/>
                    <a:lstStyle/>
                    <a:p>
                      <a:r>
                        <a:rPr sz="2025" b="0">
                          <a:solidFill>
                            <a:srgbClr val="10243B"/>
                          </a:solidFill>
                          <a:latin typeface="Arial"/>
                          <a:ea typeface="Arial"/>
                          <a:cs typeface="Arial"/>
                        </a:rPr>
                        <a:t>mcp_denied</a:t>
                      </a:r>
                    </a:p>
                  </a:txBody>
                  <a:tcPr marL="91440" marR="91440" marT="45720" marB="45720">
                    <a:solidFill>
                      <a:srgbClr val="E9EFF6"/>
                    </a:solidFill>
                  </a:tcPr>
                </a:tc>
                <a:tc>
                  <a:txBody>
                    <a:bodyPr/>
                    <a:lstStyle/>
                    <a:p>
                      <a:r>
                        <a:rPr sz="2025" b="0">
                          <a:solidFill>
                            <a:srgbClr val="10243B"/>
                          </a:solidFill>
                          <a:latin typeface="Arial"/>
                          <a:ea typeface="Arial"/>
                          <a:cs typeface="Arial"/>
                        </a:rPr>
                        <a:t>tool_grant_denied</a:t>
                      </a:r>
                    </a:p>
                    <a:p>
                      <a:r>
                        <a:rPr sz="2025" b="0">
                          <a:solidFill>
                            <a:srgbClr val="10243B"/>
                          </a:solidFill>
                          <a:latin typeface="Arial"/>
                          <a:ea typeface="Arial"/>
                          <a:cs typeface="Arial"/>
                        </a:rPr>
                        <a:t>No AWS dispatch for that trace</a:t>
                      </a:r>
                    </a:p>
                  </a:txBody>
                  <a:tcPr marL="91440" marR="91440" marT="45720" marB="45720">
                    <a:solidFill>
                      <a:srgbClr val="E9EFF6"/>
                    </a:solidFill>
                  </a:tcPr>
                </a:tc>
              </a:tr>
              <a:tr h="847725">
                <a:tc>
                  <a:txBody>
                    <a:bodyPr/>
                    <a:lstStyle/>
                    <a:p>
                      <a:r>
                        <a:rPr sz="2025" b="0">
                          <a:solidFill>
                            <a:srgbClr val="10243B"/>
                          </a:solidFill>
                          <a:latin typeface="Arial"/>
                          <a:ea typeface="Arial"/>
                          <a:cs typeface="Arial"/>
                        </a:rPr>
                        <a:t>iam_denied</a:t>
                      </a:r>
                    </a:p>
                  </a:txBody>
                  <a:tcPr marL="91440" marR="91440" marT="45720" marB="45720">
                    <a:solidFill>
                      <a:srgbClr val="FFFFFF"/>
                    </a:solidFill>
                  </a:tcPr>
                </a:tc>
                <a:tc>
                  <a:txBody>
                    <a:bodyPr/>
                    <a:lstStyle/>
                    <a:p>
                      <a:r>
                        <a:rPr sz="2025" b="0">
                          <a:solidFill>
                            <a:srgbClr val="10243B"/>
                          </a:solidFill>
                          <a:latin typeface="Arial"/>
                          <a:ea typeface="Arial"/>
                          <a:cs typeface="Arial"/>
                        </a:rPr>
                        <a:t>S3 AccessDenied, HTTP 403</a:t>
                      </a:r>
                    </a:p>
                    <a:p>
                      <a:r>
                        <a:rPr sz="2025" b="0">
                          <a:solidFill>
                            <a:srgbClr val="10243B"/>
                          </a:solidFill>
                          <a:latin typeface="Arial"/>
                          <a:ea typeface="Arial"/>
                          <a:cs typeface="Arial"/>
                        </a:rPr>
                        <a:t>Request ID NJ428FX3JS4EV6VK</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3D1C507C-F86F-4C62-AE3C-DE702285D169}"/>
              </a:ext>
            </a:extLst>
          </p:cNvPr>
          <p:cNvSpPr>
            <a:spLocks xmlns:a="http://schemas.openxmlformats.org/drawingml/2006/main" noGrp="1"/>
          </p:cNvSpPr>
          <p:nvPr/>
        </p:nvSpPr>
        <p:spPr>
          <a:xfrm xmlns:a="http://schemas.openxmlformats.org/drawingml/2006/main">
            <a:off x="609600" y="5876925"/>
            <a:ext cx="10763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0">
                <a:solidFill>
                  <a:srgbClr val="50667F"/>
                </a:solidFill>
                <a:latin typeface="Arial"/>
                <a:ea typeface="Arial"/>
                <a:cs typeface="Arial"/>
              </a:defRPr>
            </a:pPr>
            <a:r>
              <a:rPr sz="1800" b="0">
                <a:solidFill>
                  <a:srgbClr val="50667F"/>
                </a:solidFill>
                <a:latin typeface="Arial"/>
                <a:ea typeface="Arial"/>
                <a:cs typeface="Arial"/>
              </a:rPr>
              <a:t>Unauthenticated request: 401. Discovery returned four tools.</a:t>
            </a:r>
          </a:p>
        </p:txBody>
      </p:sp>
      <p:sp>
        <p:nvSpPr>
          <p:cNvPr id="6" name="">
            <a:extLst xmlns:a="http://schemas.openxmlformats.org/drawingml/2006/main">
              <a:ext uri="{FF2B5EF4-FFF2-40B4-BE49-F238E27FC236}">
                <a16:creationId xmlns:a16="http://schemas.microsoft.com/office/drawing/2014/main" id="{15E1FA4C-69E7-469D-BDE4-EB91DFD84650}"/>
              </a:ext>
            </a:extLst>
          </p:cNvPr>
          <p:cNvSpPr>
            <a:spLocks xmlns:a="http://schemas.openxmlformats.org/drawingml/2006/main" noGrp="1"/>
          </p:cNvSpPr>
          <p:nvPr/>
        </p:nvSpPr>
        <p:spPr>
          <a:xfrm xmlns:a="http://schemas.openxmlformats.org/drawingml/2006/main">
            <a:off x="609600" y="6286500"/>
            <a:ext cx="10763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1">
                <a:solidFill>
                  <a:srgbClr val="B62758"/>
                </a:solidFill>
                <a:latin typeface="Arial"/>
                <a:ea typeface="Arial"/>
                <a:cs typeface="Arial"/>
              </a:defRPr>
            </a:pPr>
            <a:r>
              <a:rPr sz="1875" b="1">
                <a:solidFill>
                  <a:srgbClr val="B62758"/>
                </a:solidFill>
                <a:latin typeface="Arial"/>
                <a:ea typeface="Arial"/>
                <a:cs typeface="Arial"/>
              </a:rPr>
              <a:t>Native Crew session pending.</a:t>
            </a:r>
          </a:p>
        </p:txBody>
      </p:sp>
    </p:spTree>
    <p:extLst>
      <p:ext uri="{BB962C8B-B14F-4D97-AF65-F5344CB8AC3E}">
        <p14:creationId xmlns:p14="http://schemas.microsoft.com/office/powerpoint/2010/main" val="411269136"/>
      </p:ext>
    </p:extLst>
  </p:cSld>
</p:sld>
</file>

<file path=ppt/slides/slide7.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EA60586-1903-4CF2-B139-245BD423195A}"/>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Installed nightly and client baseline</a:t>
            </a:r>
          </a:p>
        </p:txBody>
      </p:sp>
      <p:sp>
        <p:nvSpPr>
          <p:cNvPr id="2" name="">
            <a:extLst xmlns:a="http://schemas.openxmlformats.org/drawingml/2006/main">
              <a:ext uri="{FF2B5EF4-FFF2-40B4-BE49-F238E27FC236}">
                <a16:creationId xmlns:a16="http://schemas.microsoft.com/office/drawing/2014/main" id="{49DAA417-FDD2-4BAE-ABA9-B45D8E4B9C72}"/>
              </a:ext>
            </a:extLst>
          </p:cNvPr>
          <p:cNvSpPr>
            <a:spLocks xmlns:a="http://schemas.openxmlformats.org/drawingml/2006/main" noGrp="1"/>
          </p:cNvSpPr>
          <p:nvPr/>
        </p:nvSpPr>
        <p:spPr>
          <a:xfrm xmlns:a="http://schemas.openxmlformats.org/drawingml/2006/main">
            <a:off x="609600" y="1466850"/>
            <a:ext cx="3905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08666"/>
                </a:solidFill>
                <a:latin typeface="Arial"/>
                <a:ea typeface="Arial"/>
                <a:cs typeface="Arial"/>
              </a:defRPr>
            </a:pPr>
            <a:r>
              <a:rPr sz="2400" b="1">
                <a:solidFill>
                  <a:srgbClr val="008666"/>
                </a:solidFill>
                <a:latin typeface="Arial"/>
                <a:ea typeface="Arial"/>
                <a:cs typeface="Arial"/>
              </a:rPr>
              <a:t>Crew package</a:t>
            </a:r>
          </a:p>
        </p:txBody>
      </p:sp>
      <p:sp>
        <p:nvSpPr>
          <p:cNvPr id="3" name="">
            <a:extLst xmlns:a="http://schemas.openxmlformats.org/drawingml/2006/main">
              <a:ext uri="{FF2B5EF4-FFF2-40B4-BE49-F238E27FC236}">
                <a16:creationId xmlns:a16="http://schemas.microsoft.com/office/drawing/2014/main" id="{9E0DAFE2-91B2-42C5-BEAA-6D78425C99AE}"/>
              </a:ext>
            </a:extLst>
          </p:cNvPr>
          <p:cNvSpPr>
            <a:spLocks xmlns:a="http://schemas.openxmlformats.org/drawingml/2006/main" noGrp="1"/>
          </p:cNvSpPr>
          <p:nvPr/>
        </p:nvSpPr>
        <p:spPr>
          <a:xfrm xmlns:a="http://schemas.openxmlformats.org/drawingml/2006/main">
            <a:off x="609600" y="2133600"/>
            <a:ext cx="107632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10243B"/>
                </a:solidFill>
                <a:latin typeface="Arial"/>
                <a:ea typeface="Arial"/>
                <a:cs typeface="Arial"/>
              </a:defRPr>
            </a:pPr>
            <a:r>
              <a:rPr sz="2175" b="0">
                <a:solidFill>
                  <a:srgbClr val="10243B"/>
                </a:solidFill>
                <a:latin typeface="Arial"/>
                <a:ea typeface="Arial"/>
                <a:cs typeface="Arial"/>
              </a:rPr>
              <a:t>0.7.0-nightly.20260912t060850</a:t>
            </a:r>
          </a:p>
          <a:p xmlns:a="http://schemas.openxmlformats.org/drawingml/2006/main">
            <a:pPr>
              <a:defRPr sz="2175" b="0">
                <a:solidFill>
                  <a:srgbClr val="10243B"/>
                </a:solidFill>
                <a:latin typeface="Arial"/>
                <a:ea typeface="Arial"/>
                <a:cs typeface="Arial"/>
              </a:defRPr>
            </a:pPr>
            <a:r>
              <a:rPr sz="2175" b="0">
                <a:solidFill>
                  <a:srgbClr val="10243B"/>
                </a:solidFill>
                <a:latin typeface="Arial"/>
                <a:ea typeface="Arial"/>
                <a:cs typeface="Arial"/>
              </a:rPr>
              <a:t>Custom Linux repack of the installed package</a:t>
            </a:r>
          </a:p>
          <a:p xmlns:a="http://schemas.openxmlformats.org/drawingml/2006/main">
            <a:pPr>
              <a:defRPr sz="2175" b="0">
                <a:solidFill>
                  <a:srgbClr val="10243B"/>
                </a:solidFill>
                <a:latin typeface="Arial"/>
                <a:ea typeface="Arial"/>
                <a:cs typeface="Arial"/>
              </a:defRPr>
            </a:pPr>
            <a:r>
              <a:rPr sz="2175" b="0">
                <a:solidFill>
                  <a:srgbClr val="10243B"/>
                </a:solidFill>
                <a:latin typeface="Arial"/>
                <a:ea typeface="Arial"/>
                <a:cs typeface="Arial"/>
              </a:rPr>
              <a:t>Hash-locked Linux dependencies</a:t>
            </a:r>
          </a:p>
        </p:txBody>
      </p:sp>
      <p:sp>
        <p:nvSpPr>
          <p:cNvPr id="4" name="">
            <a:extLst xmlns:a="http://schemas.openxmlformats.org/drawingml/2006/main">
              <a:ext uri="{FF2B5EF4-FFF2-40B4-BE49-F238E27FC236}">
                <a16:creationId xmlns:a16="http://schemas.microsoft.com/office/drawing/2014/main" id="{659BDBB7-5E30-4117-BFF7-72145A459FF6}"/>
              </a:ext>
            </a:extLst>
          </p:cNvPr>
          <p:cNvSpPr>
            <a:spLocks xmlns:a="http://schemas.openxmlformats.org/drawingml/2006/main" noGrp="1"/>
          </p:cNvSpPr>
          <p:nvPr/>
        </p:nvSpPr>
        <p:spPr>
          <a:xfrm xmlns:a="http://schemas.openxmlformats.org/drawingml/2006/main">
            <a:off x="609600" y="3638550"/>
            <a:ext cx="476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08666"/>
                </a:solidFill>
                <a:latin typeface="Arial"/>
                <a:ea typeface="Arial"/>
                <a:cs typeface="Arial"/>
              </a:defRPr>
            </a:pPr>
            <a:r>
              <a:rPr sz="2400" b="1">
                <a:solidFill>
                  <a:srgbClr val="008666"/>
                </a:solidFill>
                <a:latin typeface="Arial"/>
                <a:ea typeface="Arial"/>
                <a:cs typeface="Arial"/>
              </a:rPr>
              <a:t>Kiro CLI artifact</a:t>
            </a:r>
          </a:p>
        </p:txBody>
      </p:sp>
      <p:sp>
        <p:nvSpPr>
          <p:cNvPr id="5" name="">
            <a:extLst xmlns:a="http://schemas.openxmlformats.org/drawingml/2006/main">
              <a:ext uri="{FF2B5EF4-FFF2-40B4-BE49-F238E27FC236}">
                <a16:creationId xmlns:a16="http://schemas.microsoft.com/office/drawing/2014/main" id="{6750D3E0-82BE-4FBF-9964-25AF10134FEB}"/>
              </a:ext>
            </a:extLst>
          </p:cNvPr>
          <p:cNvSpPr>
            <a:spLocks xmlns:a="http://schemas.openxmlformats.org/drawingml/2006/main" noGrp="1"/>
          </p:cNvSpPr>
          <p:nvPr/>
        </p:nvSpPr>
        <p:spPr>
          <a:xfrm xmlns:a="http://schemas.openxmlformats.org/drawingml/2006/main">
            <a:off x="609600" y="4305300"/>
            <a:ext cx="10763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10243B"/>
                </a:solidFill>
                <a:latin typeface="Arial"/>
                <a:ea typeface="Arial"/>
                <a:cs typeface="Arial"/>
              </a:defRPr>
            </a:pPr>
            <a:r>
              <a:rPr sz="2175" b="0">
                <a:solidFill>
                  <a:srgbClr val="10243B"/>
                </a:solidFill>
                <a:latin typeface="Arial"/>
                <a:ea typeface="Arial"/>
                <a:cs typeface="Arial"/>
              </a:rPr>
              <a:t>2.21.4 official Linux artifact</a:t>
            </a:r>
          </a:p>
          <a:p xmlns:a="http://schemas.openxmlformats.org/drawingml/2006/main">
            <a:pPr>
              <a:defRPr sz="2175" b="0">
                <a:solidFill>
                  <a:srgbClr val="10243B"/>
                </a:solidFill>
                <a:latin typeface="Arial"/>
                <a:ea typeface="Arial"/>
                <a:cs typeface="Arial"/>
              </a:defRPr>
            </a:pPr>
            <a:r>
              <a:rPr sz="2175" b="0">
                <a:solidFill>
                  <a:srgbClr val="10243B"/>
                </a:solidFill>
                <a:latin typeface="Arial"/>
                <a:ea typeface="Arial"/>
                <a:cs typeface="Arial"/>
              </a:rPr>
              <a:t>Archive hash matches the official manifest</a:t>
            </a:r>
          </a:p>
        </p:txBody>
      </p:sp>
      <p:sp>
        <p:nvSpPr>
          <p:cNvPr id="6" name="">
            <a:extLst xmlns:a="http://schemas.openxmlformats.org/drawingml/2006/main">
              <a:ext uri="{FF2B5EF4-FFF2-40B4-BE49-F238E27FC236}">
                <a16:creationId xmlns:a16="http://schemas.microsoft.com/office/drawing/2014/main" id="{66D7CA3D-AA48-49D3-BCED-62A1CA56C5E4}"/>
              </a:ext>
            </a:extLst>
          </p:cNvPr>
          <p:cNvSpPr>
            <a:spLocks xmlns:a="http://schemas.openxmlformats.org/drawingml/2006/main" noGrp="1"/>
          </p:cNvSpPr>
          <p:nvPr/>
        </p:nvSpPr>
        <p:spPr>
          <a:xfrm xmlns:a="http://schemas.openxmlformats.org/drawingml/2006/main">
            <a:off x="609600" y="5543550"/>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75" b="0">
                <a:solidFill>
                  <a:srgbClr val="008666"/>
                </a:solidFill>
                <a:latin typeface="Arial"/>
                <a:ea typeface="Arial"/>
                <a:cs typeface="Arial"/>
              </a:defRPr>
            </a:pPr>
            <a:r>
              <a:rPr sz="1875" b="0">
                <a:solidFill>
                  <a:srgbClr val="008666"/>
                </a:solidFill>
                <a:latin typeface="Arial"/>
                <a:ea typeface="Arial"/>
                <a:cs typeface="Arial"/>
              </a:rPr>
              <a:t>Desktop uses EC2. Local Gateway is off.</a:t>
            </a:r>
          </a:p>
        </p:txBody>
      </p:sp>
      <p:sp>
        <p:nvSpPr>
          <p:cNvPr id="7" name="">
            <a:extLst xmlns:a="http://schemas.openxmlformats.org/drawingml/2006/main">
              <a:ext uri="{FF2B5EF4-FFF2-40B4-BE49-F238E27FC236}">
                <a16:creationId xmlns:a16="http://schemas.microsoft.com/office/drawing/2014/main" id="{60ACCBC3-3FB7-4877-B9BC-42A00B37795B}"/>
              </a:ext>
            </a:extLst>
          </p:cNvPr>
          <p:cNvSpPr>
            <a:spLocks xmlns:a="http://schemas.openxmlformats.org/drawingml/2006/main" noGrp="1"/>
          </p:cNvSpPr>
          <p:nvPr/>
        </p:nvSpPr>
        <p:spPr>
          <a:xfrm xmlns:a="http://schemas.openxmlformats.org/drawingml/2006/main">
            <a:off x="609600" y="605790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1">
                <a:solidFill>
                  <a:srgbClr val="B62758"/>
                </a:solidFill>
                <a:latin typeface="Arial"/>
                <a:ea typeface="Arial"/>
                <a:cs typeface="Arial"/>
              </a:defRPr>
            </a:pPr>
            <a:r>
              <a:rPr sz="1950" b="1">
                <a:solidFill>
                  <a:srgbClr val="B62758"/>
                </a:solidFill>
                <a:latin typeface="Arial"/>
                <a:ea typeface="Arial"/>
                <a:cs typeface="Arial"/>
              </a:rPr>
              <a:t>Native backend authentication and session pending.</a:t>
            </a:r>
          </a:p>
        </p:txBody>
      </p:sp>
    </p:spTree>
    <p:extLst>
      <p:ext uri="{BB962C8B-B14F-4D97-AF65-F5344CB8AC3E}">
        <p14:creationId xmlns:p14="http://schemas.microsoft.com/office/powerpoint/2010/main" val="448607782"/>
      </p:ext>
    </p:extLst>
  </p:cSld>
</p:sld>
</file>

<file path=ppt/slides/slide8.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96B63BA-53FE-4739-AC9A-16EB0865AA29}"/>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Desktop-to-EC2 walkthrough</a:t>
            </a:r>
          </a:p>
        </p:txBody>
      </p:sp>
      <p:sp>
        <p:nvSpPr>
          <p:cNvPr id="2" name="">
            <a:extLst xmlns:a="http://schemas.openxmlformats.org/drawingml/2006/main">
              <a:ext uri="{FF2B5EF4-FFF2-40B4-BE49-F238E27FC236}">
                <a16:creationId xmlns:a16="http://schemas.microsoft.com/office/drawing/2014/main" id="{4553E2D6-5837-4D54-BFD6-97E72261F3C4}"/>
              </a:ext>
            </a:extLst>
          </p:cNvPr>
          <p:cNvSpPr>
            <a:spLocks xmlns:a="http://schemas.openxmlformats.org/drawingml/2006/main" noGrp="1"/>
          </p:cNvSpPr>
          <p:nvPr/>
        </p:nvSpPr>
        <p:spPr>
          <a:xfrm xmlns:a="http://schemas.openxmlformats.org/drawingml/2006/main">
            <a:off x="609600" y="16002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75" b="0">
                <a:solidFill>
                  <a:srgbClr val="10243B"/>
                </a:solidFill>
                <a:latin typeface="Arial"/>
                <a:ea typeface="Arial"/>
                <a:cs typeface="Arial"/>
              </a:defRPr>
            </a:pPr>
            <a:r>
              <a:rPr sz="2475" b="0">
                <a:solidFill>
                  <a:srgbClr val="10243B"/>
                </a:solidFill>
                <a:latin typeface="Arial"/>
                <a:ea typeface="Arial"/>
                <a:cs typeface="Arial"/>
              </a:rPr>
              <a:t>1   Confirm the remote client and workspace</a:t>
            </a:r>
          </a:p>
        </p:txBody>
      </p:sp>
      <p:sp>
        <p:nvSpPr>
          <p:cNvPr id="3" name="">
            <a:extLst xmlns:a="http://schemas.openxmlformats.org/drawingml/2006/main">
              <a:ext uri="{FF2B5EF4-FFF2-40B4-BE49-F238E27FC236}">
                <a16:creationId xmlns:a16="http://schemas.microsoft.com/office/drawing/2014/main" id="{1E29CF3A-0961-411F-A1FE-60574B2CD59C}"/>
              </a:ext>
            </a:extLst>
          </p:cNvPr>
          <p:cNvSpPr>
            <a:spLocks xmlns:a="http://schemas.openxmlformats.org/drawingml/2006/main" noGrp="1"/>
          </p:cNvSpPr>
          <p:nvPr/>
        </p:nvSpPr>
        <p:spPr>
          <a:xfrm xmlns:a="http://schemas.openxmlformats.org/drawingml/2006/main">
            <a:off x="609600" y="25146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75" b="0">
                <a:solidFill>
                  <a:srgbClr val="10243B"/>
                </a:solidFill>
                <a:latin typeface="Arial"/>
                <a:ea typeface="Arial"/>
                <a:cs typeface="Arial"/>
              </a:defRPr>
            </a:pPr>
            <a:r>
              <a:rPr sz="2475" b="0">
                <a:solidFill>
                  <a:srgbClr val="10243B"/>
                </a:solidFill>
                <a:latin typeface="Arial"/>
                <a:ea typeface="Arial"/>
                <a:cs typeface="Arial"/>
              </a:rPr>
              <a:t>2   Run the three-call MCP probe in WALKTHROUGH.md</a:t>
            </a:r>
          </a:p>
        </p:txBody>
      </p:sp>
      <p:sp>
        <p:nvSpPr>
          <p:cNvPr id="4" name="">
            <a:extLst xmlns:a="http://schemas.openxmlformats.org/drawingml/2006/main">
              <a:ext uri="{FF2B5EF4-FFF2-40B4-BE49-F238E27FC236}">
                <a16:creationId xmlns:a16="http://schemas.microsoft.com/office/drawing/2014/main" id="{352FA0BB-8B5C-48FB-AAA0-D5B1418B886B}"/>
              </a:ext>
            </a:extLst>
          </p:cNvPr>
          <p:cNvSpPr>
            <a:spLocks xmlns:a="http://schemas.openxmlformats.org/drawingml/2006/main" noGrp="1"/>
          </p:cNvSpPr>
          <p:nvPr/>
        </p:nvSpPr>
        <p:spPr>
          <a:xfrm xmlns:a="http://schemas.openxmlformats.org/drawingml/2006/main">
            <a:off x="609600" y="342900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75" b="0">
                <a:solidFill>
                  <a:srgbClr val="10243B"/>
                </a:solidFill>
                <a:latin typeface="Arial"/>
                <a:ea typeface="Arial"/>
                <a:cs typeface="Arial"/>
              </a:defRPr>
            </a:pPr>
            <a:r>
              <a:rPr sz="2475" b="0">
                <a:solidFill>
                  <a:srgbClr val="10243B"/>
                </a:solidFill>
                <a:latin typeface="Arial"/>
                <a:ea typeface="Arial"/>
                <a:cs typeface="Arial"/>
              </a:rPr>
              <a:t>3   Check the digest, MCP refusal and S3 403</a:t>
            </a:r>
          </a:p>
        </p:txBody>
      </p:sp>
      <p:sp>
        <p:nvSpPr>
          <p:cNvPr id="5" name="">
            <a:extLst xmlns:a="http://schemas.openxmlformats.org/drawingml/2006/main">
              <a:ext uri="{FF2B5EF4-FFF2-40B4-BE49-F238E27FC236}">
                <a16:creationId xmlns:a16="http://schemas.microsoft.com/office/drawing/2014/main" id="{C25FBE30-9F81-467F-B502-9194F976781A}"/>
              </a:ext>
            </a:extLst>
          </p:cNvPr>
          <p:cNvSpPr>
            <a:spLocks xmlns:a="http://schemas.openxmlformats.org/drawingml/2006/main" noGrp="1"/>
          </p:cNvSpPr>
          <p:nvPr/>
        </p:nvSpPr>
        <p:spPr>
          <a:xfrm xmlns:a="http://schemas.openxmlformats.org/drawingml/2006/main">
            <a:off x="609600" y="453390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B62758"/>
                </a:solidFill>
                <a:latin typeface="Arial"/>
                <a:ea typeface="Arial"/>
                <a:cs typeface="Arial"/>
              </a:defRPr>
            </a:pPr>
            <a:r>
              <a:rPr sz="2400" b="1">
                <a:solidFill>
                  <a:srgbClr val="B62758"/>
                </a:solidFill>
                <a:latin typeface="Arial"/>
                <a:ea typeface="Arial"/>
                <a:cs typeface="Arial"/>
              </a:rPr>
              <a:t>Native sequence pending sign-in</a:t>
            </a:r>
          </a:p>
        </p:txBody>
      </p:sp>
      <p:sp>
        <p:nvSpPr>
          <p:cNvPr id="6" name="">
            <a:extLst xmlns:a="http://schemas.openxmlformats.org/drawingml/2006/main">
              <a:ext uri="{FF2B5EF4-FFF2-40B4-BE49-F238E27FC236}">
                <a16:creationId xmlns:a16="http://schemas.microsoft.com/office/drawing/2014/main" id="{74C5389B-A598-4030-923C-64413A993C6A}"/>
              </a:ext>
            </a:extLst>
          </p:cNvPr>
          <p:cNvSpPr>
            <a:spLocks xmlns:a="http://schemas.openxmlformats.org/drawingml/2006/main" noGrp="1"/>
          </p:cNvSpPr>
          <p:nvPr/>
        </p:nvSpPr>
        <p:spPr>
          <a:xfrm xmlns:a="http://schemas.openxmlformats.org/drawingml/2006/main">
            <a:off x="609600" y="5286375"/>
            <a:ext cx="109537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00" b="0">
                <a:solidFill>
                  <a:srgbClr val="10243B"/>
                </a:solidFill>
                <a:latin typeface="Arial"/>
                <a:ea typeface="Arial"/>
                <a:cs typeface="Arial"/>
              </a:defRPr>
            </a:pPr>
            <a:r>
              <a:rPr sz="2100" b="0">
                <a:solidFill>
                  <a:srgbClr val="10243B"/>
                </a:solidFill>
                <a:latin typeface="Arial"/>
                <a:ea typeface="Arial"/>
                <a:cs typeface="Arial"/>
              </a:rPr>
              <a:t>Approve the three routed calls once.</a:t>
            </a:r>
          </a:p>
          <a:p xmlns:a="http://schemas.openxmlformats.org/drawingml/2006/main">
            <a:pPr>
              <a:defRPr sz="2100" b="0">
                <a:solidFill>
                  <a:srgbClr val="10243B"/>
                </a:solidFill>
                <a:latin typeface="Arial"/>
                <a:ea typeface="Arial"/>
                <a:cs typeface="Arial"/>
              </a:defRPr>
            </a:pPr>
            <a:r>
              <a:rPr sz="2100" b="0">
                <a:solidFill>
                  <a:srgbClr val="10243B"/>
                </a:solidFill>
                <a:latin typeface="Arial"/>
                <a:ea typeface="Arial"/>
                <a:cs typeface="Arial"/>
              </a:rPr>
              <a:t>crew_denied must stop automatically before MCP dispatch.</a:t>
            </a:r>
          </a:p>
        </p:txBody>
      </p:sp>
    </p:spTree>
    <p:extLst>
      <p:ext uri="{BB962C8B-B14F-4D97-AF65-F5344CB8AC3E}">
        <p14:creationId xmlns:p14="http://schemas.microsoft.com/office/powerpoint/2010/main" val="1434268845"/>
      </p:ext>
    </p:extLst>
  </p:cSld>
</p:sld>
</file>

<file path=ppt/slides/slide9.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CE11C4B-22B8-490D-84DC-37E770DBAF10}"/>
              </a:ext>
            </a:extLst>
          </p:cNvPr>
          <p:cNvSpPr>
            <a:spLocks xmlns:a="http://schemas.openxmlformats.org/drawingml/2006/main" noGrp="1"/>
          </p:cNvSpPr>
          <p:nvPr/>
        </p:nvSpPr>
        <p:spPr>
          <a:xfrm xmlns:a="http://schemas.openxmlformats.org/drawingml/2006/main">
            <a:off x="609600" y="4286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300" b="1">
                <a:solidFill>
                  <a:srgbClr val="10243B"/>
                </a:solidFill>
                <a:latin typeface="Arial"/>
                <a:ea typeface="Arial"/>
                <a:cs typeface="Arial"/>
              </a:defRPr>
            </a:pPr>
            <a:r>
              <a:rPr sz="3300" b="1">
                <a:solidFill>
                  <a:srgbClr val="10243B"/>
                </a:solidFill>
                <a:latin typeface="Arial"/>
                <a:ea typeface="Arial"/>
                <a:cs typeface="Arial"/>
              </a:rPr>
              <a:t>Demo cost and return to baseline</a:t>
            </a:r>
          </a:p>
        </p:txBody>
      </p:sp>
      <p:sp>
        <p:nvSpPr>
          <p:cNvPr id="2" name="">
            <a:extLst xmlns:a="http://schemas.openxmlformats.org/drawingml/2006/main">
              <a:ext uri="{FF2B5EF4-FFF2-40B4-BE49-F238E27FC236}">
                <a16:creationId xmlns:a16="http://schemas.microsoft.com/office/drawing/2014/main" id="{9CEEDA85-4AF6-4492-911C-281648C84337}"/>
              </a:ext>
            </a:extLst>
          </p:cNvPr>
          <p:cNvSpPr>
            <a:spLocks xmlns:a="http://schemas.openxmlformats.org/drawingml/2006/main" noGrp="1"/>
          </p:cNvSpPr>
          <p:nvPr/>
        </p:nvSpPr>
        <p:spPr>
          <a:xfrm xmlns:a="http://schemas.openxmlformats.org/drawingml/2006/main">
            <a:off x="609600" y="1495425"/>
            <a:ext cx="10763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750" b="1">
                <a:solidFill>
                  <a:srgbClr val="008666"/>
                </a:solidFill>
                <a:latin typeface="Arial"/>
                <a:ea typeface="Arial"/>
                <a:cs typeface="Arial"/>
              </a:defRPr>
            </a:pPr>
            <a:r>
              <a:rPr sz="3750" b="1">
                <a:solidFill>
                  <a:srgbClr val="008666"/>
                </a:solidFill>
                <a:latin typeface="Arial"/>
                <a:ea typeface="Arial"/>
                <a:cs typeface="Arial"/>
              </a:rPr>
              <a:t>$0.024 per running hour</a:t>
            </a:r>
          </a:p>
        </p:txBody>
      </p:sp>
      <p:sp>
        <p:nvSpPr>
          <p:cNvPr id="3" name="">
            <a:extLst xmlns:a="http://schemas.openxmlformats.org/drawingml/2006/main">
              <a:ext uri="{FF2B5EF4-FFF2-40B4-BE49-F238E27FC236}">
                <a16:creationId xmlns:a16="http://schemas.microsoft.com/office/drawing/2014/main" id="{1F5F1895-65E5-4630-BF11-18D365858BAC}"/>
              </a:ext>
            </a:extLst>
          </p:cNvPr>
          <p:cNvSpPr>
            <a:spLocks xmlns:a="http://schemas.openxmlformats.org/drawingml/2006/main" noGrp="1"/>
          </p:cNvSpPr>
          <p:nvPr/>
        </p:nvSpPr>
        <p:spPr>
          <a:xfrm xmlns:a="http://schemas.openxmlformats.org/drawingml/2006/main">
            <a:off x="609600" y="2552700"/>
            <a:ext cx="108585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10243B"/>
                </a:solidFill>
                <a:latin typeface="Arial"/>
                <a:ea typeface="Arial"/>
                <a:cs typeface="Arial"/>
              </a:defRPr>
            </a:pPr>
            <a:r>
              <a:rPr sz="2175" b="0">
                <a:solidFill>
                  <a:srgbClr val="10243B"/>
                </a:solidFill>
                <a:latin typeface="Arial"/>
                <a:ea typeface="Arial"/>
                <a:cs typeface="Arial"/>
              </a:rPr>
              <a:t>Compute + IPv4. Storage adds $1.92 per month.</a:t>
            </a:r>
          </a:p>
          <a:p xmlns:a="http://schemas.openxmlformats.org/drawingml/2006/main">
            <a:pPr>
              <a:defRPr sz="2175" b="0">
                <a:solidFill>
                  <a:srgbClr val="10243B"/>
                </a:solidFill>
                <a:latin typeface="Arial"/>
                <a:ea typeface="Arial"/>
                <a:cs typeface="Arial"/>
              </a:defRPr>
            </a:pPr>
            <a:r>
              <a:rPr sz="2175" b="0">
                <a:solidFill>
                  <a:srgbClr val="10243B"/>
                </a:solidFill>
                <a:latin typeface="Arial"/>
                <a:ea typeface="Arial"/>
                <a:cs typeface="Arial"/>
              </a:rPr>
              <a:t>About $19 per month if always on, before other usage.</a:t>
            </a:r>
          </a:p>
        </p:txBody>
      </p:sp>
      <p:sp>
        <p:nvSpPr>
          <p:cNvPr id="4" name="">
            <a:extLst xmlns:a="http://schemas.openxmlformats.org/drawingml/2006/main">
              <a:ext uri="{FF2B5EF4-FFF2-40B4-BE49-F238E27FC236}">
                <a16:creationId xmlns:a16="http://schemas.microsoft.com/office/drawing/2014/main" id="{73874D5F-88F0-423E-9335-79709EBAB2C2}"/>
              </a:ext>
            </a:extLst>
          </p:cNvPr>
          <p:cNvSpPr>
            <a:spLocks xmlns:a="http://schemas.openxmlformats.org/drawingml/2006/main" noGrp="1"/>
          </p:cNvSpPr>
          <p:nvPr/>
        </p:nvSpPr>
        <p:spPr>
          <a:xfrm xmlns:a="http://schemas.openxmlformats.org/drawingml/2006/main">
            <a:off x="609600" y="3905250"/>
            <a:ext cx="476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10243B"/>
                </a:solidFill>
                <a:latin typeface="Arial"/>
                <a:ea typeface="Arial"/>
                <a:cs typeface="Arial"/>
              </a:defRPr>
            </a:pPr>
            <a:r>
              <a:rPr sz="2550" b="1">
                <a:solidFill>
                  <a:srgbClr val="10243B"/>
                </a:solidFill>
                <a:latin typeface="Arial"/>
                <a:ea typeface="Arial"/>
                <a:cs typeface="Arial"/>
              </a:rPr>
              <a:t>After the demo</a:t>
            </a:r>
          </a:p>
        </p:txBody>
      </p:sp>
      <p:sp>
        <p:nvSpPr>
          <p:cNvPr id="5" name="">
            <a:extLst xmlns:a="http://schemas.openxmlformats.org/drawingml/2006/main">
              <a:ext uri="{FF2B5EF4-FFF2-40B4-BE49-F238E27FC236}">
                <a16:creationId xmlns:a16="http://schemas.microsoft.com/office/drawing/2014/main" id="{8ABB4228-6B9F-459B-A55F-F1FC42D7A79B}"/>
              </a:ext>
            </a:extLst>
          </p:cNvPr>
          <p:cNvSpPr>
            <a:spLocks xmlns:a="http://schemas.openxmlformats.org/drawingml/2006/main" noGrp="1"/>
          </p:cNvSpPr>
          <p:nvPr/>
        </p:nvSpPr>
        <p:spPr>
          <a:xfrm xmlns:a="http://schemas.openxmlformats.org/drawingml/2006/main">
            <a:off x="609600" y="4638675"/>
            <a:ext cx="108585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250" b="0">
                <a:solidFill>
                  <a:srgbClr val="10243B"/>
                </a:solidFill>
                <a:latin typeface="Arial"/>
                <a:ea typeface="Arial"/>
                <a:cs typeface="Arial"/>
              </a:defRPr>
            </a:pPr>
            <a:r>
              <a:rPr sz="2250" b="0">
                <a:solidFill>
                  <a:srgbClr val="10243B"/>
                </a:solidFill>
                <a:latin typeface="Arial"/>
                <a:ea typeface="Arial"/>
                <a:cs typeface="Arial"/>
              </a:rPr>
              <a:t>Stop the instance. EBS remains.</a:t>
            </a:r>
          </a:p>
          <a:p xmlns:a="http://schemas.openxmlformats.org/drawingml/2006/main">
            <a:pPr>
              <a:defRPr sz="2250" b="0">
                <a:solidFill>
                  <a:srgbClr val="10243B"/>
                </a:solidFill>
                <a:latin typeface="Arial"/>
                <a:ea typeface="Arial"/>
                <a:cs typeface="Arial"/>
              </a:defRPr>
            </a:pPr>
            <a:r>
              <a:rPr sz="2250" b="0">
                <a:solidFill>
                  <a:srgbClr val="10243B"/>
                </a:solidFill>
                <a:latin typeface="Arial"/>
                <a:ea typeface="Arial"/>
                <a:cs typeface="Arial"/>
              </a:rPr>
              <a:t>Refresh its address after restart.</a:t>
            </a:r>
          </a:p>
          <a:p xmlns:a="http://schemas.openxmlformats.org/drawingml/2006/main">
            <a:pPr>
              <a:defRPr sz="2250" b="0">
                <a:solidFill>
                  <a:srgbClr val="10243B"/>
                </a:solidFill>
                <a:latin typeface="Arial"/>
                <a:ea typeface="Arial"/>
                <a:cs typeface="Arial"/>
              </a:defRPr>
            </a:pPr>
            <a:r>
              <a:rPr sz="2250" b="0">
                <a:solidFill>
                  <a:srgbClr val="10243B"/>
                </a:solidFill>
                <a:latin typeface="Arial"/>
                <a:ea typeface="Arial"/>
                <a:cs typeface="Arial"/>
              </a:rPr>
              <a:t>Stack deletion retains the S3 demo data.</a:t>
            </a:r>
          </a:p>
        </p:txBody>
      </p:sp>
      <p:sp>
        <p:nvSpPr>
          <p:cNvPr id="6" name="">
            <a:extLst xmlns:a="http://schemas.openxmlformats.org/drawingml/2006/main">
              <a:ext uri="{FF2B5EF4-FFF2-40B4-BE49-F238E27FC236}">
                <a16:creationId xmlns:a16="http://schemas.microsoft.com/office/drawing/2014/main" id="{05C3A3D0-D6C3-4042-AC14-86B7D3260862}"/>
              </a:ext>
            </a:extLst>
          </p:cNvPr>
          <p:cNvSpPr>
            <a:spLocks xmlns:a="http://schemas.openxmlformats.org/drawingml/2006/main" noGrp="1"/>
          </p:cNvSpPr>
          <p:nvPr/>
        </p:nvSpPr>
        <p:spPr>
          <a:xfrm xmlns:a="http://schemas.openxmlformats.org/drawingml/2006/main">
            <a:off x="609600" y="6191250"/>
            <a:ext cx="1095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B62758"/>
                </a:solidFill>
                <a:latin typeface="Arial"/>
                <a:ea typeface="Arial"/>
                <a:cs typeface="Arial"/>
              </a:defRPr>
            </a:pPr>
            <a:r>
              <a:rPr sz="1725" b="0">
                <a:solidFill>
                  <a:srgbClr val="B62758"/>
                </a:solidFill>
                <a:latin typeface="Arial"/>
                <a:ea typeface="Arial"/>
                <a:cs typeface="Arial"/>
              </a:rPr>
              <a:t>The 2 GiB host has a low-memory warning. Full backend performance is unverified.</a:t>
            </a:r>
          </a:p>
        </p:txBody>
      </p:sp>
    </p:spTree>
    <p:extLst>
      <p:ext uri="{BB962C8B-B14F-4D97-AF65-F5344CB8AC3E}">
        <p14:creationId xmlns:p14="http://schemas.microsoft.com/office/powerpoint/2010/main" val="29322463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2026-09-13T05:02:49.8650000Z</dcterms:created>
  <dcterms:modified xsi:type="dcterms:W3CDTF">2026-09-13T05:02:49.8650000Z</dcterms:modified>
</coreProperties>
</file>