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ed37e65f22947a6" /><Relationship Type="http://schemas.openxmlformats.org/officeDocument/2006/relationships/extended-properties" Target="/docProps/app.xml" Id="Rf12281cc2783409a" /><Relationship Type="http://schemas.openxmlformats.org/officeDocument/2006/relationships/officeDocument" Target="/ppt/presentation.xml" Id="R756d0deabffa49a1" /></Relationships>
</file>

<file path=ppt/presentation.xml><?xml version="1.0" encoding="utf-8"?>
<p:presentation xmlns:p="http://schemas.openxmlformats.org/presentationml/2006/main">
  <p:sldMasterIdLst>
    <p:sldMasterId xmlns:r="http://schemas.openxmlformats.org/officeDocument/2006/relationships" id="2147483648" r:id="R0c712f58b5544ac5"/>
  </p:sldMasterIdLst>
  <p:notesMasterIdLst>
    <p:notesMasterId xmlns:r="http://schemas.openxmlformats.org/officeDocument/2006/relationships" r:id="R555147da0d58400c"/>
  </p:notesMasterIdLst>
  <p:sldIdLst>
    <p:sldId xmlns:r="http://schemas.openxmlformats.org/officeDocument/2006/relationships" id="256" r:id="R56f009683f5a47ad"/>
    <p:sldId xmlns:r="http://schemas.openxmlformats.org/officeDocument/2006/relationships" id="257" r:id="R265c6cabdb5844b0"/>
    <p:sldId xmlns:r="http://schemas.openxmlformats.org/officeDocument/2006/relationships" id="258" r:id="R5c0784c31e394ff1"/>
    <p:sldId xmlns:r="http://schemas.openxmlformats.org/officeDocument/2006/relationships" id="259" r:id="R07bc4880e92e4f2b"/>
    <p:sldId xmlns:r="http://schemas.openxmlformats.org/officeDocument/2006/relationships" id="260" r:id="R005886a8b7d34b6b"/>
    <p:sldId xmlns:r="http://schemas.openxmlformats.org/officeDocument/2006/relationships" id="261" r:id="Rd5d52480e8b34df5"/>
    <p:sldId xmlns:r="http://schemas.openxmlformats.org/officeDocument/2006/relationships" id="262" r:id="R318ac03b5ad44a2f"/>
    <p:sldId xmlns:r="http://schemas.openxmlformats.org/officeDocument/2006/relationships" id="263" r:id="R227f41a75e6a4d25"/>
    <p:sldId xmlns:r="http://schemas.openxmlformats.org/officeDocument/2006/relationships" id="264" r:id="Rfe12d97d554244df"/>
    <p:sldId xmlns:r="http://schemas.openxmlformats.org/officeDocument/2006/relationships" id="265" r:id="R2400c1bc77164355"/>
    <p:sldId xmlns:r="http://schemas.openxmlformats.org/officeDocument/2006/relationships" id="266" r:id="Rc48671419cdb48f8"/>
    <p:sldId xmlns:r="http://schemas.openxmlformats.org/officeDocument/2006/relationships" id="267" r:id="Rb6bf841badd0446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27507ad0d874010" /><Relationship Type="http://schemas.openxmlformats.org/officeDocument/2006/relationships/slideMaster" Target="/ppt/slideMasters/slideMaster1.xml" Id="R0c712f58b5544ac5" /><Relationship Type="http://schemas.openxmlformats.org/officeDocument/2006/relationships/notesMaster" Target="/ppt/notesMasters/notesMaster1.xml" Id="R555147da0d58400c" /><Relationship Type="http://schemas.openxmlformats.org/officeDocument/2006/relationships/presProps" Target="/ppt/presProps.xml" Id="R44ba9fe92bed4203" /><Relationship Type="http://schemas.openxmlformats.org/officeDocument/2006/relationships/tableStyles" Target="/ppt/tableStyles.xml" Id="R577d559274ef433b" /><Relationship Type="http://schemas.openxmlformats.org/officeDocument/2006/relationships/slide" Target="/ppt/slides/slide1.xml" Id="R56f009683f5a47ad" /><Relationship Type="http://schemas.openxmlformats.org/officeDocument/2006/relationships/slide" Target="/ppt/slides/slide2.xml" Id="R265c6cabdb5844b0" /><Relationship Type="http://schemas.openxmlformats.org/officeDocument/2006/relationships/slide" Target="/ppt/slides/slide3.xml" Id="R5c0784c31e394ff1" /><Relationship Type="http://schemas.openxmlformats.org/officeDocument/2006/relationships/slide" Target="/ppt/slides/slide4.xml" Id="R07bc4880e92e4f2b" /><Relationship Type="http://schemas.openxmlformats.org/officeDocument/2006/relationships/slide" Target="/ppt/slides/slide5.xml" Id="R005886a8b7d34b6b" /><Relationship Type="http://schemas.openxmlformats.org/officeDocument/2006/relationships/slide" Target="/ppt/slides/slide6.xml" Id="Rd5d52480e8b34df5" /><Relationship Type="http://schemas.openxmlformats.org/officeDocument/2006/relationships/slide" Target="/ppt/slides/slide7.xml" Id="R318ac03b5ad44a2f" /><Relationship Type="http://schemas.openxmlformats.org/officeDocument/2006/relationships/slide" Target="/ppt/slides/slide8.xml" Id="R227f41a75e6a4d25" /><Relationship Type="http://schemas.openxmlformats.org/officeDocument/2006/relationships/slide" Target="/ppt/slides/slide9.xml" Id="Rfe12d97d554244df" /><Relationship Type="http://schemas.openxmlformats.org/officeDocument/2006/relationships/slide" Target="/ppt/slides/slide10.xml" Id="R2400c1bc77164355" /><Relationship Type="http://schemas.openxmlformats.org/officeDocument/2006/relationships/slide" Target="/ppt/slides/slide11.xml" Id="Rc48671419cdb48f8" /><Relationship Type="http://schemas.openxmlformats.org/officeDocument/2006/relationships/slide" Target="/ppt/slides/slide12.xml" Id="Rb6bf841badd0446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bf93908faa3426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b2628c3a3664ae7" /><Relationship Type="http://schemas.openxmlformats.org/officeDocument/2006/relationships/notesMaster" Target="/ppt/notesMasters/notesMaster1.xml" Id="R3fd8fdfd19b74c7b" /></Relationships>
</file>

<file path=ppt/notesSlides/_rels/notesSlide2.xml.rels>&#65279;<?xml version="1.0" encoding="utf-8"?><Relationships xmlns="http://schemas.openxmlformats.org/package/2006/relationships"><Relationship Type="http://schemas.openxmlformats.org/officeDocument/2006/relationships/slide" Target="/ppt/slides/slide2.xml" Id="R609d558ccc034cbf" /><Relationship Type="http://schemas.openxmlformats.org/officeDocument/2006/relationships/notesMaster" Target="/ppt/notesMasters/notesMaster1.xml" Id="Rfbf69aa8dcae42c1" /></Relationships>
</file>

<file path=ppt/notesSlides/_rels/notesSlide3.xml.rels>&#65279;<?xml version="1.0" encoding="utf-8"?><Relationships xmlns="http://schemas.openxmlformats.org/package/2006/relationships"><Relationship Type="http://schemas.openxmlformats.org/officeDocument/2006/relationships/slide" Target="/ppt/slides/slide3.xml" Id="R95fbe4dd834a40cb" /><Relationship Type="http://schemas.openxmlformats.org/officeDocument/2006/relationships/notesMaster" Target="/ppt/notesMasters/notesMaster1.xml" Id="R2e6ef4ca9ae040fc" /></Relationships>
</file>

<file path=ppt/notesSlides/_rels/notesSlide4.xml.rels>&#65279;<?xml version="1.0" encoding="utf-8"?><Relationships xmlns="http://schemas.openxmlformats.org/package/2006/relationships"><Relationship Type="http://schemas.openxmlformats.org/officeDocument/2006/relationships/slide" Target="/ppt/slides/slide4.xml" Id="R9bc749dfef654fb0" /><Relationship Type="http://schemas.openxmlformats.org/officeDocument/2006/relationships/notesMaster" Target="/ppt/notesMasters/notesMaster1.xml" Id="Rbfea7ebb20be4962" /></Relationships>
</file>

<file path=ppt/notesSlides/_rels/notesSlide5.xml.rels>&#65279;<?xml version="1.0" encoding="utf-8"?><Relationships xmlns="http://schemas.openxmlformats.org/package/2006/relationships"><Relationship Type="http://schemas.openxmlformats.org/officeDocument/2006/relationships/slide" Target="/ppt/slides/slide5.xml" Id="Re39770594c6f4420" /><Relationship Type="http://schemas.openxmlformats.org/officeDocument/2006/relationships/notesMaster" Target="/ppt/notesMasters/notesMaster1.xml" Id="R46816a16087c4ef7" /></Relationships>
</file>

<file path=ppt/notesSlides/_rels/notesSlide6.xml.rels>&#65279;<?xml version="1.0" encoding="utf-8"?><Relationships xmlns="http://schemas.openxmlformats.org/package/2006/relationships"><Relationship Type="http://schemas.openxmlformats.org/officeDocument/2006/relationships/slide" Target="/ppt/slides/slide6.xml" Id="R288c1c5702694ee9" /><Relationship Type="http://schemas.openxmlformats.org/officeDocument/2006/relationships/notesMaster" Target="/ppt/notesMasters/notesMaster1.xml" Id="R85488fffb79949a0" /></Relationships>
</file>

<file path=ppt/notesSlides/_rels/notesSlide7.xml.rels>&#65279;<?xml version="1.0" encoding="utf-8"?><Relationships xmlns="http://schemas.openxmlformats.org/package/2006/relationships"><Relationship Type="http://schemas.openxmlformats.org/officeDocument/2006/relationships/slide" Target="/ppt/slides/slide7.xml" Id="Ref5dcb28e55c481b" /><Relationship Type="http://schemas.openxmlformats.org/officeDocument/2006/relationships/notesMaster" Target="/ppt/notesMasters/notesMaster1.xml" Id="R0e4f719894574cc6" /></Relationships>
</file>

<file path=ppt/notesSlides/_rels/notesSlide8.xml.rels>&#65279;<?xml version="1.0" encoding="utf-8"?><Relationships xmlns="http://schemas.openxmlformats.org/package/2006/relationships"><Relationship Type="http://schemas.openxmlformats.org/officeDocument/2006/relationships/slide" Target="/ppt/slides/slide8.xml" Id="Rba3d33e6272e470a" /><Relationship Type="http://schemas.openxmlformats.org/officeDocument/2006/relationships/notesMaster" Target="/ppt/notesMasters/notesMaster1.xml" Id="R951d2c65f8844186" /></Relationships>
</file>

<file path=ppt/notesSlides/_rels/notesSlide9.xml.rels>&#65279;<?xml version="1.0" encoding="utf-8"?><Relationships xmlns="http://schemas.openxmlformats.org/package/2006/relationships"><Relationship Type="http://schemas.openxmlformats.org/officeDocument/2006/relationships/slide" Target="/ppt/slides/slide9.xml" Id="R984e8906d3b2483e" /><Relationship Type="http://schemas.openxmlformats.org/officeDocument/2006/relationships/notesMaster" Target="/ppt/notesMasters/notesMaster1.xml" Id="Rae270709e75c425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19d63aa60a74411" /><Relationship Type="http://schemas.openxmlformats.org/officeDocument/2006/relationships/notesMaster" Target="/ppt/notesMasters/notesMaster1.xml" Id="R9f49d56bb16147f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cb54b18253f4a61" /><Relationship Type="http://schemas.openxmlformats.org/officeDocument/2006/relationships/notesMaster" Target="/ppt/notesMasters/notesMaster1.xml" Id="R67007fdc89814c7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b7b163f703c4fe1" /><Relationship Type="http://schemas.openxmlformats.org/officeDocument/2006/relationships/notesMaster" Target="/ppt/notesMasters/notesMaster1.xml" Id="Rb5ab9278d0fd432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00:00–00:20. The Mac runs the desktop client. A t4g.xlarge EC2 host runs the Gateway, Kiro CLI installation, workspace and separate MCP service. The local Gateway is off. Direct MCP and AWS checks passed on ARM. Native Kiro CLI authentication and a verified backend session remain pending. Native Gateway metric collection and the custom client/server app are active. Collection events show a controlled Mac client quit and restart while the server Gateway remained running. Sources: evidence/aws/arm-20260913/final-cloud-verification.json; evidence/aws/arm-20260913/final-direct-mcp-rehearsal.json; evidence/aws/arm-20260913/client-runtime-receipt.json; evidence/aws/arm-20260913/observability-runtime-receipt.json.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00:20–00:55. The enclosure maps controls around the execution host. In remote mode, the Gateway, selected backend and workspace run on the same host. The reference includes enterprise controls and Crew capabilities beyond this demo. The desktop is connected to the ARM host with the local Gateway off. The ARM probe verifies direct MCP grants and S3 IAM outcomes. Native backend enforcement and sandbox behavior remain pending. The reference cites the September 11 baseline. Sources: kirocrew-security-layers.html; evidence/nightly/baseline-verification.json; evidence/aws/arm-20260913/client-runtime-receipt.json; evidence/aws/arm-20260913/final-direct-mcp-rehearsal.json.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00:55–01:35. CloudFormation manages the active t4g.xlarge: four vCPUs, 16 GiB RAM and 40 GiB encrypted gp3 storage. The security group admits TCP 22 only from the client IPv4 /32. SSH forwards laptop port 5599 to EC2 loopback port 5476. The Gateway, Kiro CLI installation and workspace share the Crew execution boundary. The MCP service uses a separate UID and listens on loopback port 8001. IMDSv2 is required with a hop limit of one. The original x86 instance is stopped and remains available for rollback. Its 24 GiB disk remains billable. Cloud verification passed at 2026-09-13T14:22:25Z. The direct probe is a separate path from mcp-demo to the MCP service and S3. The native Gateway/Kiro CLI path to MCP is pending sign-in and is drawn dashed. The resource check does not establish native backend authentication or telemetry health. Sources: infrastructure/ec2-demo.json; evidence/aws/arm-20260913/final-cloud-verification.json; evidence/aws/arm-20260913/host-checks.txt.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01:35–02:10. Root owns the core Gateway and MCP runtime files and service definitions. The custom App Kit backend runs with Crew authority; its installed app files are Crew-writable. The crew user runs the Gateway, backend and workspace. An owner-based firewall rule blocks metadata requests from the crew UID, and the Gateway requires that guard service. A TCP-only check as crew at 14:56:15 UTC could not connect to the IPv4 metadata address on port 80, returning errno 113. It sent no HTTP request and read no metadata credentials. This check does not cover IPv6 or native agent sandbox execution. The mcp-demo UID can obtain the instance role through IMDSv2. That role permits reads under two demonstration S3 prefixes, explicitly denies GetObject under denied/, and includes the SSM core managed policy. The MCP service exposes four fixed tools. Root remains a trusted administrator. The operator’s IAM user keys remain local. Crew owns and can edit its configuration. The desktop uses the existing administrator account to invoke the verified owner-token helper; the helper enters the Gateway mount namespace and then drops to crew for the stock token mint. Crew has no new sudo permission. Sources: infrastructure/bootstrap.sh; infrastructure/kirocrew-demo.service; infrastructure/kirocrew-mcp-demo.service; infrastructure/mcp-enforcement/server.py; infrastructure/ec2-demo.json; evidence/aws/arm-20260913/observability-runtime-receipt.json; evidence/aws/arm-20260913/client-runtime-receipt.json; evidence/aws/arm-20260913/crew-imds-connect-receipt.json.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02:10–02:45. The direct probe verified read_allowed, mcp_denied and iam_denied. Native Crew denial is pending. read_allowed returns the object length and digest. The MCP service grants crew_denied so the Crew hook can block it before dispatch. Its configured rule names @aws-enforcement/crew_denied. mcp_denied appears in discovery, but the service rejects the call before loading AWS credentials or invoking the SDK. iam_denied passes the MCP grant and attempts GetObject on an existing object under denied/, where IAM applies the explicit deny. After native sign-in, inspect each request and approve the three routed calls once. crew_denied must stop automatically before an approval card or MCP dispatch. An operator rejection cannot count as that proof. Sources: infrastructure/configure-demo.py; infrastructure/mcp-enforcement/server.py; evidence/aws/iam-demo-policy.json; evidence/aws/fixture-hashes.json; evidence/aws/arm-20260913/final-direct-mcp-rehearsal.json.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02:45–03:20. The direct_mcp_service_probe passed on the ARM host at 2026-09-13T15:01:37Z and records native_crew_backend_verified=false. An unauthenticated request returned 401, and discovery returned four tools. read_allowed returned 55 bytes and the expected SHA256, with AWS request ID FC4GTZS0B83EQ5W1. mcp_denied returned tool_grant_denied at the MCP boundary. iam_denied returned S3 AccessDenied, HTTP 403, and request ID BA5BT7K9765938BT. This separate probe ran after telemetry activation. It exercises MCP and AWS directly; it does not establish a native Crew session, the configured Crew hook denial or a single end-to-end run through the desktop. Sources: evidence/aws/arm-20260913/final-direct-mcp-rehearsal.json; infrastructure/mcp-enforcement/server.py.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03:20–03:50. The installed Mac client is 0.7.0-nightly.20260913t061222. Its 24 selected paths passed RECORD hash and size checks in the arm64 and x64 bundles, 48 checks in total. Three selected paths differ from the September 12 baseline; that comparison does not establish behavioral equivalence. The EC2 server remains the custom Linux ARM64 repack of 0.7.0-nightly.20260912t060850, with 48 locked dependencies. Its 24 selected control modules match the frozen installed nightly source and are root-owned without group or world write access. The server was not upgraded when the Mac app changed. Kiro CLI 2.21.4 is installed separately from the official ARM artifact. It is the selected agent backend, but whoami reports unauthenticated and ACP startup exits with 'not logged in'. Full native-session performance remains unverified. Local-model downloads remain off. Sources: evidence/nightly/client-20260913-verification.json; evidence/aws/arm-20260913/runtime-preparation.json; evidence/aws/arm-20260913/source-verification.json; evidence/aws/arm-20260913/install-services.log; infrastructure/kirocrew-demo.service; output/admin-console/07-agent-backend.jpg; output/admin-console/10-native-auth-log.jpg; evidence/aws/arm-20260913/client-runtime-receipt.json; evidence/aws/arm-20260913/observability-runtime-receipt.json.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03:50–04:25. In the admin portal, open Developer → Telemetry and select Latency. The screenshot shows Gateway request and boot duration instruments, process CPU and garbage-collection counters. The API readback at 14:50:25 UTC confirms collection enabled, no environment pin, two local metric shards and no OTLP endpoint. Native local export is configured for ten-second intervals, seven-day retention and a 64 MiB target. Active writers can temporarily keep the directory above that target. Anonymous usage reporting is disabled. Model turn statistics remain empty because native Kiro CLI authentication has not succeeded; a displayed zero turn latency is not a measured zero-latency model session. The metrics directory is /var/lib/kirocrew/metrics. The “Last 14d” label identifies the display window. Retention remains seven days. The boot histogram has only one observation. Its displayed percentiles reflect the UI aggregation and are not a measured boot-time distribution. This pane reports native Gateway instrumentation. The custom Mac and EC2 samples appear in Demo Observability. Sources: evidence/aws/arm-20260913/observability-api-readback.json; infrastructure/set-demo-telemetry.py; output/admin-console/08-telemetry-controls.jpg; output/admin-console/09-native-telemetry.jpg; evidence/aws/arm-20260913/observability-runtime-receipt.json; .build/installed-nightly/kiro_crew/metrics/local_exporter.py.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04:25–05:00. Open Apps → Demo Observability. The App Kit page reads the custom collectors through the authenticated Gateway proxy; its snapshot returned HTTP 200. The screenshot shows the Mac sample at 14:43:14 UTC: four percent aggregate process CPU and 772.4 MiB RSS. Its EC2 sample at 14:43:35 UTC shows 6.2 percent host CPU and about 14.6 GiB available memory. The later API readback at 14:50:25 UTC shows both sources current. Its values differ as the processes continue running. These snapshots do not measure full-session performance. The client CPU sum uses process scheduler averages and can exceed 100 percent. Server host CPU uses a one-second host-wide sample. Treat client and server CPU as different measurements. Screenshot clocks are Eastern daylight time, UTC minus four hours. The Mac checks confirm the desktop is running, the local SSH tunnel listener accepts a connection and the local Gateway is off. A reachable local tunnel listener alone does not prove a remote Gateway response. EC2 checks separately confirm Gateway and MCP services active and both loopback ports reachable. Both collectors run every 60 seconds. The UI refreshes every 15 seconds, marks samples stale after 180 seconds, and displays missing values as unknown. Each source retains at most 240 samples, about four hours with uninterrupted collection. Collection events are capped at 200. The custom app is version 1.0.1; its loopback backend runs on port 9102 behind the Gateway proxy. Sources: evidence/aws/arm-20260913/observability-api-readback.json; evidence/aws/arm-20260913/observability-update.json; infrastructure/observability/app/app.json; infrastructure/observability/app/backend/server.py; infrastructure/observability-collector/collector.py; output/admin-console/11-client-server-telemetry.jpg; evidence/aws/arm-20260913/observability-runtime-receipt.json.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05:00–05:30. In the controlled check, quit the Mac desktop and keep the browser admin portal open through the existing SSH tunnel. The client collector sampled the stopped desktop and the collection log added a warning at 14:44:42 UTC. These timestamps identify samples, not the exact quit or relaunch clicks. The stopped-client screenshot shows zero client processes while Gateway and MCP service checks stay active. Relaunch the desktop. The client log recorded an informational recovery sample at 14:49:34 UTC. The server Gateway remained PID 4991, started at 14:26:10 UTC, across the client quit and relaunch. Closing the client did not stop the Gateway. Continuity of an active model session remains unverified while Kiro CLI authentication is pending. The displayed log timestamps are local Eastern time, four hours behind UTC. The page exposes fixed collection events, not raw application logs, prompts or chat contents. Use the Client and Server filters to inspect each source. Sources: output/admin-console/12-collection-logs.jpg; output/admin-console/13-client-stopped.jpg; infrastructure/observability-collector/collector.py; evidence/aws/arm-20260913/observability-runtime-receipt.json; evidence/aws/arm-20260913/client-runtime-receipt.json.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05:30–07:00. Show the native desktop connected on port 5599 and the remote workspace at /srv/kirocrew-demo/workspace. Confirm that local port 5476 has no listener. Run the direct MCP command from WALKTHROUGH.md as mcp-demo on EC2. The bearer token stays on the instance. Show the 55-byte digest, tool_grant_denied and S3 AccessDenied 403 with a new AWS request ID. The receipt must report direct_mcp_service_probe, passed=true and native_crew_backend_verified=false. This direct path is available while Kiro CLI authentication remains pending. After successful authentication through scripts/ec2-login.py, use native-demo.sh to test four native turns in a dedicated session. Inspect the real request card and approve read_allowed, mcp_denied and iam_denied once each. crew_denied must stop automatically before any approval card or MCP arrival. An approval card on that turn fails the test, even if the runner rejects it. The runner correlates callback IDs and MCP/AWS traces. The Crew-denial SEL record lacks a direct trace ID, so the correlation uses the dedicated session and isolated turn interval. Sources: WALKTHROUGH.md; scripts/native-backend-demo.README.md; scripts/EC2-LOGIN.md; evidence/aws/arm-20260913/final-direct-mcp-rehearsal.json; evidence/aws/arm-20260913/client-runtime-receipt.json.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07:00–07:30. The AWS Pricing API lists On Demand Linux t4g.xlarge at $0.1344 per hour in us-east-1. Public IPv4 adds $0.005 per hour, for $0.1394 per running hour, rounded to $0.139. At $0.08 per GB-month, the active 40 GiB gp3 disk costs $3.20 per month. The stopped x86 rollback host retains a 24 GiB gp3 disk at $1.92 per month. Together the disks cost $5.12 per month while rollback is retained. At 730 running hours, compute, IPv4 and both disks total $106.882, or about $107 per month. S3, transfer, model usage and taxes add charges. The instances use standard CPU credits, with no surplus-credit charges. Sustained load can throttle to baseline after credits are depleted. There is no NAT gateway or load balancer. Stop the active ARM instance after the demo with scripts/demo-cloud.py; inspect its dry-run plan first. Stopping releases the ephemeral IPv4 address and stops compute billing; EBS remains billable. Refresh the SSH address after restart. Keep the stopped x86 rollback host until it is no longer needed. Sources: evidence/aws/arm-20260913/price.json; evidence/aws/gp3-pricing.json; https://aws.amazon.com/vpc/pricing/ ; evidence/aws/arm-20260913/final-cloud-verification.json; scripts/demo-cloud.py.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30bee5a4c3b405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c588540c565426c" /><Relationship Type="http://schemas.openxmlformats.org/officeDocument/2006/relationships/slideLayout" Target="/ppt/slideLayouts/slideLayout1.xml" Id="R74a2f300dd0c4f1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4a2f300dd0c4f1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45a3cdb3e554299" /><Relationship Type="http://schemas.openxmlformats.org/officeDocument/2006/relationships/notesSlide" Target="/ppt/notesSlides/notesSlide1.xml" Id="Rc9e030a8c40e40e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6a7c43b8f6c4e0c" /><Relationship Type="http://schemas.openxmlformats.org/officeDocument/2006/relationships/image" Target="/ppt/media/image.png" Id="R94a305b87e554f5d" /><Relationship Type="http://schemas.openxmlformats.org/officeDocument/2006/relationships/notesSlide" Target="/ppt/notesSlides/notesSlide2.xml" Id="Rd5de359c12314ce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c00d8a998c24ecd" /><Relationship Type="http://schemas.openxmlformats.org/officeDocument/2006/relationships/image" Target="/ppt/media/image2.png" Id="Raf302edbc5724b66" /><Relationship Type="http://schemas.openxmlformats.org/officeDocument/2006/relationships/notesSlide" Target="/ppt/notesSlides/notesSlide3.xml" Id="Rdf91024a1410493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91f9b8564a34d75" /><Relationship Type="http://schemas.openxmlformats.org/officeDocument/2006/relationships/notesSlide" Target="/ppt/notesSlides/notesSlide4.xml" Id="R3e1ec2dcb689431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53d27fc8e7849ce" /><Relationship Type="http://schemas.openxmlformats.org/officeDocument/2006/relationships/notesSlide" Target="/ppt/notesSlides/notesSlide5.xml" Id="Ra2e11b60c109406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78b0cf179a44959" /><Relationship Type="http://schemas.openxmlformats.org/officeDocument/2006/relationships/notesSlide" Target="/ppt/notesSlides/notesSlide6.xml" Id="Rf8dbd56746cf403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24b7babb421479a" /><Relationship Type="http://schemas.openxmlformats.org/officeDocument/2006/relationships/notesSlide" Target="/ppt/notesSlides/notesSlide7.xml" Id="R0fdb58a37c974fba"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49179a7435164bbf" /><Relationship Type="http://schemas.openxmlformats.org/officeDocument/2006/relationships/image" Target="/ppt/media/image.jpeg" Id="R544dc849e1dc4c24" /><Relationship Type="http://schemas.openxmlformats.org/officeDocument/2006/relationships/notesSlide" Target="/ppt/notesSlides/notesSlide8.xml" Id="R96631d87cff44d78"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3c08ed822d424afd" /><Relationship Type="http://schemas.openxmlformats.org/officeDocument/2006/relationships/image" Target="/ppt/media/image2.jpeg" Id="Reb81634a35144a36" /><Relationship Type="http://schemas.openxmlformats.org/officeDocument/2006/relationships/notesSlide" Target="/ppt/notesSlides/notesSlide9.xml" Id="R663493457370401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4068c1ea575c48f8" /><Relationship Type="http://schemas.openxmlformats.org/officeDocument/2006/relationships/image" Target="/ppt/media/image3.jpeg" Id="R730c83c6b6c941c8" /><Relationship Type="http://schemas.openxmlformats.org/officeDocument/2006/relationships/notesSlide" Target="/ppt/notesSlides/notesSlide10.xml" Id="Rdb8903cb54304df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bc0d2cdf3ef2451b" /><Relationship Type="http://schemas.openxmlformats.org/officeDocument/2006/relationships/notesSlide" Target="/ppt/notesSlides/notesSlide11.xml" Id="Re2fab6af9d1a49b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6e43ae428ccd457d" /><Relationship Type="http://schemas.openxmlformats.org/officeDocument/2006/relationships/notesSlide" Target="/ppt/notesSlides/notesSlide12.xml" Id="R96f8ff047e9f4a92" /></Relationships>
</file>

<file path=ppt/slides/slide1.xml><?xml version="1.0" encoding="utf-8"?>
<p:sld xmlns:p="http://schemas.openxmlformats.org/presentationml/2006/main">
  <p:cSld>
    <p:bg>
      <p:bgPr>
        <a:solidFill xmlns:a="http://schemas.openxmlformats.org/drawingml/2006/main">
          <a:srgbClr val="10243B"/>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97F587B-1BD8-494E-9EFF-3015ECC80722}"/>
              </a:ext>
            </a:extLst>
          </p:cNvPr>
          <p:cNvSpPr>
            <a:spLocks xmlns:a="http://schemas.openxmlformats.org/drawingml/2006/main" noGrp="1"/>
          </p:cNvSpPr>
          <p:nvPr/>
        </p:nvSpPr>
        <p:spPr>
          <a:xfrm xmlns:a="http://schemas.openxmlformats.org/drawingml/2006/main">
            <a:off x="647700" y="1095375"/>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5400" b="1">
                <a:solidFill>
                  <a:srgbClr val="FFFFFF"/>
                </a:solidFill>
                <a:latin typeface="Arial"/>
                <a:ea typeface="Arial"/>
                <a:cs typeface="Arial"/>
              </a:defRPr>
            </a:pPr>
            <a:r>
              <a:rPr sz="5400" b="1">
                <a:solidFill>
                  <a:srgbClr val="FFFFFF"/>
                </a:solidFill>
                <a:latin typeface="Arial"/>
                <a:ea typeface="Arial"/>
                <a:cs typeface="Arial"/>
              </a:rPr>
              <a:t>KiroCrew on ARM</a:t>
            </a:r>
          </a:p>
        </p:txBody>
      </p:sp>
      <p:sp>
        <p:nvSpPr>
          <p:cNvPr id="2" name="">
            <a:extLst xmlns:a="http://schemas.openxmlformats.org/drawingml/2006/main">
              <a:ext uri="{FF2B5EF4-FFF2-40B4-BE49-F238E27FC236}">
                <a16:creationId xmlns:a16="http://schemas.microsoft.com/office/drawing/2014/main" id="{B058A277-1020-4B3C-82C3-19B8D48EE1CD}"/>
              </a:ext>
            </a:extLst>
          </p:cNvPr>
          <p:cNvSpPr>
            <a:spLocks xmlns:a="http://schemas.openxmlformats.org/drawingml/2006/main" noGrp="1"/>
          </p:cNvSpPr>
          <p:nvPr/>
        </p:nvSpPr>
        <p:spPr>
          <a:xfrm xmlns:a="http://schemas.openxmlformats.org/drawingml/2006/main">
            <a:off x="685800" y="2571750"/>
            <a:ext cx="10477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525" b="0">
                <a:solidFill>
                  <a:srgbClr val="FFFFFF"/>
                </a:solidFill>
                <a:latin typeface="Arial"/>
                <a:ea typeface="Arial"/>
                <a:cs typeface="Arial"/>
              </a:defRPr>
            </a:pPr>
            <a:r>
              <a:rPr sz="3525" b="0">
                <a:solidFill>
                  <a:srgbClr val="FFFFFF"/>
                </a:solidFill>
                <a:latin typeface="Arial"/>
                <a:ea typeface="Arial"/>
                <a:cs typeface="Arial"/>
              </a:rPr>
              <a:t>Remote execution and</a:t>
            </a:r>
          </a:p>
          <a:p xmlns:a="http://schemas.openxmlformats.org/drawingml/2006/main">
            <a:pPr>
              <a:defRPr sz="3525" b="0">
                <a:solidFill>
                  <a:srgbClr val="FFFFFF"/>
                </a:solidFill>
                <a:latin typeface="Arial"/>
                <a:ea typeface="Arial"/>
                <a:cs typeface="Arial"/>
              </a:defRPr>
            </a:pPr>
            <a:r>
              <a:rPr sz="3525" b="0">
                <a:solidFill>
                  <a:srgbClr val="FFFFFF"/>
                </a:solidFill>
                <a:latin typeface="Arial"/>
                <a:ea typeface="Arial"/>
                <a:cs typeface="Arial"/>
              </a:rPr>
              <a:t>client–server observability</a:t>
            </a:r>
          </a:p>
        </p:txBody>
      </p:sp>
      <p:sp>
        <p:nvSpPr>
          <p:cNvPr id="3" name="">
            <a:extLst xmlns:a="http://schemas.openxmlformats.org/drawingml/2006/main">
              <a:ext uri="{FF2B5EF4-FFF2-40B4-BE49-F238E27FC236}">
                <a16:creationId xmlns:a16="http://schemas.microsoft.com/office/drawing/2014/main" id="{180B23A6-39D6-47AD-90C4-A5AFDA381655}"/>
              </a:ext>
            </a:extLst>
          </p:cNvPr>
          <p:cNvSpPr>
            <a:spLocks xmlns:a="http://schemas.openxmlformats.org/drawingml/2006/main" noGrp="1"/>
          </p:cNvSpPr>
          <p:nvPr/>
        </p:nvSpPr>
        <p:spPr>
          <a:xfrm xmlns:a="http://schemas.openxmlformats.org/drawingml/2006/main">
            <a:off x="685800" y="440055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0">
                <a:solidFill>
                  <a:srgbClr val="BCD3E7"/>
                </a:solidFill>
                <a:latin typeface="Arial"/>
                <a:ea typeface="Arial"/>
                <a:cs typeface="Arial"/>
              </a:defRPr>
            </a:pPr>
            <a:r>
              <a:rPr sz="2100" b="0">
                <a:solidFill>
                  <a:srgbClr val="BCD3E7"/>
                </a:solidFill>
                <a:latin typeface="Arial"/>
                <a:ea typeface="Arial"/>
                <a:cs typeface="Arial"/>
              </a:rPr>
              <a:t>CloudFormation in us-east-1</a:t>
            </a:r>
          </a:p>
        </p:txBody>
      </p:sp>
      <p:sp>
        <p:nvSpPr>
          <p:cNvPr id="4" name="">
            <a:extLst xmlns:a="http://schemas.openxmlformats.org/drawingml/2006/main">
              <a:ext uri="{FF2B5EF4-FFF2-40B4-BE49-F238E27FC236}">
                <a16:creationId xmlns:a16="http://schemas.microsoft.com/office/drawing/2014/main" id="{92181534-D7C5-4973-9035-08C46EBFA022}"/>
              </a:ext>
            </a:extLst>
          </p:cNvPr>
          <p:cNvSpPr>
            <a:spLocks xmlns:a="http://schemas.openxmlformats.org/drawingml/2006/main" noGrp="1"/>
          </p:cNvSpPr>
          <p:nvPr/>
        </p:nvSpPr>
        <p:spPr>
          <a:xfrm xmlns:a="http://schemas.openxmlformats.org/drawingml/2006/main">
            <a:off x="685800" y="5162550"/>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0">
                <a:solidFill>
                  <a:srgbClr val="FFFFFF"/>
                </a:solidFill>
                <a:latin typeface="Arial"/>
                <a:ea typeface="Arial"/>
                <a:cs typeface="Arial"/>
              </a:defRPr>
            </a:pPr>
            <a:r>
              <a:rPr sz="2100" b="0">
                <a:solidFill>
                  <a:srgbClr val="FFFFFF"/>
                </a:solidFill>
                <a:latin typeface="Arial"/>
                <a:ea typeface="Arial"/>
                <a:cs typeface="Arial"/>
              </a:rPr>
              <a:t>Direct MCP and AWS checks passed.</a:t>
            </a:r>
          </a:p>
          <a:p xmlns:a="http://schemas.openxmlformats.org/drawingml/2006/main">
            <a:pPr>
              <a:defRPr sz="2100" b="0">
                <a:solidFill>
                  <a:srgbClr val="FFFFFF"/>
                </a:solidFill>
                <a:latin typeface="Arial"/>
                <a:ea typeface="Arial"/>
                <a:cs typeface="Arial"/>
              </a:defRPr>
            </a:pPr>
            <a:r>
              <a:rPr sz="2100" b="0">
                <a:solidFill>
                  <a:srgbClr val="FFFFFF"/>
                </a:solidFill>
                <a:latin typeface="Arial"/>
                <a:ea typeface="Arial"/>
                <a:cs typeface="Arial"/>
              </a:rPr>
              <a:t>Native Kiro CLI sign-in and session pending.</a:t>
            </a:r>
          </a:p>
        </p:txBody>
      </p:sp>
    </p:spTree>
    <p:extLst>
      <p:ext uri="{BB962C8B-B14F-4D97-AF65-F5344CB8AC3E}">
        <p14:creationId xmlns:p14="http://schemas.microsoft.com/office/powerpoint/2010/main" val="1177524057"/>
      </p:ext>
    </p:extLst>
  </p:cSld>
</p:sld>
</file>

<file path=ppt/slides/slide2.xml><?xml version="1.0" encoding="utf-8"?>
<p:sld xmlns:p="http://schemas.openxmlformats.org/presentationml/2006/main">
  <p:cSld>
    <p:bg>
      <p:bgPr>
        <a:solidFill xmlns:a="http://schemas.openxmlformats.org/drawingml/2006/main">
          <a:srgbClr val="F4F7FB"/>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3BDA69E-62EE-475E-9613-0661C1C49A85}"/>
              </a:ext>
            </a:extLst>
          </p:cNvPr>
          <p:cNvSpPr>
            <a:spLocks xmlns:a="http://schemas.openxmlformats.org/drawingml/2006/main" noGrp="1"/>
          </p:cNvSpPr>
          <p:nvPr/>
        </p:nvSpPr>
        <p:spPr>
          <a:xfrm xmlns:a="http://schemas.openxmlformats.org/drawingml/2006/main">
            <a:off x="609600" y="42862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0243B"/>
                </a:solidFill>
                <a:latin typeface="Arial"/>
                <a:ea typeface="Arial"/>
                <a:cs typeface="Arial"/>
              </a:defRPr>
            </a:pPr>
            <a:r>
              <a:rPr sz="3300" b="1">
                <a:solidFill>
                  <a:srgbClr val="10243B"/>
                </a:solidFill>
                <a:latin typeface="Arial"/>
                <a:ea typeface="Arial"/>
                <a:cs typeface="Arial"/>
              </a:rPr>
              <a:t>One execution host</a:t>
            </a:r>
          </a:p>
        </p:txBody>
      </p:sp>
      <p:sp>
        <p:nvSpPr>
          <p:cNvPr id="2" name="">
            <a:extLst xmlns:a="http://schemas.openxmlformats.org/drawingml/2006/main">
              <a:ext uri="{FF2B5EF4-FFF2-40B4-BE49-F238E27FC236}">
                <a16:creationId xmlns:a16="http://schemas.microsoft.com/office/drawing/2014/main" id="{E3EBCF28-48B7-4971-8D43-79015576B9CB}"/>
              </a:ext>
            </a:extLst>
          </p:cNvPr>
          <p:cNvSpPr>
            <a:spLocks xmlns:a="http://schemas.openxmlformats.org/drawingml/2006/main" noGrp="1"/>
          </p:cNvSpPr>
          <p:nvPr/>
        </p:nvSpPr>
        <p:spPr>
          <a:xfrm xmlns:a="http://schemas.openxmlformats.org/drawingml/2006/main">
            <a:off x="609600" y="1866900"/>
            <a:ext cx="4286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0">
                <a:solidFill>
                  <a:srgbClr val="10243B"/>
                </a:solidFill>
                <a:latin typeface="Arial"/>
                <a:ea typeface="Arial"/>
                <a:cs typeface="Arial"/>
              </a:defRPr>
            </a:pPr>
            <a:r>
              <a:rPr sz="2250" b="0">
                <a:solidFill>
                  <a:srgbClr val="10243B"/>
                </a:solidFill>
                <a:latin typeface="Arial"/>
                <a:ea typeface="Arial"/>
                <a:cs typeface="Arial"/>
              </a:rPr>
              <a:t>Local mode</a:t>
            </a:r>
          </a:p>
          <a:p xmlns:a="http://schemas.openxmlformats.org/drawingml/2006/main">
            <a:pPr>
              <a:defRPr sz="2250" b="0">
                <a:solidFill>
                  <a:srgbClr val="10243B"/>
                </a:solidFill>
                <a:latin typeface="Arial"/>
                <a:ea typeface="Arial"/>
                <a:cs typeface="Arial"/>
              </a:defRPr>
            </a:pPr>
            <a:r>
              <a:rPr sz="2250" b="0">
                <a:solidFill>
                  <a:srgbClr val="10243B"/>
                </a:solidFill>
                <a:latin typeface="Arial"/>
                <a:ea typeface="Arial"/>
                <a:cs typeface="Arial"/>
              </a:rPr>
              <a:t>Developer endpoint</a:t>
            </a:r>
          </a:p>
        </p:txBody>
      </p:sp>
      <p:sp>
        <p:nvSpPr>
          <p:cNvPr id="3" name="">
            <a:extLst xmlns:a="http://schemas.openxmlformats.org/drawingml/2006/main">
              <a:ext uri="{FF2B5EF4-FFF2-40B4-BE49-F238E27FC236}">
                <a16:creationId xmlns:a16="http://schemas.microsoft.com/office/drawing/2014/main" id="{971C5647-CD62-4F95-989F-D1BAAD353FC0}"/>
              </a:ext>
            </a:extLst>
          </p:cNvPr>
          <p:cNvSpPr>
            <a:spLocks xmlns:a="http://schemas.openxmlformats.org/drawingml/2006/main" noGrp="1"/>
          </p:cNvSpPr>
          <p:nvPr/>
        </p:nvSpPr>
        <p:spPr>
          <a:xfrm xmlns:a="http://schemas.openxmlformats.org/drawingml/2006/main">
            <a:off x="609600" y="3438525"/>
            <a:ext cx="4333875"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0">
                <a:solidFill>
                  <a:srgbClr val="10243B"/>
                </a:solidFill>
                <a:latin typeface="Arial"/>
                <a:ea typeface="Arial"/>
                <a:cs typeface="Arial"/>
              </a:defRPr>
            </a:pPr>
            <a:r>
              <a:rPr sz="2250" b="0">
                <a:solidFill>
                  <a:srgbClr val="10243B"/>
                </a:solidFill>
                <a:latin typeface="Arial"/>
                <a:ea typeface="Arial"/>
                <a:cs typeface="Arial"/>
              </a:rPr>
              <a:t>Remote mode</a:t>
            </a:r>
          </a:p>
          <a:p xmlns:a="http://schemas.openxmlformats.org/drawingml/2006/main">
            <a:pPr>
              <a:defRPr sz="2250" b="0">
                <a:solidFill>
                  <a:srgbClr val="10243B"/>
                </a:solidFill>
                <a:latin typeface="Arial"/>
                <a:ea typeface="Arial"/>
                <a:cs typeface="Arial"/>
              </a:defRPr>
            </a:pPr>
            <a:r>
              <a:rPr sz="2250" b="0">
                <a:solidFill>
                  <a:srgbClr val="10243B"/>
                </a:solidFill>
                <a:latin typeface="Arial"/>
                <a:ea typeface="Arial"/>
                <a:cs typeface="Arial"/>
              </a:rPr>
              <a:t>Gateway, backend and workspace</a:t>
            </a:r>
          </a:p>
          <a:p xmlns:a="http://schemas.openxmlformats.org/drawingml/2006/main">
            <a:pPr>
              <a:defRPr sz="2250" b="0">
                <a:solidFill>
                  <a:srgbClr val="10243B"/>
                </a:solidFill>
                <a:latin typeface="Arial"/>
                <a:ea typeface="Arial"/>
                <a:cs typeface="Arial"/>
              </a:defRPr>
            </a:pPr>
            <a:r>
              <a:rPr sz="2250" b="0">
                <a:solidFill>
                  <a:srgbClr val="10243B"/>
                </a:solidFill>
                <a:latin typeface="Arial"/>
                <a:ea typeface="Arial"/>
                <a:cs typeface="Arial"/>
              </a:rPr>
              <a:t>on the EC2 instance</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94a305b87e554f5d"/>
          <a:stretch xmlns:a="http://schemas.openxmlformats.org/drawingml/2006/main"/>
        </p:blipFill>
        <p:spPr>
          <a:xfrm xmlns:a="http://schemas.openxmlformats.org/drawingml/2006/main">
            <a:off x="5775325" y="1333500"/>
            <a:ext cx="5308600" cy="52387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6028E54F-4918-4999-9E55-2074B9580E19}"/>
              </a:ext>
            </a:extLst>
          </p:cNvPr>
          <p:cNvSpPr>
            <a:spLocks xmlns:a="http://schemas.openxmlformats.org/drawingml/2006/main" noGrp="1"/>
          </p:cNvSpPr>
          <p:nvPr/>
        </p:nvSpPr>
        <p:spPr>
          <a:xfrm xmlns:a="http://schemas.openxmlformats.org/drawingml/2006/main">
            <a:off x="609600" y="5267325"/>
            <a:ext cx="452437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1">
                <a:solidFill>
                  <a:srgbClr val="B62758"/>
                </a:solidFill>
                <a:latin typeface="Arial"/>
                <a:ea typeface="Arial"/>
                <a:cs typeface="Arial"/>
              </a:defRPr>
            </a:pPr>
            <a:r>
              <a:rPr sz="1725" b="1">
                <a:solidFill>
                  <a:srgbClr val="B62758"/>
                </a:solidFill>
                <a:latin typeface="Arial"/>
                <a:ea typeface="Arial"/>
                <a:cs typeface="Arial"/>
              </a:rPr>
              <a:t>Reference map. Verified: remote</a:t>
            </a:r>
          </a:p>
          <a:p xmlns:a="http://schemas.openxmlformats.org/drawingml/2006/main">
            <a:pPr>
              <a:defRPr sz="1725" b="1">
                <a:solidFill>
                  <a:srgbClr val="B62758"/>
                </a:solidFill>
                <a:latin typeface="Arial"/>
                <a:ea typeface="Arial"/>
                <a:cs typeface="Arial"/>
              </a:defRPr>
            </a:pPr>
            <a:r>
              <a:rPr sz="1725" b="1">
                <a:solidFill>
                  <a:srgbClr val="B62758"/>
                </a:solidFill>
                <a:latin typeface="Arial"/>
                <a:ea typeface="Arial"/>
                <a:cs typeface="Arial"/>
              </a:rPr>
              <a:t>client, MCP grants and S3 IAM.</a:t>
            </a:r>
          </a:p>
          <a:p xmlns:a="http://schemas.openxmlformats.org/drawingml/2006/main">
            <a:pPr>
              <a:defRPr sz="1725" b="1">
                <a:solidFill>
                  <a:srgbClr val="B62758"/>
                </a:solidFill>
                <a:latin typeface="Arial"/>
                <a:ea typeface="Arial"/>
                <a:cs typeface="Arial"/>
              </a:defRPr>
            </a:pPr>
            <a:r>
              <a:rPr sz="1725" b="1">
                <a:solidFill>
                  <a:srgbClr val="B62758"/>
                </a:solidFill>
                <a:latin typeface="Arial"/>
                <a:ea typeface="Arial"/>
                <a:cs typeface="Arial"/>
              </a:rPr>
              <a:t>Unverified: sandbox, egress</a:t>
            </a:r>
          </a:p>
          <a:p xmlns:a="http://schemas.openxmlformats.org/drawingml/2006/main">
            <a:pPr>
              <a:defRPr sz="1725" b="1">
                <a:solidFill>
                  <a:srgbClr val="B62758"/>
                </a:solidFill>
                <a:latin typeface="Arial"/>
                <a:ea typeface="Arial"/>
                <a:cs typeface="Arial"/>
              </a:defRPr>
            </a:pPr>
            <a:r>
              <a:rPr sz="1725" b="1">
                <a:solidFill>
                  <a:srgbClr val="B62758"/>
                </a:solidFill>
                <a:latin typeface="Arial"/>
                <a:ea typeface="Arial"/>
                <a:cs typeface="Arial"/>
              </a:rPr>
              <a:t>control and SEL/HMAC.</a:t>
            </a:r>
          </a:p>
        </p:txBody>
      </p:sp>
    </p:spTree>
    <p:extLst>
      <p:ext uri="{BB962C8B-B14F-4D97-AF65-F5344CB8AC3E}">
        <p14:creationId xmlns:p14="http://schemas.microsoft.com/office/powerpoint/2010/main" val="1588508005"/>
      </p:ext>
    </p:extLst>
  </p:cSld>
</p:sld>
</file>

<file path=ppt/slides/slide3.xml><?xml version="1.0" encoding="utf-8"?>
<p:sld xmlns:p="http://schemas.openxmlformats.org/presentationml/2006/main">
  <p:cSld>
    <p:bg>
      <p:bgPr>
        <a:solidFill xmlns:a="http://schemas.openxmlformats.org/drawingml/2006/main">
          <a:srgbClr val="F4F7FB"/>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4C5326A6-40A3-4414-B2E5-AD5C168C1ECB}"/>
              </a:ext>
            </a:extLst>
          </p:cNvPr>
          <p:cNvSpPr>
            <a:spLocks xmlns:a="http://schemas.openxmlformats.org/drawingml/2006/main" noGrp="1"/>
          </p:cNvSpPr>
          <p:nvPr/>
        </p:nvSpPr>
        <p:spPr>
          <a:xfrm xmlns:a="http://schemas.openxmlformats.org/drawingml/2006/main">
            <a:off x="609600" y="42862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0243B"/>
                </a:solidFill>
                <a:latin typeface="Arial"/>
                <a:ea typeface="Arial"/>
                <a:cs typeface="Arial"/>
              </a:defRPr>
            </a:pPr>
            <a:r>
              <a:rPr sz="3300" b="1">
                <a:solidFill>
                  <a:srgbClr val="10243B"/>
                </a:solidFill>
                <a:latin typeface="Arial"/>
                <a:ea typeface="Arial"/>
                <a:cs typeface="Arial"/>
              </a:rPr>
              <a:t>ARM execution in us-east-1</a:t>
            </a:r>
          </a:p>
        </p:txBody>
      </p:sp>
      <p:pic>
        <p:nvPicPr>
          <p:cNvPr id="5" name=""/>
          <p:cNvPicPr>
            <a:picLocks xmlns:a="http://schemas.openxmlformats.org/drawingml/2006/main" noChangeAspect="1"/>
          </p:cNvPicPr>
          <p:nvPr/>
        </p:nvPicPr>
        <p:blipFill>
          <a:blip xmlns:r="http://schemas.openxmlformats.org/officeDocument/2006/relationships" xmlns:a="http://schemas.openxmlformats.org/drawingml/2006/main" r:embed="Raf302edbc5724b66"/>
          <a:stretch xmlns:a="http://schemas.openxmlformats.org/drawingml/2006/main"/>
        </p:blipFill>
        <p:spPr>
          <a:xfrm xmlns:a="http://schemas.openxmlformats.org/drawingml/2006/main">
            <a:off x="609600" y="1333500"/>
            <a:ext cx="10972800" cy="45720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CCE3C0B5-6CBE-4B4A-BF03-28F672C82994}"/>
              </a:ext>
            </a:extLst>
          </p:cNvPr>
          <p:cNvSpPr>
            <a:spLocks xmlns:a="http://schemas.openxmlformats.org/drawingml/2006/main" noGrp="1"/>
          </p:cNvSpPr>
          <p:nvPr/>
        </p:nvSpPr>
        <p:spPr>
          <a:xfrm xmlns:a="http://schemas.openxmlformats.org/drawingml/2006/main">
            <a:off x="609600" y="6276975"/>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50667F"/>
                </a:solidFill>
                <a:latin typeface="Arial"/>
                <a:ea typeface="Arial"/>
                <a:cs typeface="Arial"/>
              </a:defRPr>
            </a:pPr>
            <a:r>
              <a:rPr sz="1800" b="0">
                <a:solidFill>
                  <a:srgbClr val="50667F"/>
                </a:solidFill>
                <a:latin typeface="Arial"/>
                <a:ea typeface="Arial"/>
                <a:cs typeface="Arial"/>
              </a:rPr>
              <a:t>t4g.xlarge · 4 vCPUs · 16 GiB · 40 GiB gp3 · SSH from client IP /32</a:t>
            </a:r>
          </a:p>
        </p:txBody>
      </p:sp>
    </p:spTree>
    <p:extLst>
      <p:ext uri="{BB962C8B-B14F-4D97-AF65-F5344CB8AC3E}">
        <p14:creationId xmlns:p14="http://schemas.microsoft.com/office/powerpoint/2010/main" val="1692126199"/>
      </p:ext>
    </p:extLst>
  </p:cSld>
</p:sld>
</file>

<file path=ppt/slides/slide4.xml><?xml version="1.0" encoding="utf-8"?>
<p:sld xmlns:p="http://schemas.openxmlformats.org/presentationml/2006/main">
  <p:cSld>
    <p:bg>
      <p:bgPr>
        <a:solidFill xmlns:a="http://schemas.openxmlformats.org/drawingml/2006/main">
          <a:srgbClr val="F4F7FB"/>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28FEEDEE-F2B2-4B3C-AED5-16E7AE04160B}"/>
              </a:ext>
            </a:extLst>
          </p:cNvPr>
          <p:cNvSpPr>
            <a:spLocks xmlns:a="http://schemas.openxmlformats.org/drawingml/2006/main" noGrp="1"/>
          </p:cNvSpPr>
          <p:nvPr/>
        </p:nvSpPr>
        <p:spPr>
          <a:xfrm xmlns:a="http://schemas.openxmlformats.org/drawingml/2006/main">
            <a:off x="609600" y="42862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0243B"/>
                </a:solidFill>
                <a:latin typeface="Arial"/>
                <a:ea typeface="Arial"/>
                <a:cs typeface="Arial"/>
              </a:defRPr>
            </a:pPr>
            <a:r>
              <a:rPr sz="3300" b="1">
                <a:solidFill>
                  <a:srgbClr val="10243B"/>
                </a:solidFill>
                <a:latin typeface="Arial"/>
                <a:ea typeface="Arial"/>
                <a:cs typeface="Arial"/>
              </a:rPr>
              <a:t>Host identities and AWS credentials</a:t>
            </a:r>
          </a:p>
        </p:txBody>
      </p:sp>
      <p:graphicFrame>
        <p:nvGraphicFramePr>
          <p:cNvPr id="5" name=""/>
          <p:cNvGraphicFramePr/>
          <p:nvPr/>
        </p:nvGraphicFramePr>
        <p:xfrm>
          <a:off xmlns:a="http://schemas.openxmlformats.org/drawingml/2006/main" x="609600" y="1504950"/>
          <a:ext xmlns:a="http://schemas.openxmlformats.org/drawingml/2006/main" cx="10972800" cy="4114800"/>
        </p:xfrm>
        <a:graphic xmlns:a="http://schemas.openxmlformats.org/drawingml/2006/main">
          <a:graphicData uri="http://schemas.openxmlformats.org/drawingml/2006/table">
            <a:tbl>
              <a:tblPr/>
              <a:tblGrid>
                <a:gridCol w="2762250"/>
                <a:gridCol w="8210550"/>
              </a:tblGrid>
              <a:tr h="571500">
                <a:tc>
                  <a:txBody>
                    <a:bodyPr/>
                    <a:lstStyle/>
                    <a:p>
                      <a:r>
                        <a:rPr sz="1800" b="1">
                          <a:solidFill>
                            <a:srgbClr val="FFFFFF"/>
                          </a:solidFill>
                          <a:latin typeface="Arial"/>
                          <a:ea typeface="Arial"/>
                          <a:cs typeface="Arial"/>
                        </a:rPr>
                        <a:t>Identity</a:t>
                      </a:r>
                    </a:p>
                  </a:txBody>
                  <a:tcPr marL="91440" marR="91440" marT="45720" marB="45720">
                    <a:solidFill>
                      <a:srgbClr val="10243B"/>
                    </a:solidFill>
                  </a:tcPr>
                </a:tc>
                <a:tc>
                  <a:txBody>
                    <a:bodyPr/>
                    <a:lstStyle/>
                    <a:p>
                      <a:r>
                        <a:rPr sz="1800" b="1">
                          <a:solidFill>
                            <a:srgbClr val="FFFFFF"/>
                          </a:solidFill>
                          <a:latin typeface="Arial"/>
                          <a:ea typeface="Arial"/>
                          <a:cs typeface="Arial"/>
                        </a:rPr>
                        <a:t>Execution and authority</a:t>
                      </a:r>
                    </a:p>
                  </a:txBody>
                  <a:tcPr marL="91440" marR="91440" marT="45720" marB="45720">
                    <a:solidFill>
                      <a:srgbClr val="10243B"/>
                    </a:solidFill>
                  </a:tcPr>
                </a:tc>
              </a:tr>
              <a:tr h="1181100">
                <a:tc>
                  <a:txBody>
                    <a:bodyPr/>
                    <a:lstStyle/>
                    <a:p>
                      <a:r>
                        <a:rPr sz="2025" b="0">
                          <a:solidFill>
                            <a:srgbClr val="10243B"/>
                          </a:solidFill>
                          <a:latin typeface="Arial"/>
                          <a:ea typeface="Arial"/>
                          <a:cs typeface="Arial"/>
                        </a:rPr>
                        <a:t>crew</a:t>
                      </a:r>
                    </a:p>
                  </a:txBody>
                  <a:tcPr marL="91440" marR="91440" marT="45720" marB="45720">
                    <a:solidFill>
                      <a:srgbClr val="FFFFFF"/>
                    </a:solidFill>
                  </a:tcPr>
                </a:tc>
                <a:tc>
                  <a:txBody>
                    <a:bodyPr/>
                    <a:lstStyle/>
                    <a:p>
                      <a:r>
                        <a:rPr sz="2025" b="0">
                          <a:solidFill>
                            <a:srgbClr val="10243B"/>
                          </a:solidFill>
                          <a:latin typeface="Arial"/>
                          <a:ea typeface="Arial"/>
                          <a:cs typeface="Arial"/>
                        </a:rPr>
                        <a:t>Gateway, Kiro CLI and workspace</a:t>
                      </a:r>
                    </a:p>
                    <a:p>
                      <a:r>
                        <a:rPr sz="2025" b="0">
                          <a:solidFill>
                            <a:srgbClr val="10243B"/>
                          </a:solidFill>
                          <a:latin typeface="Arial"/>
                          <a:ea typeface="Arial"/>
                          <a:cs typeface="Arial"/>
                        </a:rPr>
                        <a:t>IPv4 metadata TCP denied for crew UID</a:t>
                      </a:r>
                    </a:p>
                    <a:p>
                      <a:r>
                        <a:rPr sz="2025" b="0">
                          <a:solidFill>
                            <a:srgbClr val="10243B"/>
                          </a:solidFill>
                          <a:latin typeface="Arial"/>
                          <a:ea typeface="Arial"/>
                          <a:cs typeface="Arial"/>
                        </a:rPr>
                        <a:t>Observed errno 113; no HTTP request</a:t>
                      </a:r>
                    </a:p>
                  </a:txBody>
                  <a:tcPr marL="91440" marR="91440" marT="45720" marB="45720">
                    <a:solidFill>
                      <a:srgbClr val="FFFFFF"/>
                    </a:solidFill>
                  </a:tcPr>
                </a:tc>
              </a:tr>
              <a:tr h="1181100">
                <a:tc>
                  <a:txBody>
                    <a:bodyPr/>
                    <a:lstStyle/>
                    <a:p>
                      <a:r>
                        <a:rPr sz="2025" b="0">
                          <a:solidFill>
                            <a:srgbClr val="10243B"/>
                          </a:solidFill>
                          <a:latin typeface="Arial"/>
                          <a:ea typeface="Arial"/>
                          <a:cs typeface="Arial"/>
                        </a:rPr>
                        <a:t>mcp-demo</a:t>
                      </a:r>
                    </a:p>
                  </a:txBody>
                  <a:tcPr marL="91440" marR="91440" marT="45720" marB="45720">
                    <a:solidFill>
                      <a:srgbClr val="E9EFF6"/>
                    </a:solidFill>
                  </a:tcPr>
                </a:tc>
                <a:tc>
                  <a:txBody>
                    <a:bodyPr/>
                    <a:lstStyle/>
                    <a:p>
                      <a:r>
                        <a:rPr sz="2025" b="0">
                          <a:solidFill>
                            <a:srgbClr val="10243B"/>
                          </a:solidFill>
                          <a:latin typeface="Arial"/>
                          <a:ea typeface="Arial"/>
                          <a:cs typeface="Arial"/>
                        </a:rPr>
                        <a:t>Fixed MCP tools and S3 reads</a:t>
                      </a:r>
                    </a:p>
                    <a:p>
                      <a:r>
                        <a:rPr sz="2025" b="0">
                          <a:solidFill>
                            <a:srgbClr val="10243B"/>
                          </a:solidFill>
                          <a:latin typeface="Arial"/>
                          <a:ea typeface="Arial"/>
                          <a:cs typeface="Arial"/>
                        </a:rPr>
                        <a:t>Instance role through IMDSv2</a:t>
                      </a:r>
                    </a:p>
                    <a:p>
                      <a:r>
                        <a:rPr sz="2025" b="0">
                          <a:solidFill>
                            <a:srgbClr val="10243B"/>
                          </a:solidFill>
                          <a:latin typeface="Arial"/>
                          <a:ea typeface="Arial"/>
                          <a:cs typeface="Arial"/>
                        </a:rPr>
                        <a:t>Two S3 prefixes + SSM core permissions</a:t>
                      </a:r>
                    </a:p>
                  </a:txBody>
                  <a:tcPr marL="91440" marR="91440" marT="45720" marB="45720">
                    <a:solidFill>
                      <a:srgbClr val="E9EFF6"/>
                    </a:solidFill>
                  </a:tcPr>
                </a:tc>
              </a:tr>
              <a:tr h="1181100">
                <a:tc>
                  <a:txBody>
                    <a:bodyPr/>
                    <a:lstStyle/>
                    <a:p>
                      <a:r>
                        <a:rPr sz="2025" b="0">
                          <a:solidFill>
                            <a:srgbClr val="10243B"/>
                          </a:solidFill>
                          <a:latin typeface="Arial"/>
                          <a:ea typeface="Arial"/>
                          <a:cs typeface="Arial"/>
                        </a:rPr>
                        <a:t>root / administrator</a:t>
                      </a:r>
                    </a:p>
                  </a:txBody>
                  <a:tcPr marL="91440" marR="91440" marT="45720" marB="45720">
                    <a:solidFill>
                      <a:srgbClr val="FFFFFF"/>
                    </a:solidFill>
                  </a:tcPr>
                </a:tc>
                <a:tc>
                  <a:txBody>
                    <a:bodyPr/>
                    <a:lstStyle/>
                    <a:p>
                      <a:r>
                        <a:rPr sz="2025" b="0">
                          <a:solidFill>
                            <a:srgbClr val="10243B"/>
                          </a:solidFill>
                          <a:latin typeface="Arial"/>
                          <a:ea typeface="Arial"/>
                          <a:cs typeface="Arial"/>
                        </a:rPr>
                        <a:t>Installs code and manages services</a:t>
                      </a:r>
                    </a:p>
                    <a:p>
                      <a:r>
                        <a:rPr sz="2025" b="0">
                          <a:solidFill>
                            <a:srgbClr val="10243B"/>
                          </a:solidFill>
                          <a:latin typeface="Arial"/>
                          <a:ea typeface="Arial"/>
                          <a:cs typeface="Arial"/>
                        </a:rPr>
                        <a:t>Trusted host administration</a:t>
                      </a:r>
                    </a:p>
                  </a:txBody>
                  <a:tcPr marL="91440" marR="91440" marT="45720" marB="45720">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061F4653-97E6-46CE-9792-FF7422A05B2C}"/>
              </a:ext>
            </a:extLst>
          </p:cNvPr>
          <p:cNvSpPr>
            <a:spLocks xmlns:a="http://schemas.openxmlformats.org/drawingml/2006/main" noGrp="1"/>
          </p:cNvSpPr>
          <p:nvPr/>
        </p:nvSpPr>
        <p:spPr>
          <a:xfrm xmlns:a="http://schemas.openxmlformats.org/drawingml/2006/main">
            <a:off x="609600" y="585787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1">
                <a:solidFill>
                  <a:srgbClr val="B62758"/>
                </a:solidFill>
                <a:latin typeface="Arial"/>
                <a:ea typeface="Arial"/>
                <a:cs typeface="Arial"/>
              </a:defRPr>
            </a:pPr>
            <a:r>
              <a:rPr sz="1875" b="1">
                <a:solidFill>
                  <a:srgbClr val="B62758"/>
                </a:solidFill>
                <a:latin typeface="Arial"/>
                <a:ea typeface="Arial"/>
                <a:cs typeface="Arial"/>
              </a:rPr>
              <a:t>Crew can edit its configuration.</a:t>
            </a:r>
          </a:p>
          <a:p xmlns:a="http://schemas.openxmlformats.org/drawingml/2006/main">
            <a:pPr>
              <a:defRPr sz="1875" b="1">
                <a:solidFill>
                  <a:srgbClr val="B62758"/>
                </a:solidFill>
                <a:latin typeface="Arial"/>
                <a:ea typeface="Arial"/>
                <a:cs typeface="Arial"/>
              </a:defRPr>
            </a:pPr>
            <a:r>
              <a:rPr sz="1875" b="1">
                <a:solidFill>
                  <a:srgbClr val="B62758"/>
                </a:solidFill>
                <a:latin typeface="Arial"/>
                <a:ea typeface="Arial"/>
                <a:cs typeface="Arial"/>
              </a:rPr>
              <a:t>Immutable policy and tamper resistance are unverified.</a:t>
            </a:r>
          </a:p>
        </p:txBody>
      </p:sp>
    </p:spTree>
    <p:extLst>
      <p:ext uri="{BB962C8B-B14F-4D97-AF65-F5344CB8AC3E}">
        <p14:creationId xmlns:p14="http://schemas.microsoft.com/office/powerpoint/2010/main" val="209909357"/>
      </p:ext>
    </p:extLst>
  </p:cSld>
</p:sld>
</file>

<file path=ppt/slides/slide5.xml><?xml version="1.0" encoding="utf-8"?>
<p:sld xmlns:p="http://schemas.openxmlformats.org/presentationml/2006/main">
  <p:cSld>
    <p:bg>
      <p:bgPr>
        <a:solidFill xmlns:a="http://schemas.openxmlformats.org/drawingml/2006/main">
          <a:srgbClr val="F4F7FB"/>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09CCA07D-0AB4-4D8D-A6A7-3FFB78830794}"/>
              </a:ext>
            </a:extLst>
          </p:cNvPr>
          <p:cNvSpPr>
            <a:spLocks xmlns:a="http://schemas.openxmlformats.org/drawingml/2006/main" noGrp="1"/>
          </p:cNvSpPr>
          <p:nvPr/>
        </p:nvSpPr>
        <p:spPr>
          <a:xfrm xmlns:a="http://schemas.openxmlformats.org/drawingml/2006/main">
            <a:off x="609600" y="42862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0243B"/>
                </a:solidFill>
                <a:latin typeface="Arial"/>
                <a:ea typeface="Arial"/>
                <a:cs typeface="Arial"/>
              </a:defRPr>
            </a:pPr>
            <a:r>
              <a:rPr sz="3300" b="1">
                <a:solidFill>
                  <a:srgbClr val="10243B"/>
                </a:solidFill>
                <a:latin typeface="Arial"/>
                <a:ea typeface="Arial"/>
                <a:cs typeface="Arial"/>
              </a:rPr>
              <a:t>Four calls, three denial boundaries</a:t>
            </a:r>
          </a:p>
        </p:txBody>
      </p:sp>
      <p:graphicFrame>
        <p:nvGraphicFramePr>
          <p:cNvPr id="5" name=""/>
          <p:cNvGraphicFramePr/>
          <p:nvPr/>
        </p:nvGraphicFramePr>
        <p:xfrm>
          <a:off xmlns:a="http://schemas.openxmlformats.org/drawingml/2006/main" x="609600" y="1485900"/>
          <a:ext xmlns:a="http://schemas.openxmlformats.org/drawingml/2006/main" cx="10972800" cy="3733800"/>
        </p:xfrm>
        <a:graphic xmlns:a="http://schemas.openxmlformats.org/drawingml/2006/main">
          <a:graphicData uri="http://schemas.openxmlformats.org/drawingml/2006/table">
            <a:tbl>
              <a:tblPr/>
              <a:tblGrid>
                <a:gridCol w="2857500"/>
                <a:gridCol w="4210050"/>
                <a:gridCol w="3905250"/>
              </a:tblGrid>
              <a:tr h="571500">
                <a:tc>
                  <a:txBody>
                    <a:bodyPr/>
                    <a:lstStyle/>
                    <a:p>
                      <a:r>
                        <a:rPr sz="1800" b="1">
                          <a:solidFill>
                            <a:srgbClr val="FFFFFF"/>
                          </a:solidFill>
                          <a:latin typeface="Arial"/>
                          <a:ea typeface="Arial"/>
                          <a:cs typeface="Arial"/>
                        </a:rPr>
                        <a:t>Tool</a:t>
                      </a:r>
                    </a:p>
                  </a:txBody>
                  <a:tcPr marL="91440" marR="91440" marT="45720" marB="45720">
                    <a:solidFill>
                      <a:srgbClr val="10243B"/>
                    </a:solidFill>
                  </a:tcPr>
                </a:tc>
                <a:tc>
                  <a:txBody>
                    <a:bodyPr/>
                    <a:lstStyle/>
                    <a:p>
                      <a:r>
                        <a:rPr sz="1800" b="1">
                          <a:solidFill>
                            <a:srgbClr val="FFFFFF"/>
                          </a:solidFill>
                          <a:latin typeface="Arial"/>
                          <a:ea typeface="Arial"/>
                          <a:cs typeface="Arial"/>
                        </a:rPr>
                        <a:t>Expected result</a:t>
                      </a:r>
                    </a:p>
                  </a:txBody>
                  <a:tcPr marL="91440" marR="91440" marT="45720" marB="45720">
                    <a:solidFill>
                      <a:srgbClr val="10243B"/>
                    </a:solidFill>
                  </a:tcPr>
                </a:tc>
                <a:tc>
                  <a:txBody>
                    <a:bodyPr/>
                    <a:lstStyle/>
                    <a:p>
                      <a:r>
                        <a:rPr sz="1800" b="1">
                          <a:solidFill>
                            <a:srgbClr val="FFFFFF"/>
                          </a:solidFill>
                          <a:latin typeface="Arial"/>
                          <a:ea typeface="Arial"/>
                          <a:cs typeface="Arial"/>
                        </a:rPr>
                        <a:t>Stopping point</a:t>
                      </a:r>
                    </a:p>
                  </a:txBody>
                  <a:tcPr marL="91440" marR="91440" marT="45720" marB="45720">
                    <a:solidFill>
                      <a:srgbClr val="10243B"/>
                    </a:solidFill>
                  </a:tcPr>
                </a:tc>
              </a:tr>
              <a:tr h="790575">
                <a:tc>
                  <a:txBody>
                    <a:bodyPr/>
                    <a:lstStyle/>
                    <a:p>
                      <a:r>
                        <a:rPr sz="1950" b="0">
                          <a:solidFill>
                            <a:srgbClr val="10243B"/>
                          </a:solidFill>
                          <a:latin typeface="Arial"/>
                          <a:ea typeface="Arial"/>
                          <a:cs typeface="Arial"/>
                        </a:rPr>
                        <a:t>read_allowed</a:t>
                      </a:r>
                    </a:p>
                  </a:txBody>
                  <a:tcPr marL="91440" marR="91440" marT="45720" marB="45720">
                    <a:solidFill>
                      <a:srgbClr val="FFFFFF"/>
                    </a:solidFill>
                  </a:tcPr>
                </a:tc>
                <a:tc>
                  <a:txBody>
                    <a:bodyPr/>
                    <a:lstStyle/>
                    <a:p>
                      <a:r>
                        <a:rPr sz="1950" b="0">
                          <a:solidFill>
                            <a:srgbClr val="10243B"/>
                          </a:solidFill>
                          <a:latin typeface="Arial"/>
                          <a:ea typeface="Arial"/>
                          <a:cs typeface="Arial"/>
                        </a:rPr>
                        <a:t>Digest of allowed object</a:t>
                      </a:r>
                    </a:p>
                  </a:txBody>
                  <a:tcPr marL="91440" marR="91440" marT="45720" marB="45720">
                    <a:solidFill>
                      <a:srgbClr val="FFFFFF"/>
                    </a:solidFill>
                  </a:tcPr>
                </a:tc>
                <a:tc>
                  <a:txBody>
                    <a:bodyPr/>
                    <a:lstStyle/>
                    <a:p>
                      <a:r>
                        <a:rPr sz="1950" b="0">
                          <a:solidFill>
                            <a:srgbClr val="10243B"/>
                          </a:solidFill>
                          <a:latin typeface="Arial"/>
                          <a:ea typeface="Arial"/>
                          <a:cs typeface="Arial"/>
                        </a:rPr>
                        <a:t>S3 completes the read</a:t>
                      </a:r>
                    </a:p>
                  </a:txBody>
                  <a:tcPr marL="91440" marR="91440" marT="45720" marB="45720">
                    <a:solidFill>
                      <a:srgbClr val="FFFFFF"/>
                    </a:solidFill>
                  </a:tcPr>
                </a:tc>
              </a:tr>
              <a:tr h="790575">
                <a:tc>
                  <a:txBody>
                    <a:bodyPr/>
                    <a:lstStyle/>
                    <a:p>
                      <a:r>
                        <a:rPr sz="1950" b="0">
                          <a:solidFill>
                            <a:srgbClr val="10243B"/>
                          </a:solidFill>
                          <a:latin typeface="Arial"/>
                          <a:ea typeface="Arial"/>
                          <a:cs typeface="Arial"/>
                        </a:rPr>
                        <a:t>crew_denied</a:t>
                      </a:r>
                    </a:p>
                  </a:txBody>
                  <a:tcPr marL="91440" marR="91440" marT="45720" marB="45720">
                    <a:solidFill>
                      <a:srgbClr val="E9EFF6"/>
                    </a:solidFill>
                  </a:tcPr>
                </a:tc>
                <a:tc>
                  <a:txBody>
                    <a:bodyPr/>
                    <a:lstStyle/>
                    <a:p>
                      <a:r>
                        <a:rPr sz="1950" b="0">
                          <a:solidFill>
                            <a:srgbClr val="10243B"/>
                          </a:solidFill>
                          <a:latin typeface="Arial"/>
                          <a:ea typeface="Arial"/>
                          <a:cs typeface="Arial"/>
                        </a:rPr>
                        <a:t>Configured;</a:t>
                      </a:r>
                    </a:p>
                    <a:p>
                      <a:r>
                        <a:rPr sz="1950" b="0">
                          <a:solidFill>
                            <a:srgbClr val="10243B"/>
                          </a:solidFill>
                          <a:latin typeface="Arial"/>
                          <a:ea typeface="Arial"/>
                          <a:cs typeface="Arial"/>
                        </a:rPr>
                        <a:t>native proof pending</a:t>
                      </a:r>
                    </a:p>
                  </a:txBody>
                  <a:tcPr marL="91440" marR="91440" marT="45720" marB="45720">
                    <a:solidFill>
                      <a:srgbClr val="E9EFF6"/>
                    </a:solidFill>
                  </a:tcPr>
                </a:tc>
                <a:tc>
                  <a:txBody>
                    <a:bodyPr/>
                    <a:lstStyle/>
                    <a:p>
                      <a:r>
                        <a:rPr sz="1950" b="0">
                          <a:solidFill>
                            <a:srgbClr val="10243B"/>
                          </a:solidFill>
                          <a:latin typeface="Arial"/>
                          <a:ea typeface="Arial"/>
                          <a:cs typeface="Arial"/>
                        </a:rPr>
                        <a:t>Crew, before MCP dispatch</a:t>
                      </a:r>
                    </a:p>
                  </a:txBody>
                  <a:tcPr marL="91440" marR="91440" marT="45720" marB="45720">
                    <a:solidFill>
                      <a:srgbClr val="E9EFF6"/>
                    </a:solidFill>
                  </a:tcPr>
                </a:tc>
              </a:tr>
              <a:tr h="790575">
                <a:tc>
                  <a:txBody>
                    <a:bodyPr/>
                    <a:lstStyle/>
                    <a:p>
                      <a:r>
                        <a:rPr sz="1950" b="0">
                          <a:solidFill>
                            <a:srgbClr val="10243B"/>
                          </a:solidFill>
                          <a:latin typeface="Arial"/>
                          <a:ea typeface="Arial"/>
                          <a:cs typeface="Arial"/>
                        </a:rPr>
                        <a:t>mcp_denied</a:t>
                      </a:r>
                    </a:p>
                  </a:txBody>
                  <a:tcPr marL="91440" marR="91440" marT="45720" marB="45720">
                    <a:solidFill>
                      <a:srgbClr val="FFFFFF"/>
                    </a:solidFill>
                  </a:tcPr>
                </a:tc>
                <a:tc>
                  <a:txBody>
                    <a:bodyPr/>
                    <a:lstStyle/>
                    <a:p>
                      <a:r>
                        <a:rPr sz="1950" b="0">
                          <a:solidFill>
                            <a:srgbClr val="10243B"/>
                          </a:solidFill>
                          <a:latin typeface="Arial"/>
                          <a:ea typeface="Arial"/>
                          <a:cs typeface="Arial"/>
                        </a:rPr>
                        <a:t>tool_grant_denied</a:t>
                      </a:r>
                    </a:p>
                  </a:txBody>
                  <a:tcPr marL="91440" marR="91440" marT="45720" marB="45720">
                    <a:solidFill>
                      <a:srgbClr val="FFFFFF"/>
                    </a:solidFill>
                  </a:tcPr>
                </a:tc>
                <a:tc>
                  <a:txBody>
                    <a:bodyPr/>
                    <a:lstStyle/>
                    <a:p>
                      <a:r>
                        <a:rPr sz="1950" b="0">
                          <a:solidFill>
                            <a:srgbClr val="10243B"/>
                          </a:solidFill>
                          <a:latin typeface="Arial"/>
                          <a:ea typeface="Arial"/>
                          <a:cs typeface="Arial"/>
                        </a:rPr>
                        <a:t>MCP, before AWS dispatch</a:t>
                      </a:r>
                    </a:p>
                  </a:txBody>
                  <a:tcPr marL="91440" marR="91440" marT="45720" marB="45720">
                    <a:solidFill>
                      <a:srgbClr val="FFFFFF"/>
                    </a:solidFill>
                  </a:tcPr>
                </a:tc>
              </a:tr>
              <a:tr h="790575">
                <a:tc>
                  <a:txBody>
                    <a:bodyPr/>
                    <a:lstStyle/>
                    <a:p>
                      <a:r>
                        <a:rPr sz="1950" b="0">
                          <a:solidFill>
                            <a:srgbClr val="10243B"/>
                          </a:solidFill>
                          <a:latin typeface="Arial"/>
                          <a:ea typeface="Arial"/>
                          <a:cs typeface="Arial"/>
                        </a:rPr>
                        <a:t>iam_denied</a:t>
                      </a:r>
                    </a:p>
                  </a:txBody>
                  <a:tcPr marL="91440" marR="91440" marT="45720" marB="45720">
                    <a:solidFill>
                      <a:srgbClr val="E9EFF6"/>
                    </a:solidFill>
                  </a:tcPr>
                </a:tc>
                <a:tc>
                  <a:txBody>
                    <a:bodyPr/>
                    <a:lstStyle/>
                    <a:p>
                      <a:r>
                        <a:rPr sz="1950" b="0">
                          <a:solidFill>
                            <a:srgbClr val="10243B"/>
                          </a:solidFill>
                          <a:latin typeface="Arial"/>
                          <a:ea typeface="Arial"/>
                          <a:cs typeface="Arial"/>
                        </a:rPr>
                        <a:t>S3 AccessDenied (403)</a:t>
                      </a:r>
                    </a:p>
                  </a:txBody>
                  <a:tcPr marL="91440" marR="91440" marT="45720" marB="45720">
                    <a:solidFill>
                      <a:srgbClr val="E9EFF6"/>
                    </a:solidFill>
                  </a:tcPr>
                </a:tc>
                <a:tc>
                  <a:txBody>
                    <a:bodyPr/>
                    <a:lstStyle/>
                    <a:p>
                      <a:r>
                        <a:rPr sz="1950" b="0">
                          <a:solidFill>
                            <a:srgbClr val="10243B"/>
                          </a:solidFill>
                          <a:latin typeface="Arial"/>
                          <a:ea typeface="Arial"/>
                          <a:cs typeface="Arial"/>
                        </a:rPr>
                        <a:t>AWS IAM</a:t>
                      </a:r>
                    </a:p>
                  </a:txBody>
                  <a:tcPr marL="91440" marR="91440" marT="45720" marB="45720">
                    <a:solidFill>
                      <a:srgbClr val="E9EFF6"/>
                    </a:solidFill>
                  </a:tcPr>
                </a:tc>
              </a:tr>
            </a:tbl>
          </a:graphicData>
        </a:graphic>
      </p:graphicFrame>
      <p:sp>
        <p:nvSpPr>
          <p:cNvPr id="3" name="">
            <a:extLst xmlns:a="http://schemas.openxmlformats.org/drawingml/2006/main">
              <a:ext uri="{FF2B5EF4-FFF2-40B4-BE49-F238E27FC236}">
                <a16:creationId xmlns:a16="http://schemas.microsoft.com/office/drawing/2014/main" id="{EFC812AD-34EC-4C6A-89FA-01365E556203}"/>
              </a:ext>
            </a:extLst>
          </p:cNvPr>
          <p:cNvSpPr>
            <a:spLocks xmlns:a="http://schemas.openxmlformats.org/drawingml/2006/main" noGrp="1"/>
          </p:cNvSpPr>
          <p:nvPr/>
        </p:nvSpPr>
        <p:spPr>
          <a:xfrm xmlns:a="http://schemas.openxmlformats.org/drawingml/2006/main">
            <a:off x="609600" y="5924550"/>
            <a:ext cx="10906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a:solidFill>
                  <a:srgbClr val="B62758"/>
                </a:solidFill>
                <a:latin typeface="Arial"/>
                <a:ea typeface="Arial"/>
                <a:cs typeface="Arial"/>
              </a:defRPr>
            </a:pPr>
            <a:r>
              <a:rPr sz="2025" b="1">
                <a:solidFill>
                  <a:srgbClr val="B62758"/>
                </a:solidFill>
                <a:latin typeface="Arial"/>
                <a:ea typeface="Arial"/>
                <a:cs typeface="Arial"/>
              </a:rPr>
              <a:t>The direct probe covers three tools. Native Crew denial remains pending.</a:t>
            </a:r>
          </a:p>
        </p:txBody>
      </p:sp>
    </p:spTree>
    <p:extLst>
      <p:ext uri="{BB962C8B-B14F-4D97-AF65-F5344CB8AC3E}">
        <p14:creationId xmlns:p14="http://schemas.microsoft.com/office/powerpoint/2010/main" val="744114567"/>
      </p:ext>
    </p:extLst>
  </p:cSld>
</p:sld>
</file>

<file path=ppt/slides/slide6.xml><?xml version="1.0" encoding="utf-8"?>
<p:sld xmlns:p="http://schemas.openxmlformats.org/presentationml/2006/main">
  <p:cSld>
    <p:bg>
      <p:bgPr>
        <a:solidFill xmlns:a="http://schemas.openxmlformats.org/drawingml/2006/main">
          <a:srgbClr val="F4F7FB"/>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4998D1F-27E8-4B5B-91F2-31CF9611A956}"/>
              </a:ext>
            </a:extLst>
          </p:cNvPr>
          <p:cNvSpPr>
            <a:spLocks xmlns:a="http://schemas.openxmlformats.org/drawingml/2006/main" noGrp="1"/>
          </p:cNvSpPr>
          <p:nvPr/>
        </p:nvSpPr>
        <p:spPr>
          <a:xfrm xmlns:a="http://schemas.openxmlformats.org/drawingml/2006/main">
            <a:off x="609600" y="42862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0243B"/>
                </a:solidFill>
                <a:latin typeface="Arial"/>
                <a:ea typeface="Arial"/>
                <a:cs typeface="Arial"/>
              </a:defRPr>
            </a:pPr>
            <a:r>
              <a:rPr sz="3300" b="1">
                <a:solidFill>
                  <a:srgbClr val="10243B"/>
                </a:solidFill>
                <a:latin typeface="Arial"/>
                <a:ea typeface="Arial"/>
                <a:cs typeface="Arial"/>
              </a:rPr>
              <a:t>ARM: MCP and AWS results</a:t>
            </a:r>
          </a:p>
        </p:txBody>
      </p:sp>
      <p:sp>
        <p:nvSpPr>
          <p:cNvPr id="2" name="">
            <a:extLst xmlns:a="http://schemas.openxmlformats.org/drawingml/2006/main">
              <a:ext uri="{FF2B5EF4-FFF2-40B4-BE49-F238E27FC236}">
                <a16:creationId xmlns:a16="http://schemas.microsoft.com/office/drawing/2014/main" id="{30AB17BF-696C-494F-830D-FCE4EAB1E484}"/>
              </a:ext>
            </a:extLst>
          </p:cNvPr>
          <p:cNvSpPr>
            <a:spLocks xmlns:a="http://schemas.openxmlformats.org/drawingml/2006/main" noGrp="1"/>
          </p:cNvSpPr>
          <p:nvPr/>
        </p:nvSpPr>
        <p:spPr>
          <a:xfrm xmlns:a="http://schemas.openxmlformats.org/drawingml/2006/main">
            <a:off x="609600" y="1428750"/>
            <a:ext cx="1047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08666"/>
                </a:solidFill>
                <a:latin typeface="Arial"/>
                <a:ea typeface="Arial"/>
                <a:cs typeface="Arial"/>
              </a:defRPr>
            </a:pPr>
            <a:r>
              <a:rPr sz="2550" b="1">
                <a:solidFill>
                  <a:srgbClr val="008666"/>
                </a:solidFill>
                <a:latin typeface="Arial"/>
                <a:ea typeface="Arial"/>
                <a:cs typeface="Arial"/>
              </a:rPr>
              <a:t>Direct probe on the ARM host</a:t>
            </a:r>
          </a:p>
        </p:txBody>
      </p:sp>
      <p:sp>
        <p:nvSpPr>
          <p:cNvPr id="3" name="">
            <a:extLst xmlns:a="http://schemas.openxmlformats.org/drawingml/2006/main">
              <a:ext uri="{FF2B5EF4-FFF2-40B4-BE49-F238E27FC236}">
                <a16:creationId xmlns:a16="http://schemas.microsoft.com/office/drawing/2014/main" id="{505EA69F-FD9B-4E98-A8C7-D8B470C4A157}"/>
              </a:ext>
            </a:extLst>
          </p:cNvPr>
          <p:cNvSpPr>
            <a:spLocks xmlns:a="http://schemas.openxmlformats.org/drawingml/2006/main" noGrp="1"/>
          </p:cNvSpPr>
          <p:nvPr/>
        </p:nvSpPr>
        <p:spPr>
          <a:xfrm xmlns:a="http://schemas.openxmlformats.org/drawingml/2006/main">
            <a:off x="609600" y="1990725"/>
            <a:ext cx="1095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50667F"/>
                </a:solidFill>
                <a:latin typeface="Arial"/>
                <a:ea typeface="Arial"/>
                <a:cs typeface="Arial"/>
              </a:defRPr>
            </a:pPr>
            <a:r>
              <a:rPr sz="1725" b="0">
                <a:solidFill>
                  <a:srgbClr val="50667F"/>
                </a:solidFill>
                <a:latin typeface="Arial"/>
                <a:ea typeface="Arial"/>
                <a:cs typeface="Arial"/>
              </a:rPr>
              <a:t>direct_mcp_service_probe, 2026-09-13 15:01:37 UTC</a:t>
            </a:r>
          </a:p>
        </p:txBody>
      </p:sp>
      <p:graphicFrame>
        <p:nvGraphicFramePr>
          <p:cNvPr id="10" name=""/>
          <p:cNvGraphicFramePr/>
          <p:nvPr/>
        </p:nvGraphicFramePr>
        <p:xfrm>
          <a:off xmlns:a="http://schemas.openxmlformats.org/drawingml/2006/main" x="609600" y="2552700"/>
          <a:ext xmlns:a="http://schemas.openxmlformats.org/drawingml/2006/main" cx="10972800" cy="3114675"/>
        </p:xfrm>
        <a:graphic xmlns:a="http://schemas.openxmlformats.org/drawingml/2006/main">
          <a:graphicData uri="http://schemas.openxmlformats.org/drawingml/2006/table">
            <a:tbl>
              <a:tblPr/>
              <a:tblGrid>
                <a:gridCol w="3143250"/>
                <a:gridCol w="7829550"/>
              </a:tblGrid>
              <a:tr h="571500">
                <a:tc>
                  <a:txBody>
                    <a:bodyPr/>
                    <a:lstStyle/>
                    <a:p>
                      <a:r>
                        <a:rPr sz="1800" b="1">
                          <a:solidFill>
                            <a:srgbClr val="FFFFFF"/>
                          </a:solidFill>
                          <a:latin typeface="Arial"/>
                          <a:ea typeface="Arial"/>
                          <a:cs typeface="Arial"/>
                        </a:rPr>
                        <a:t>Call</a:t>
                      </a:r>
                    </a:p>
                  </a:txBody>
                  <a:tcPr marL="91440" marR="91440" marT="45720" marB="45720">
                    <a:solidFill>
                      <a:srgbClr val="10243B"/>
                    </a:solidFill>
                  </a:tcPr>
                </a:tc>
                <a:tc>
                  <a:txBody>
                    <a:bodyPr/>
                    <a:lstStyle/>
                    <a:p>
                      <a:r>
                        <a:rPr sz="1800" b="1">
                          <a:solidFill>
                            <a:srgbClr val="FFFFFF"/>
                          </a:solidFill>
                          <a:latin typeface="Arial"/>
                          <a:ea typeface="Arial"/>
                          <a:cs typeface="Arial"/>
                        </a:rPr>
                        <a:t>Receipt output</a:t>
                      </a:r>
                    </a:p>
                  </a:txBody>
                  <a:tcPr marL="91440" marR="91440" marT="45720" marB="45720">
                    <a:solidFill>
                      <a:srgbClr val="10243B"/>
                    </a:solidFill>
                  </a:tcPr>
                </a:tc>
              </a:tr>
              <a:tr h="847725">
                <a:tc>
                  <a:txBody>
                    <a:bodyPr/>
                    <a:lstStyle/>
                    <a:p>
                      <a:r>
                        <a:rPr sz="2025" b="0">
                          <a:solidFill>
                            <a:srgbClr val="10243B"/>
                          </a:solidFill>
                          <a:latin typeface="Arial"/>
                          <a:ea typeface="Arial"/>
                          <a:cs typeface="Arial"/>
                        </a:rPr>
                        <a:t>read_allowed</a:t>
                      </a:r>
                    </a:p>
                  </a:txBody>
                  <a:tcPr marL="91440" marR="91440" marT="45720" marB="45720">
                    <a:solidFill>
                      <a:srgbClr val="FFFFFF"/>
                    </a:solidFill>
                  </a:tcPr>
                </a:tc>
                <a:tc>
                  <a:txBody>
                    <a:bodyPr/>
                    <a:lstStyle/>
                    <a:p>
                      <a:r>
                        <a:rPr sz="2025" b="0">
                          <a:solidFill>
                            <a:srgbClr val="10243B"/>
                          </a:solidFill>
                          <a:latin typeface="Arial"/>
                          <a:ea typeface="Arial"/>
                          <a:cs typeface="Arial"/>
                        </a:rPr>
                        <a:t>55 bytes</a:t>
                      </a:r>
                    </a:p>
                    <a:p>
                      <a:r>
                        <a:rPr sz="2025" b="0">
                          <a:solidFill>
                            <a:srgbClr val="10243B"/>
                          </a:solidFill>
                          <a:latin typeface="Arial"/>
                          <a:ea typeface="Arial"/>
                          <a:cs typeface="Arial"/>
                        </a:rPr>
                        <a:t>SHA256 34ebbefeb5f66527…</a:t>
                      </a:r>
                    </a:p>
                  </a:txBody>
                  <a:tcPr marL="91440" marR="91440" marT="45720" marB="45720">
                    <a:solidFill>
                      <a:srgbClr val="FFFFFF"/>
                    </a:solidFill>
                  </a:tcPr>
                </a:tc>
              </a:tr>
              <a:tr h="847725">
                <a:tc>
                  <a:txBody>
                    <a:bodyPr/>
                    <a:lstStyle/>
                    <a:p>
                      <a:r>
                        <a:rPr sz="2025" b="0">
                          <a:solidFill>
                            <a:srgbClr val="10243B"/>
                          </a:solidFill>
                          <a:latin typeface="Arial"/>
                          <a:ea typeface="Arial"/>
                          <a:cs typeface="Arial"/>
                        </a:rPr>
                        <a:t>mcp_denied</a:t>
                      </a:r>
                    </a:p>
                  </a:txBody>
                  <a:tcPr marL="91440" marR="91440" marT="45720" marB="45720">
                    <a:solidFill>
                      <a:srgbClr val="E9EFF6"/>
                    </a:solidFill>
                  </a:tcPr>
                </a:tc>
                <a:tc>
                  <a:txBody>
                    <a:bodyPr/>
                    <a:lstStyle/>
                    <a:p>
                      <a:r>
                        <a:rPr sz="2025" b="0">
                          <a:solidFill>
                            <a:srgbClr val="10243B"/>
                          </a:solidFill>
                          <a:latin typeface="Arial"/>
                          <a:ea typeface="Arial"/>
                          <a:cs typeface="Arial"/>
                        </a:rPr>
                        <a:t>tool_grant_denied</a:t>
                      </a:r>
                    </a:p>
                    <a:p>
                      <a:r>
                        <a:rPr sz="2025" b="0">
                          <a:solidFill>
                            <a:srgbClr val="10243B"/>
                          </a:solidFill>
                          <a:latin typeface="Arial"/>
                          <a:ea typeface="Arial"/>
                          <a:cs typeface="Arial"/>
                        </a:rPr>
                        <a:t>MCP stops the call before AWS</a:t>
                      </a:r>
                    </a:p>
                  </a:txBody>
                  <a:tcPr marL="91440" marR="91440" marT="45720" marB="45720">
                    <a:solidFill>
                      <a:srgbClr val="E9EFF6"/>
                    </a:solidFill>
                  </a:tcPr>
                </a:tc>
              </a:tr>
              <a:tr h="847725">
                <a:tc>
                  <a:txBody>
                    <a:bodyPr/>
                    <a:lstStyle/>
                    <a:p>
                      <a:r>
                        <a:rPr sz="2025" b="0">
                          <a:solidFill>
                            <a:srgbClr val="10243B"/>
                          </a:solidFill>
                          <a:latin typeface="Arial"/>
                          <a:ea typeface="Arial"/>
                          <a:cs typeface="Arial"/>
                        </a:rPr>
                        <a:t>iam_denied</a:t>
                      </a:r>
                    </a:p>
                  </a:txBody>
                  <a:tcPr marL="91440" marR="91440" marT="45720" marB="45720">
                    <a:solidFill>
                      <a:srgbClr val="FFFFFF"/>
                    </a:solidFill>
                  </a:tcPr>
                </a:tc>
                <a:tc>
                  <a:txBody>
                    <a:bodyPr/>
                    <a:lstStyle/>
                    <a:p>
                      <a:r>
                        <a:rPr sz="2025" b="0">
                          <a:solidFill>
                            <a:srgbClr val="10243B"/>
                          </a:solidFill>
                          <a:latin typeface="Arial"/>
                          <a:ea typeface="Arial"/>
                          <a:cs typeface="Arial"/>
                        </a:rPr>
                        <a:t>S3 AccessDenied, HTTP 403</a:t>
                      </a:r>
                    </a:p>
                    <a:p>
                      <a:r>
                        <a:rPr sz="2025" b="0">
                          <a:solidFill>
                            <a:srgbClr val="10243B"/>
                          </a:solidFill>
                          <a:latin typeface="Arial"/>
                          <a:ea typeface="Arial"/>
                          <a:cs typeface="Arial"/>
                        </a:rPr>
                        <a:t>Request ID BA5BT7K9765938BT</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9D7A10DF-BEC8-43BD-BCDF-B9BF97F0B981}"/>
              </a:ext>
            </a:extLst>
          </p:cNvPr>
          <p:cNvSpPr>
            <a:spLocks xmlns:a="http://schemas.openxmlformats.org/drawingml/2006/main" noGrp="1"/>
          </p:cNvSpPr>
          <p:nvPr/>
        </p:nvSpPr>
        <p:spPr>
          <a:xfrm xmlns:a="http://schemas.openxmlformats.org/drawingml/2006/main">
            <a:off x="609600" y="5876925"/>
            <a:ext cx="107632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50667F"/>
                </a:solidFill>
                <a:latin typeface="Arial"/>
                <a:ea typeface="Arial"/>
                <a:cs typeface="Arial"/>
              </a:defRPr>
            </a:pPr>
            <a:r>
              <a:rPr sz="1800" b="0">
                <a:solidFill>
                  <a:srgbClr val="50667F"/>
                </a:solidFill>
                <a:latin typeface="Arial"/>
                <a:ea typeface="Arial"/>
                <a:cs typeface="Arial"/>
              </a:rPr>
              <a:t>Unauthenticated request: 401. Discovery returned four tools.</a:t>
            </a:r>
          </a:p>
        </p:txBody>
      </p:sp>
      <p:sp>
        <p:nvSpPr>
          <p:cNvPr id="6" name="">
            <a:extLst xmlns:a="http://schemas.openxmlformats.org/drawingml/2006/main">
              <a:ext uri="{FF2B5EF4-FFF2-40B4-BE49-F238E27FC236}">
                <a16:creationId xmlns:a16="http://schemas.microsoft.com/office/drawing/2014/main" id="{F307AB68-473E-44C8-BAA5-7493BC72FF0A}"/>
              </a:ext>
            </a:extLst>
          </p:cNvPr>
          <p:cNvSpPr>
            <a:spLocks xmlns:a="http://schemas.openxmlformats.org/drawingml/2006/main" noGrp="1"/>
          </p:cNvSpPr>
          <p:nvPr/>
        </p:nvSpPr>
        <p:spPr>
          <a:xfrm xmlns:a="http://schemas.openxmlformats.org/drawingml/2006/main">
            <a:off x="609600" y="6286500"/>
            <a:ext cx="10763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1">
                <a:solidFill>
                  <a:srgbClr val="B62758"/>
                </a:solidFill>
                <a:latin typeface="Arial"/>
                <a:ea typeface="Arial"/>
                <a:cs typeface="Arial"/>
              </a:defRPr>
            </a:pPr>
            <a:r>
              <a:rPr sz="1875" b="1">
                <a:solidFill>
                  <a:srgbClr val="B62758"/>
                </a:solidFill>
                <a:latin typeface="Arial"/>
                <a:ea typeface="Arial"/>
                <a:cs typeface="Arial"/>
              </a:rPr>
              <a:t>Separate direct probe. Native Crew backend verified: false.</a:t>
            </a:r>
          </a:p>
        </p:txBody>
      </p:sp>
    </p:spTree>
    <p:extLst>
      <p:ext uri="{BB962C8B-B14F-4D97-AF65-F5344CB8AC3E}">
        <p14:creationId xmlns:p14="http://schemas.microsoft.com/office/powerpoint/2010/main" val="1561973754"/>
      </p:ext>
    </p:extLst>
  </p:cSld>
</p:sld>
</file>

<file path=ppt/slides/slide7.xml><?xml version="1.0" encoding="utf-8"?>
<p:sld xmlns:p="http://schemas.openxmlformats.org/presentationml/2006/main">
  <p:cSld>
    <p:bg>
      <p:bgPr>
        <a:solidFill xmlns:a="http://schemas.openxmlformats.org/drawingml/2006/main">
          <a:srgbClr val="F4F7FB"/>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BB913EF-FE15-422A-B3D5-0CAE2DCD13B4}"/>
              </a:ext>
            </a:extLst>
          </p:cNvPr>
          <p:cNvSpPr>
            <a:spLocks xmlns:a="http://schemas.openxmlformats.org/drawingml/2006/main" noGrp="1"/>
          </p:cNvSpPr>
          <p:nvPr/>
        </p:nvSpPr>
        <p:spPr>
          <a:xfrm xmlns:a="http://schemas.openxmlformats.org/drawingml/2006/main">
            <a:off x="609600" y="42862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0243B"/>
                </a:solidFill>
                <a:latin typeface="Arial"/>
                <a:ea typeface="Arial"/>
                <a:cs typeface="Arial"/>
              </a:defRPr>
            </a:pPr>
            <a:r>
              <a:rPr sz="3300" b="1">
                <a:solidFill>
                  <a:srgbClr val="10243B"/>
                </a:solidFill>
                <a:latin typeface="Arial"/>
                <a:ea typeface="Arial"/>
                <a:cs typeface="Arial"/>
              </a:rPr>
              <a:t>Client and server nightly baselines</a:t>
            </a:r>
          </a:p>
        </p:txBody>
      </p:sp>
      <p:sp>
        <p:nvSpPr>
          <p:cNvPr id="2" name="">
            <a:extLst xmlns:a="http://schemas.openxmlformats.org/drawingml/2006/main">
              <a:ext uri="{FF2B5EF4-FFF2-40B4-BE49-F238E27FC236}">
                <a16:creationId xmlns:a16="http://schemas.microsoft.com/office/drawing/2014/main" id="{C55AB647-A5D2-4F36-ADA1-C14BC2759B50}"/>
              </a:ext>
            </a:extLst>
          </p:cNvPr>
          <p:cNvSpPr>
            <a:spLocks xmlns:a="http://schemas.openxmlformats.org/drawingml/2006/main" noGrp="1"/>
          </p:cNvSpPr>
          <p:nvPr/>
        </p:nvSpPr>
        <p:spPr>
          <a:xfrm xmlns:a="http://schemas.openxmlformats.org/drawingml/2006/main">
            <a:off x="609600" y="1466850"/>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008666"/>
                </a:solidFill>
                <a:latin typeface="Arial"/>
                <a:ea typeface="Arial"/>
                <a:cs typeface="Arial"/>
              </a:defRPr>
            </a:pPr>
            <a:r>
              <a:rPr sz="2400" b="1">
                <a:solidFill>
                  <a:srgbClr val="008666"/>
                </a:solidFill>
                <a:latin typeface="Arial"/>
                <a:ea typeface="Arial"/>
                <a:cs typeface="Arial"/>
              </a:rPr>
              <a:t>Mac client · September 13</a:t>
            </a:r>
          </a:p>
        </p:txBody>
      </p:sp>
      <p:sp>
        <p:nvSpPr>
          <p:cNvPr id="3" name="">
            <a:extLst xmlns:a="http://schemas.openxmlformats.org/drawingml/2006/main">
              <a:ext uri="{FF2B5EF4-FFF2-40B4-BE49-F238E27FC236}">
                <a16:creationId xmlns:a16="http://schemas.microsoft.com/office/drawing/2014/main" id="{13163A2E-5938-4665-80DB-A43DB998BC0D}"/>
              </a:ext>
            </a:extLst>
          </p:cNvPr>
          <p:cNvSpPr>
            <a:spLocks xmlns:a="http://schemas.openxmlformats.org/drawingml/2006/main" noGrp="1"/>
          </p:cNvSpPr>
          <p:nvPr/>
        </p:nvSpPr>
        <p:spPr>
          <a:xfrm xmlns:a="http://schemas.openxmlformats.org/drawingml/2006/main">
            <a:off x="609600" y="2133600"/>
            <a:ext cx="10763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10243B"/>
                </a:solidFill>
                <a:latin typeface="Arial"/>
                <a:ea typeface="Arial"/>
                <a:cs typeface="Arial"/>
              </a:defRPr>
            </a:pPr>
            <a:r>
              <a:rPr sz="2175" b="0">
                <a:solidFill>
                  <a:srgbClr val="10243B"/>
                </a:solidFill>
                <a:latin typeface="Arial"/>
                <a:ea typeface="Arial"/>
                <a:cs typeface="Arial"/>
              </a:rPr>
              <a:t>0.7.0-nightly.20260913t061222</a:t>
            </a:r>
          </a:p>
          <a:p xmlns:a="http://schemas.openxmlformats.org/drawingml/2006/main">
            <a:pPr>
              <a:defRPr sz="2175" b="0">
                <a:solidFill>
                  <a:srgbClr val="10243B"/>
                </a:solidFill>
                <a:latin typeface="Arial"/>
                <a:ea typeface="Arial"/>
                <a:cs typeface="Arial"/>
              </a:defRPr>
            </a:pPr>
            <a:r>
              <a:rPr sz="2175" b="0">
                <a:solidFill>
                  <a:srgbClr val="10243B"/>
                </a:solidFill>
                <a:latin typeface="Arial"/>
                <a:ea typeface="Arial"/>
                <a:cs typeface="Arial"/>
              </a:rPr>
              <a:t>48 RECORD file checks passed across arm64 and x64 bundles</a:t>
            </a:r>
          </a:p>
        </p:txBody>
      </p:sp>
      <p:sp>
        <p:nvSpPr>
          <p:cNvPr id="4" name="">
            <a:extLst xmlns:a="http://schemas.openxmlformats.org/drawingml/2006/main">
              <a:ext uri="{FF2B5EF4-FFF2-40B4-BE49-F238E27FC236}">
                <a16:creationId xmlns:a16="http://schemas.microsoft.com/office/drawing/2014/main" id="{7282553D-0A28-4683-9A06-671D77B19BAB}"/>
              </a:ext>
            </a:extLst>
          </p:cNvPr>
          <p:cNvSpPr>
            <a:spLocks xmlns:a="http://schemas.openxmlformats.org/drawingml/2006/main" noGrp="1"/>
          </p:cNvSpPr>
          <p:nvPr/>
        </p:nvSpPr>
        <p:spPr>
          <a:xfrm xmlns:a="http://schemas.openxmlformats.org/drawingml/2006/main">
            <a:off x="609600" y="3533775"/>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008666"/>
                </a:solidFill>
                <a:latin typeface="Arial"/>
                <a:ea typeface="Arial"/>
                <a:cs typeface="Arial"/>
              </a:defRPr>
            </a:pPr>
            <a:r>
              <a:rPr sz="2400" b="1">
                <a:solidFill>
                  <a:srgbClr val="008666"/>
                </a:solidFill>
                <a:latin typeface="Arial"/>
                <a:ea typeface="Arial"/>
                <a:cs typeface="Arial"/>
              </a:rPr>
              <a:t>EC2 server · frozen September 12</a:t>
            </a:r>
          </a:p>
        </p:txBody>
      </p:sp>
      <p:sp>
        <p:nvSpPr>
          <p:cNvPr id="5" name="">
            <a:extLst xmlns:a="http://schemas.openxmlformats.org/drawingml/2006/main">
              <a:ext uri="{FF2B5EF4-FFF2-40B4-BE49-F238E27FC236}">
                <a16:creationId xmlns:a16="http://schemas.microsoft.com/office/drawing/2014/main" id="{B34E1325-6A17-4B1E-B89B-F2993EC51F41}"/>
              </a:ext>
            </a:extLst>
          </p:cNvPr>
          <p:cNvSpPr>
            <a:spLocks xmlns:a="http://schemas.openxmlformats.org/drawingml/2006/main" noGrp="1"/>
          </p:cNvSpPr>
          <p:nvPr/>
        </p:nvSpPr>
        <p:spPr>
          <a:xfrm xmlns:a="http://schemas.openxmlformats.org/drawingml/2006/main">
            <a:off x="609600" y="4200525"/>
            <a:ext cx="10763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10243B"/>
                </a:solidFill>
                <a:latin typeface="Arial"/>
                <a:ea typeface="Arial"/>
                <a:cs typeface="Arial"/>
              </a:defRPr>
            </a:pPr>
            <a:r>
              <a:rPr sz="2175" b="0">
                <a:solidFill>
                  <a:srgbClr val="10243B"/>
                </a:solidFill>
                <a:latin typeface="Arial"/>
                <a:ea typeface="Arial"/>
                <a:cs typeface="Arial"/>
              </a:rPr>
              <a:t>0.7.0-nightly.20260912t060850</a:t>
            </a:r>
          </a:p>
          <a:p xmlns:a="http://schemas.openxmlformats.org/drawingml/2006/main">
            <a:pPr>
              <a:defRPr sz="2175" b="0">
                <a:solidFill>
                  <a:srgbClr val="10243B"/>
                </a:solidFill>
                <a:latin typeface="Arial"/>
                <a:ea typeface="Arial"/>
                <a:cs typeface="Arial"/>
              </a:defRPr>
            </a:pPr>
            <a:r>
              <a:rPr sz="2175" b="0">
                <a:solidFill>
                  <a:srgbClr val="10243B"/>
                </a:solidFill>
                <a:latin typeface="Arial"/>
                <a:ea typeface="Arial"/>
                <a:cs typeface="Arial"/>
              </a:rPr>
              <a:t>Unofficial Linux ARM64 repack; 24 selected modules match</a:t>
            </a:r>
          </a:p>
        </p:txBody>
      </p:sp>
      <p:sp>
        <p:nvSpPr>
          <p:cNvPr id="6" name="">
            <a:extLst xmlns:a="http://schemas.openxmlformats.org/drawingml/2006/main">
              <a:ext uri="{FF2B5EF4-FFF2-40B4-BE49-F238E27FC236}">
                <a16:creationId xmlns:a16="http://schemas.microsoft.com/office/drawing/2014/main" id="{D294ECFA-E7F2-4D60-8ABA-D6D9E4BA95A7}"/>
              </a:ext>
            </a:extLst>
          </p:cNvPr>
          <p:cNvSpPr>
            <a:spLocks xmlns:a="http://schemas.openxmlformats.org/drawingml/2006/main" noGrp="1"/>
          </p:cNvSpPr>
          <p:nvPr/>
        </p:nvSpPr>
        <p:spPr>
          <a:xfrm xmlns:a="http://schemas.openxmlformats.org/drawingml/2006/main">
            <a:off x="609600" y="5334000"/>
            <a:ext cx="1085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10243B"/>
                </a:solidFill>
                <a:latin typeface="Arial"/>
                <a:ea typeface="Arial"/>
                <a:cs typeface="Arial"/>
              </a:defRPr>
            </a:pPr>
            <a:r>
              <a:rPr sz="1800" b="0">
                <a:solidFill>
                  <a:srgbClr val="10243B"/>
                </a:solidFill>
                <a:latin typeface="Arial"/>
                <a:ea typeface="Arial"/>
                <a:cs typeface="Arial"/>
              </a:rPr>
              <a:t>Different nightly builds; behavioral equivalence is unverified.</a:t>
            </a:r>
          </a:p>
        </p:txBody>
      </p:sp>
      <p:sp>
        <p:nvSpPr>
          <p:cNvPr id="7" name="">
            <a:extLst xmlns:a="http://schemas.openxmlformats.org/drawingml/2006/main">
              <a:ext uri="{FF2B5EF4-FFF2-40B4-BE49-F238E27FC236}">
                <a16:creationId xmlns:a16="http://schemas.microsoft.com/office/drawing/2014/main" id="{5C8BD00E-4E9D-4BD9-913B-CB3B931004A3}"/>
              </a:ext>
            </a:extLst>
          </p:cNvPr>
          <p:cNvSpPr>
            <a:spLocks xmlns:a="http://schemas.openxmlformats.org/drawingml/2006/main" noGrp="1"/>
          </p:cNvSpPr>
          <p:nvPr/>
        </p:nvSpPr>
        <p:spPr>
          <a:xfrm xmlns:a="http://schemas.openxmlformats.org/drawingml/2006/main">
            <a:off x="609600" y="5753100"/>
            <a:ext cx="1085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10243B"/>
                </a:solidFill>
                <a:latin typeface="Arial"/>
                <a:ea typeface="Arial"/>
                <a:cs typeface="Arial"/>
              </a:defRPr>
            </a:pPr>
            <a:r>
              <a:rPr sz="1800" b="0">
                <a:solidFill>
                  <a:srgbClr val="10243B"/>
                </a:solidFill>
                <a:latin typeface="Arial"/>
                <a:ea typeface="Arial"/>
                <a:cs typeface="Arial"/>
              </a:rPr>
              <a:t>Selected backend: Kiro CLI 2.21.4</a:t>
            </a:r>
          </a:p>
        </p:txBody>
      </p:sp>
      <p:sp>
        <p:nvSpPr>
          <p:cNvPr id="8" name="">
            <a:extLst xmlns:a="http://schemas.openxmlformats.org/drawingml/2006/main">
              <a:ext uri="{FF2B5EF4-FFF2-40B4-BE49-F238E27FC236}">
                <a16:creationId xmlns:a16="http://schemas.microsoft.com/office/drawing/2014/main" id="{22472EB1-EBA2-4B37-912D-86140B339E3D}"/>
              </a:ext>
            </a:extLst>
          </p:cNvPr>
          <p:cNvSpPr>
            <a:spLocks xmlns:a="http://schemas.openxmlformats.org/drawingml/2006/main" noGrp="1"/>
          </p:cNvSpPr>
          <p:nvPr/>
        </p:nvSpPr>
        <p:spPr>
          <a:xfrm xmlns:a="http://schemas.openxmlformats.org/drawingml/2006/main">
            <a:off x="609600" y="6229350"/>
            <a:ext cx="10858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1">
                <a:solidFill>
                  <a:srgbClr val="B62758"/>
                </a:solidFill>
                <a:latin typeface="Arial"/>
                <a:ea typeface="Arial"/>
                <a:cs typeface="Arial"/>
              </a:defRPr>
            </a:pPr>
            <a:r>
              <a:rPr sz="1875" b="1">
                <a:solidFill>
                  <a:srgbClr val="B62758"/>
                </a:solidFill>
                <a:latin typeface="Arial"/>
                <a:ea typeface="Arial"/>
                <a:cs typeface="Arial"/>
              </a:rPr>
              <a:t>Kiro CLI is not logged in. Native session remains pending.</a:t>
            </a:r>
          </a:p>
        </p:txBody>
      </p:sp>
    </p:spTree>
    <p:extLst>
      <p:ext uri="{BB962C8B-B14F-4D97-AF65-F5344CB8AC3E}">
        <p14:creationId xmlns:p14="http://schemas.microsoft.com/office/powerpoint/2010/main" val="737605045"/>
      </p:ext>
    </p:extLst>
  </p:cSld>
</p:sld>
</file>

<file path=ppt/slides/slide8.xml><?xml version="1.0" encoding="utf-8"?>
<p:sld xmlns:p="http://schemas.openxmlformats.org/presentationml/2006/main">
  <p:cSld>
    <p:bg>
      <p:bgPr>
        <a:solidFill xmlns:a="http://schemas.openxmlformats.org/drawingml/2006/main">
          <a:srgbClr val="F4F7FB"/>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D844ECA-1A05-4BF5-88C3-88E94CEEB3E6}"/>
              </a:ext>
            </a:extLst>
          </p:cNvPr>
          <p:cNvSpPr>
            <a:spLocks xmlns:a="http://schemas.openxmlformats.org/drawingml/2006/main" noGrp="1"/>
          </p:cNvSpPr>
          <p:nvPr/>
        </p:nvSpPr>
        <p:spPr>
          <a:xfrm xmlns:a="http://schemas.openxmlformats.org/drawingml/2006/main">
            <a:off x="609600" y="42862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0243B"/>
                </a:solidFill>
                <a:latin typeface="Arial"/>
                <a:ea typeface="Arial"/>
                <a:cs typeface="Arial"/>
              </a:defRPr>
            </a:pPr>
            <a:r>
              <a:rPr sz="3300" b="1">
                <a:solidFill>
                  <a:srgbClr val="10243B"/>
                </a:solidFill>
                <a:latin typeface="Arial"/>
                <a:ea typeface="Arial"/>
                <a:cs typeface="Arial"/>
              </a:rPr>
              <a:t>Native Gateway telemetry</a:t>
            </a:r>
          </a:p>
        </p:txBody>
      </p:sp>
      <p:sp>
        <p:nvSpPr>
          <p:cNvPr id="2" name="">
            <a:extLst xmlns:a="http://schemas.openxmlformats.org/drawingml/2006/main">
              <a:ext uri="{FF2B5EF4-FFF2-40B4-BE49-F238E27FC236}">
                <a16:creationId xmlns:a16="http://schemas.microsoft.com/office/drawing/2014/main" id="{7F7902EB-8384-42C7-867C-4E5224DA22C1}"/>
              </a:ext>
            </a:extLst>
          </p:cNvPr>
          <p:cNvSpPr>
            <a:spLocks xmlns:a="http://schemas.openxmlformats.org/drawingml/2006/main" noGrp="1"/>
          </p:cNvSpPr>
          <p:nvPr/>
        </p:nvSpPr>
        <p:spPr>
          <a:xfrm xmlns:a="http://schemas.openxmlformats.org/drawingml/2006/main">
            <a:off x="609600" y="138112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325" b="1">
                <a:solidFill>
                  <a:srgbClr val="008666"/>
                </a:solidFill>
                <a:latin typeface="Arial"/>
                <a:ea typeface="Arial"/>
                <a:cs typeface="Arial"/>
              </a:defRPr>
            </a:pPr>
            <a:r>
              <a:rPr sz="2325" b="1">
                <a:solidFill>
                  <a:srgbClr val="008666"/>
                </a:solidFill>
                <a:latin typeface="Arial"/>
                <a:ea typeface="Arial"/>
                <a:cs typeface="Arial"/>
              </a:rPr>
              <a:t>Developer → Telemetry → Latency</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544dc849e1dc4c24"/>
          <a:srcRect xmlns:a="http://schemas.openxmlformats.org/drawingml/2006/main" l="23300" t="42500" r="2000" b="17000"/>
          <a:stretch xmlns:a="http://schemas.openxmlformats.org/drawingml/2006/main">
            <a:fillRect l="0" t="0" r="0" b="0"/>
          </a:stretch>
        </p:blipFill>
        <p:spPr>
          <a:xfrm xmlns:a="http://schemas.openxmlformats.org/drawingml/2006/main">
            <a:off x="609600" y="2076450"/>
            <a:ext cx="10972800" cy="334327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64A647A8-1134-4E2D-816D-7916D5C65424}"/>
              </a:ext>
            </a:extLst>
          </p:cNvPr>
          <p:cNvSpPr>
            <a:spLocks xmlns:a="http://schemas.openxmlformats.org/drawingml/2006/main" noGrp="1"/>
          </p:cNvSpPr>
          <p:nvPr/>
        </p:nvSpPr>
        <p:spPr>
          <a:xfrm xmlns:a="http://schemas.openxmlformats.org/drawingml/2006/main">
            <a:off x="609600" y="5553075"/>
            <a:ext cx="10972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50667F"/>
                </a:solidFill>
                <a:latin typeface="Arial"/>
                <a:ea typeface="Arial"/>
                <a:cs typeface="Arial"/>
              </a:defRPr>
            </a:pPr>
            <a:r>
              <a:rPr sz="1800" b="0">
                <a:solidFill>
                  <a:srgbClr val="50667F"/>
                </a:solidFill>
                <a:latin typeface="Arial"/>
                <a:ea typeface="Arial"/>
                <a:cs typeface="Arial"/>
              </a:rPr>
              <a:t>14 d display window · 7 d retention · 64 MiB target</a:t>
            </a:r>
          </a:p>
        </p:txBody>
      </p:sp>
      <p:sp>
        <p:nvSpPr>
          <p:cNvPr id="5" name="">
            <a:extLst xmlns:a="http://schemas.openxmlformats.org/drawingml/2006/main">
              <a:ext uri="{FF2B5EF4-FFF2-40B4-BE49-F238E27FC236}">
                <a16:creationId xmlns:a16="http://schemas.microsoft.com/office/drawing/2014/main" id="{01F6E77A-960F-444E-A249-73812D1C2CB3}"/>
              </a:ext>
            </a:extLst>
          </p:cNvPr>
          <p:cNvSpPr>
            <a:spLocks xmlns:a="http://schemas.openxmlformats.org/drawingml/2006/main" noGrp="1"/>
          </p:cNvSpPr>
          <p:nvPr/>
        </p:nvSpPr>
        <p:spPr>
          <a:xfrm xmlns:a="http://schemas.openxmlformats.org/drawingml/2006/main">
            <a:off x="609600" y="5924550"/>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50667F"/>
                </a:solidFill>
                <a:latin typeface="Arial"/>
                <a:ea typeface="Arial"/>
                <a:cs typeface="Arial"/>
              </a:defRPr>
            </a:pPr>
            <a:r>
              <a:rPr sz="1800" b="0">
                <a:solidFill>
                  <a:srgbClr val="50667F"/>
                </a:solidFill>
                <a:latin typeface="Arial"/>
                <a:ea typeface="Arial"/>
                <a:cs typeface="Arial"/>
              </a:rPr>
              <a:t>Local export: 10 s · no OTLP · usage reporting off</a:t>
            </a:r>
          </a:p>
        </p:txBody>
      </p:sp>
      <p:sp>
        <p:nvSpPr>
          <p:cNvPr id="6" name="">
            <a:extLst xmlns:a="http://schemas.openxmlformats.org/drawingml/2006/main">
              <a:ext uri="{FF2B5EF4-FFF2-40B4-BE49-F238E27FC236}">
                <a16:creationId xmlns:a16="http://schemas.microsoft.com/office/drawing/2014/main" id="{398DB50B-AC6C-440C-8B42-75F663D6A3A8}"/>
              </a:ext>
            </a:extLst>
          </p:cNvPr>
          <p:cNvSpPr>
            <a:spLocks xmlns:a="http://schemas.openxmlformats.org/drawingml/2006/main" noGrp="1"/>
          </p:cNvSpPr>
          <p:nvPr/>
        </p:nvSpPr>
        <p:spPr>
          <a:xfrm xmlns:a="http://schemas.openxmlformats.org/drawingml/2006/main">
            <a:off x="609600" y="6305550"/>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1">
                <a:solidFill>
                  <a:srgbClr val="B62758"/>
                </a:solidFill>
                <a:latin typeface="Arial"/>
                <a:ea typeface="Arial"/>
                <a:cs typeface="Arial"/>
              </a:defRPr>
            </a:pPr>
            <a:r>
              <a:rPr sz="1725" b="1">
                <a:solidFill>
                  <a:srgbClr val="B62758"/>
                </a:solidFill>
                <a:latin typeface="Arial"/>
                <a:ea typeface="Arial"/>
                <a:cs typeface="Arial"/>
              </a:rPr>
              <a:t>Gateway metrics present. Native model-session metrics remain pending.</a:t>
            </a:r>
          </a:p>
        </p:txBody>
      </p:sp>
    </p:spTree>
    <p:extLst>
      <p:ext uri="{BB962C8B-B14F-4D97-AF65-F5344CB8AC3E}">
        <p14:creationId xmlns:p14="http://schemas.microsoft.com/office/powerpoint/2010/main" val="1135846506"/>
      </p:ext>
    </p:extLst>
  </p:cSld>
</p:sld>
</file>

<file path=ppt/slides/slide9.xml><?xml version="1.0" encoding="utf-8"?>
<p:sld xmlns:p="http://schemas.openxmlformats.org/presentationml/2006/main">
  <p:cSld>
    <p:bg>
      <p:bgPr>
        <a:solidFill xmlns:a="http://schemas.openxmlformats.org/drawingml/2006/main">
          <a:srgbClr val="F4F7FB"/>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01D5479-6F92-4DC1-A9E1-902C7D5EC45E}"/>
              </a:ext>
            </a:extLst>
          </p:cNvPr>
          <p:cNvSpPr>
            <a:spLocks xmlns:a="http://schemas.openxmlformats.org/drawingml/2006/main" noGrp="1"/>
          </p:cNvSpPr>
          <p:nvPr/>
        </p:nvSpPr>
        <p:spPr>
          <a:xfrm xmlns:a="http://schemas.openxmlformats.org/drawingml/2006/main">
            <a:off x="609600" y="42862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0243B"/>
                </a:solidFill>
                <a:latin typeface="Arial"/>
                <a:ea typeface="Arial"/>
                <a:cs typeface="Arial"/>
              </a:defRPr>
            </a:pPr>
            <a:r>
              <a:rPr sz="3300" b="1">
                <a:solidFill>
                  <a:srgbClr val="10243B"/>
                </a:solidFill>
                <a:latin typeface="Arial"/>
                <a:ea typeface="Arial"/>
                <a:cs typeface="Arial"/>
              </a:rPr>
              <a:t>Client and server in Demo Observability</a:t>
            </a:r>
          </a:p>
        </p:txBody>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eb81634a35144a36"/>
          <a:srcRect xmlns:a="http://schemas.openxmlformats.org/drawingml/2006/main" l="7900" t="8600" r="2600" b="27800"/>
          <a:stretch xmlns:a="http://schemas.openxmlformats.org/drawingml/2006/main">
            <a:fillRect l="0" t="0" r="0" b="0"/>
          </a:stretch>
        </p:blipFill>
        <p:spPr>
          <a:xfrm xmlns:a="http://schemas.openxmlformats.org/drawingml/2006/main">
            <a:off x="609600" y="1362075"/>
            <a:ext cx="10972800" cy="43624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26D93C7F-3444-4D14-B418-6CAB8865C59E}"/>
              </a:ext>
            </a:extLst>
          </p:cNvPr>
          <p:cNvSpPr>
            <a:spLocks xmlns:a="http://schemas.openxmlformats.org/drawingml/2006/main" noGrp="1"/>
          </p:cNvSpPr>
          <p:nvPr/>
        </p:nvSpPr>
        <p:spPr>
          <a:xfrm xmlns:a="http://schemas.openxmlformats.org/drawingml/2006/main">
            <a:off x="609600" y="5924550"/>
            <a:ext cx="10972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50667F"/>
                </a:solidFill>
                <a:latin typeface="Arial"/>
                <a:ea typeface="Arial"/>
                <a:cs typeface="Arial"/>
              </a:defRPr>
            </a:pPr>
            <a:r>
              <a:rPr sz="1725" b="0">
                <a:solidFill>
                  <a:srgbClr val="50667F"/>
                </a:solidFill>
                <a:latin typeface="Arial"/>
                <a:ea typeface="Arial"/>
                <a:cs typeface="Arial"/>
              </a:rPr>
              <a:t>Collect 60 s · Refresh 15 s · Stale 180 s · 240 samples/source · App :9102</a:t>
            </a:r>
          </a:p>
        </p:txBody>
      </p:sp>
      <p:sp>
        <p:nvSpPr>
          <p:cNvPr id="4" name="">
            <a:extLst xmlns:a="http://schemas.openxmlformats.org/drawingml/2006/main">
              <a:ext uri="{FF2B5EF4-FFF2-40B4-BE49-F238E27FC236}">
                <a16:creationId xmlns:a16="http://schemas.microsoft.com/office/drawing/2014/main" id="{C5810329-BE27-45E9-9A1D-559089D87084}"/>
              </a:ext>
            </a:extLst>
          </p:cNvPr>
          <p:cNvSpPr>
            <a:spLocks xmlns:a="http://schemas.openxmlformats.org/drawingml/2006/main" noGrp="1"/>
          </p:cNvSpPr>
          <p:nvPr/>
        </p:nvSpPr>
        <p:spPr>
          <a:xfrm xmlns:a="http://schemas.openxmlformats.org/drawingml/2006/main">
            <a:off x="609600" y="6353175"/>
            <a:ext cx="10972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10243B"/>
                </a:solidFill>
                <a:latin typeface="Arial"/>
                <a:ea typeface="Arial"/>
                <a:cs typeface="Arial"/>
              </a:defRPr>
            </a:pPr>
            <a:r>
              <a:rPr sz="1725" b="0">
                <a:solidFill>
                  <a:srgbClr val="10243B"/>
                </a:solidFill>
                <a:latin typeface="Arial"/>
                <a:ea typeface="Arial"/>
                <a:cs typeface="Arial"/>
              </a:rPr>
              <a:t>EDT (UTC−4). Client CPU: process family; server: whole host. Methods differ.</a:t>
            </a:r>
          </a:p>
        </p:txBody>
      </p:sp>
    </p:spTree>
    <p:extLst>
      <p:ext uri="{BB962C8B-B14F-4D97-AF65-F5344CB8AC3E}">
        <p14:creationId xmlns:p14="http://schemas.microsoft.com/office/powerpoint/2010/main" val="2101183529"/>
      </p:ext>
    </p:extLst>
  </p:cSld>
</p:sld>
</file>

<file path=ppt/slides/slide10.xml><?xml version="1.0" encoding="utf-8"?>
<p:sld xmlns:p="http://schemas.openxmlformats.org/presentationml/2006/main">
  <p:cSld>
    <p:bg>
      <p:bgPr>
        <a:solidFill xmlns:a="http://schemas.openxmlformats.org/drawingml/2006/main">
          <a:srgbClr val="F4F7FB"/>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B75098F-CDAB-4AD3-ABC7-0E3CB84BA21F}"/>
              </a:ext>
            </a:extLst>
          </p:cNvPr>
          <p:cNvSpPr>
            <a:spLocks xmlns:a="http://schemas.openxmlformats.org/drawingml/2006/main" noGrp="1"/>
          </p:cNvSpPr>
          <p:nvPr/>
        </p:nvSpPr>
        <p:spPr>
          <a:xfrm xmlns:a="http://schemas.openxmlformats.org/drawingml/2006/main">
            <a:off x="609600" y="42862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0243B"/>
                </a:solidFill>
                <a:latin typeface="Arial"/>
                <a:ea typeface="Arial"/>
                <a:cs typeface="Arial"/>
              </a:defRPr>
            </a:pPr>
            <a:r>
              <a:rPr sz="3300" b="1">
                <a:solidFill>
                  <a:srgbClr val="10243B"/>
                </a:solidFill>
                <a:latin typeface="Arial"/>
                <a:ea typeface="Arial"/>
                <a:cs typeface="Arial"/>
              </a:rPr>
              <a:t>Close the client; the server keeps running</a:t>
            </a:r>
          </a:p>
        </p:txBody>
      </p:sp>
      <p:sp>
        <p:nvSpPr>
          <p:cNvPr id="2" name="">
            <a:extLst xmlns:a="http://schemas.openxmlformats.org/drawingml/2006/main">
              <a:ext uri="{FF2B5EF4-FFF2-40B4-BE49-F238E27FC236}">
                <a16:creationId xmlns:a16="http://schemas.microsoft.com/office/drawing/2014/main" id="{B83FD757-A23D-4268-8B84-2AF65B0E7244}"/>
              </a:ext>
            </a:extLst>
          </p:cNvPr>
          <p:cNvSpPr>
            <a:spLocks xmlns:a="http://schemas.openxmlformats.org/drawingml/2006/main" noGrp="1"/>
          </p:cNvSpPr>
          <p:nvPr/>
        </p:nvSpPr>
        <p:spPr>
          <a:xfrm xmlns:a="http://schemas.openxmlformats.org/drawingml/2006/main">
            <a:off x="609600" y="141922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a:solidFill>
                  <a:srgbClr val="008666"/>
                </a:solidFill>
                <a:latin typeface="Arial"/>
                <a:ea typeface="Arial"/>
                <a:cs typeface="Arial"/>
              </a:defRPr>
            </a:pPr>
            <a:r>
              <a:rPr sz="2025" b="1">
                <a:solidFill>
                  <a:srgbClr val="008666"/>
                </a:solidFill>
                <a:latin typeface="Arial"/>
                <a:ea typeface="Arial"/>
                <a:cs typeface="Arial"/>
              </a:rPr>
              <a:t>Stopped sample: 14:44:42 UTC · Recovery sample: 14:49:34 UTC</a:t>
            </a:r>
          </a:p>
        </p:txBody>
      </p:sp>
      <p:sp>
        <p:nvSpPr>
          <p:cNvPr id="3" name="">
            <a:extLst xmlns:a="http://schemas.openxmlformats.org/drawingml/2006/main">
              <a:ext uri="{FF2B5EF4-FFF2-40B4-BE49-F238E27FC236}">
                <a16:creationId xmlns:a16="http://schemas.microsoft.com/office/drawing/2014/main" id="{696B754F-6951-4D92-8470-27442EAF8250}"/>
              </a:ext>
            </a:extLst>
          </p:cNvPr>
          <p:cNvSpPr>
            <a:spLocks xmlns:a="http://schemas.openxmlformats.org/drawingml/2006/main" noGrp="1"/>
          </p:cNvSpPr>
          <p:nvPr/>
        </p:nvSpPr>
        <p:spPr>
          <a:xfrm xmlns:a="http://schemas.openxmlformats.org/drawingml/2006/main">
            <a:off x="609600" y="1952625"/>
            <a:ext cx="10972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50667F"/>
                </a:solidFill>
                <a:latin typeface="Arial"/>
                <a:ea typeface="Arial"/>
                <a:cs typeface="Arial"/>
              </a:defRPr>
            </a:pPr>
            <a:r>
              <a:rPr sz="1725" b="0">
                <a:solidFill>
                  <a:srgbClr val="50667F"/>
                </a:solidFill>
                <a:latin typeface="Arial"/>
                <a:ea typeface="Arial"/>
                <a:cs typeface="Arial"/>
              </a:rPr>
              <a:t>Screenshot clocks: EDT (UTC−4)</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730c83c6b6c941c8"/>
          <a:srcRect xmlns:a="http://schemas.openxmlformats.org/drawingml/2006/main" l="8000" t="38900" r="2500" b="16300"/>
          <a:stretch xmlns:a="http://schemas.openxmlformats.org/drawingml/2006/main">
            <a:fillRect l="0" t="0" r="0" b="0"/>
          </a:stretch>
        </p:blipFill>
        <p:spPr>
          <a:xfrm xmlns:a="http://schemas.openxmlformats.org/drawingml/2006/main">
            <a:off x="609600" y="2324100"/>
            <a:ext cx="10972800" cy="30861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680B0831-C482-4DAA-83A4-B6927A8681D6}"/>
              </a:ext>
            </a:extLst>
          </p:cNvPr>
          <p:cNvSpPr>
            <a:spLocks xmlns:a="http://schemas.openxmlformats.org/drawingml/2006/main" noGrp="1"/>
          </p:cNvSpPr>
          <p:nvPr/>
        </p:nvSpPr>
        <p:spPr>
          <a:xfrm xmlns:a="http://schemas.openxmlformats.org/drawingml/2006/main">
            <a:off x="609600" y="581025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a:solidFill>
                  <a:srgbClr val="10243B"/>
                </a:solidFill>
                <a:latin typeface="Arial"/>
                <a:ea typeface="Arial"/>
                <a:cs typeface="Arial"/>
              </a:defRPr>
            </a:pPr>
            <a:r>
              <a:rPr sz="2025" b="1">
                <a:solidFill>
                  <a:srgbClr val="10243B"/>
                </a:solidFill>
                <a:latin typeface="Arial"/>
                <a:ea typeface="Arial"/>
                <a:cs typeface="Arial"/>
              </a:rPr>
              <a:t>Per receipt: Gateway PID 4991, started 14:26:10 UTC, unchanged.</a:t>
            </a:r>
          </a:p>
        </p:txBody>
      </p:sp>
      <p:sp>
        <p:nvSpPr>
          <p:cNvPr id="6" name="">
            <a:extLst xmlns:a="http://schemas.openxmlformats.org/drawingml/2006/main">
              <a:ext uri="{FF2B5EF4-FFF2-40B4-BE49-F238E27FC236}">
                <a16:creationId xmlns:a16="http://schemas.microsoft.com/office/drawing/2014/main" id="{69FCA68A-4D93-4862-9FE2-94517E45B910}"/>
              </a:ext>
            </a:extLst>
          </p:cNvPr>
          <p:cNvSpPr>
            <a:spLocks xmlns:a="http://schemas.openxmlformats.org/drawingml/2006/main" noGrp="1"/>
          </p:cNvSpPr>
          <p:nvPr/>
        </p:nvSpPr>
        <p:spPr>
          <a:xfrm xmlns:a="http://schemas.openxmlformats.org/drawingml/2006/main">
            <a:off x="609600" y="6305550"/>
            <a:ext cx="10972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B62758"/>
                </a:solidFill>
                <a:latin typeface="Arial"/>
                <a:ea typeface="Arial"/>
                <a:cs typeface="Arial"/>
              </a:defRPr>
            </a:pPr>
            <a:r>
              <a:rPr sz="1725" b="0">
                <a:solidFill>
                  <a:srgbClr val="B62758"/>
                </a:solidFill>
                <a:latin typeface="Arial"/>
                <a:ea typeface="Arial"/>
                <a:cs typeface="Arial"/>
              </a:rPr>
              <a:t>Gateway/MCP stayed active. Active model-session continuity remains unverified.</a:t>
            </a:r>
          </a:p>
        </p:txBody>
      </p:sp>
    </p:spTree>
    <p:extLst>
      <p:ext uri="{BB962C8B-B14F-4D97-AF65-F5344CB8AC3E}">
        <p14:creationId xmlns:p14="http://schemas.microsoft.com/office/powerpoint/2010/main" val="1007259908"/>
      </p:ext>
    </p:extLst>
  </p:cSld>
</p:sld>
</file>

<file path=ppt/slides/slide11.xml><?xml version="1.0" encoding="utf-8"?>
<p:sld xmlns:p="http://schemas.openxmlformats.org/presentationml/2006/main">
  <p:cSld>
    <p:bg>
      <p:bgPr>
        <a:solidFill xmlns:a="http://schemas.openxmlformats.org/drawingml/2006/main">
          <a:srgbClr val="F4F7FB"/>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9D75ECC-0123-4D2B-AA89-69EA74BA410E}"/>
              </a:ext>
            </a:extLst>
          </p:cNvPr>
          <p:cNvSpPr>
            <a:spLocks xmlns:a="http://schemas.openxmlformats.org/drawingml/2006/main" noGrp="1"/>
          </p:cNvSpPr>
          <p:nvPr/>
        </p:nvSpPr>
        <p:spPr>
          <a:xfrm xmlns:a="http://schemas.openxmlformats.org/drawingml/2006/main">
            <a:off x="609600" y="42862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0243B"/>
                </a:solidFill>
                <a:latin typeface="Arial"/>
                <a:ea typeface="Arial"/>
                <a:cs typeface="Arial"/>
              </a:defRPr>
            </a:pPr>
            <a:r>
              <a:rPr sz="3300" b="1">
                <a:solidFill>
                  <a:srgbClr val="10243B"/>
                </a:solidFill>
                <a:latin typeface="Arial"/>
                <a:ea typeface="Arial"/>
                <a:cs typeface="Arial"/>
              </a:rPr>
              <a:t>Desktop-to-EC2 walkthrough</a:t>
            </a:r>
          </a:p>
        </p:txBody>
      </p:sp>
      <p:sp>
        <p:nvSpPr>
          <p:cNvPr id="2" name="">
            <a:extLst xmlns:a="http://schemas.openxmlformats.org/drawingml/2006/main">
              <a:ext uri="{FF2B5EF4-FFF2-40B4-BE49-F238E27FC236}">
                <a16:creationId xmlns:a16="http://schemas.microsoft.com/office/drawing/2014/main" id="{F7215547-030D-49BC-8B9D-32CD3B9D0723}"/>
              </a:ext>
            </a:extLst>
          </p:cNvPr>
          <p:cNvSpPr>
            <a:spLocks xmlns:a="http://schemas.openxmlformats.org/drawingml/2006/main" noGrp="1"/>
          </p:cNvSpPr>
          <p:nvPr/>
        </p:nvSpPr>
        <p:spPr>
          <a:xfrm xmlns:a="http://schemas.openxmlformats.org/drawingml/2006/main">
            <a:off x="609600" y="160020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75" b="0">
                <a:solidFill>
                  <a:srgbClr val="10243B"/>
                </a:solidFill>
                <a:latin typeface="Arial"/>
                <a:ea typeface="Arial"/>
                <a:cs typeface="Arial"/>
              </a:defRPr>
            </a:pPr>
            <a:r>
              <a:rPr sz="2475" b="0">
                <a:solidFill>
                  <a:srgbClr val="10243B"/>
                </a:solidFill>
                <a:latin typeface="Arial"/>
                <a:ea typeface="Arial"/>
                <a:cs typeface="Arial"/>
              </a:rPr>
              <a:t>1   Confirm the remote client and workspace</a:t>
            </a:r>
          </a:p>
        </p:txBody>
      </p:sp>
      <p:sp>
        <p:nvSpPr>
          <p:cNvPr id="3" name="">
            <a:extLst xmlns:a="http://schemas.openxmlformats.org/drawingml/2006/main">
              <a:ext uri="{FF2B5EF4-FFF2-40B4-BE49-F238E27FC236}">
                <a16:creationId xmlns:a16="http://schemas.microsoft.com/office/drawing/2014/main" id="{38995CFD-CB8B-41B7-BF8A-8B317B52CBDB}"/>
              </a:ext>
            </a:extLst>
          </p:cNvPr>
          <p:cNvSpPr>
            <a:spLocks xmlns:a="http://schemas.openxmlformats.org/drawingml/2006/main" noGrp="1"/>
          </p:cNvSpPr>
          <p:nvPr/>
        </p:nvSpPr>
        <p:spPr>
          <a:xfrm xmlns:a="http://schemas.openxmlformats.org/drawingml/2006/main">
            <a:off x="609600" y="251460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75" b="0">
                <a:solidFill>
                  <a:srgbClr val="10243B"/>
                </a:solidFill>
                <a:latin typeface="Arial"/>
                <a:ea typeface="Arial"/>
                <a:cs typeface="Arial"/>
              </a:defRPr>
            </a:pPr>
            <a:r>
              <a:rPr sz="2475" b="0">
                <a:solidFill>
                  <a:srgbClr val="10243B"/>
                </a:solidFill>
                <a:latin typeface="Arial"/>
                <a:ea typeface="Arial"/>
                <a:cs typeface="Arial"/>
              </a:rPr>
              <a:t>2   Run the three-call MCP probe in WALKTHROUGH.md</a:t>
            </a:r>
          </a:p>
        </p:txBody>
      </p:sp>
      <p:sp>
        <p:nvSpPr>
          <p:cNvPr id="4" name="">
            <a:extLst xmlns:a="http://schemas.openxmlformats.org/drawingml/2006/main">
              <a:ext uri="{FF2B5EF4-FFF2-40B4-BE49-F238E27FC236}">
                <a16:creationId xmlns:a16="http://schemas.microsoft.com/office/drawing/2014/main" id="{C9F9A4E0-67C1-4C86-A17B-239644AF218A}"/>
              </a:ext>
            </a:extLst>
          </p:cNvPr>
          <p:cNvSpPr>
            <a:spLocks xmlns:a="http://schemas.openxmlformats.org/drawingml/2006/main" noGrp="1"/>
          </p:cNvSpPr>
          <p:nvPr/>
        </p:nvSpPr>
        <p:spPr>
          <a:xfrm xmlns:a="http://schemas.openxmlformats.org/drawingml/2006/main">
            <a:off x="609600" y="342900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75" b="0">
                <a:solidFill>
                  <a:srgbClr val="10243B"/>
                </a:solidFill>
                <a:latin typeface="Arial"/>
                <a:ea typeface="Arial"/>
                <a:cs typeface="Arial"/>
              </a:defRPr>
            </a:pPr>
            <a:r>
              <a:rPr sz="2475" b="0">
                <a:solidFill>
                  <a:srgbClr val="10243B"/>
                </a:solidFill>
                <a:latin typeface="Arial"/>
                <a:ea typeface="Arial"/>
                <a:cs typeface="Arial"/>
              </a:rPr>
              <a:t>3   Check the digest, MCP refusal and S3 403</a:t>
            </a:r>
          </a:p>
        </p:txBody>
      </p:sp>
      <p:sp>
        <p:nvSpPr>
          <p:cNvPr id="5" name="">
            <a:extLst xmlns:a="http://schemas.openxmlformats.org/drawingml/2006/main">
              <a:ext uri="{FF2B5EF4-FFF2-40B4-BE49-F238E27FC236}">
                <a16:creationId xmlns:a16="http://schemas.microsoft.com/office/drawing/2014/main" id="{4C80CD6A-8990-44BE-9EE2-2FF7D07D4EDB}"/>
              </a:ext>
            </a:extLst>
          </p:cNvPr>
          <p:cNvSpPr>
            <a:spLocks xmlns:a="http://schemas.openxmlformats.org/drawingml/2006/main" noGrp="1"/>
          </p:cNvSpPr>
          <p:nvPr/>
        </p:nvSpPr>
        <p:spPr>
          <a:xfrm xmlns:a="http://schemas.openxmlformats.org/drawingml/2006/main">
            <a:off x="609600" y="4533900"/>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B62758"/>
                </a:solidFill>
                <a:latin typeface="Arial"/>
                <a:ea typeface="Arial"/>
                <a:cs typeface="Arial"/>
              </a:defRPr>
            </a:pPr>
            <a:r>
              <a:rPr sz="2400" b="1">
                <a:solidFill>
                  <a:srgbClr val="B62758"/>
                </a:solidFill>
                <a:latin typeface="Arial"/>
                <a:ea typeface="Arial"/>
                <a:cs typeface="Arial"/>
              </a:rPr>
              <a:t>Native sequence pending sign-in</a:t>
            </a:r>
          </a:p>
        </p:txBody>
      </p:sp>
      <p:sp>
        <p:nvSpPr>
          <p:cNvPr id="6" name="">
            <a:extLst xmlns:a="http://schemas.openxmlformats.org/drawingml/2006/main">
              <a:ext uri="{FF2B5EF4-FFF2-40B4-BE49-F238E27FC236}">
                <a16:creationId xmlns:a16="http://schemas.microsoft.com/office/drawing/2014/main" id="{7DB2B5BC-154F-4832-B490-35942A9D59FC}"/>
              </a:ext>
            </a:extLst>
          </p:cNvPr>
          <p:cNvSpPr>
            <a:spLocks xmlns:a="http://schemas.openxmlformats.org/drawingml/2006/main" noGrp="1"/>
          </p:cNvSpPr>
          <p:nvPr/>
        </p:nvSpPr>
        <p:spPr>
          <a:xfrm xmlns:a="http://schemas.openxmlformats.org/drawingml/2006/main">
            <a:off x="609600" y="5286375"/>
            <a:ext cx="1095375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0">
                <a:solidFill>
                  <a:srgbClr val="10243B"/>
                </a:solidFill>
                <a:latin typeface="Arial"/>
                <a:ea typeface="Arial"/>
                <a:cs typeface="Arial"/>
              </a:defRPr>
            </a:pPr>
            <a:r>
              <a:rPr sz="2100" b="0">
                <a:solidFill>
                  <a:srgbClr val="10243B"/>
                </a:solidFill>
                <a:latin typeface="Arial"/>
                <a:ea typeface="Arial"/>
                <a:cs typeface="Arial"/>
              </a:rPr>
              <a:t>Approve the three routed calls once.</a:t>
            </a:r>
          </a:p>
          <a:p xmlns:a="http://schemas.openxmlformats.org/drawingml/2006/main">
            <a:pPr>
              <a:defRPr sz="2100" b="0">
                <a:solidFill>
                  <a:srgbClr val="10243B"/>
                </a:solidFill>
                <a:latin typeface="Arial"/>
                <a:ea typeface="Arial"/>
                <a:cs typeface="Arial"/>
              </a:defRPr>
            </a:pPr>
            <a:r>
              <a:rPr sz="2100" b="0">
                <a:solidFill>
                  <a:srgbClr val="10243B"/>
                </a:solidFill>
                <a:latin typeface="Arial"/>
                <a:ea typeface="Arial"/>
                <a:cs typeface="Arial"/>
              </a:rPr>
              <a:t>crew_denied must stop automatically before MCP dispatch.</a:t>
            </a:r>
          </a:p>
        </p:txBody>
      </p:sp>
    </p:spTree>
    <p:extLst>
      <p:ext uri="{BB962C8B-B14F-4D97-AF65-F5344CB8AC3E}">
        <p14:creationId xmlns:p14="http://schemas.microsoft.com/office/powerpoint/2010/main" val="1038518009"/>
      </p:ext>
    </p:extLst>
  </p:cSld>
</p:sld>
</file>

<file path=ppt/slides/slide12.xml><?xml version="1.0" encoding="utf-8"?>
<p:sld xmlns:p="http://schemas.openxmlformats.org/presentationml/2006/main">
  <p:cSld>
    <p:bg>
      <p:bgPr>
        <a:solidFill xmlns:a="http://schemas.openxmlformats.org/drawingml/2006/main">
          <a:srgbClr val="F4F7FB"/>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D5DD71F-32C8-41A4-8207-4254FCFFF883}"/>
              </a:ext>
            </a:extLst>
          </p:cNvPr>
          <p:cNvSpPr>
            <a:spLocks xmlns:a="http://schemas.openxmlformats.org/drawingml/2006/main" noGrp="1"/>
          </p:cNvSpPr>
          <p:nvPr/>
        </p:nvSpPr>
        <p:spPr>
          <a:xfrm xmlns:a="http://schemas.openxmlformats.org/drawingml/2006/main">
            <a:off x="609600" y="42862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0243B"/>
                </a:solidFill>
                <a:latin typeface="Arial"/>
                <a:ea typeface="Arial"/>
                <a:cs typeface="Arial"/>
              </a:defRPr>
            </a:pPr>
            <a:r>
              <a:rPr sz="3300" b="1">
                <a:solidFill>
                  <a:srgbClr val="10243B"/>
                </a:solidFill>
                <a:latin typeface="Arial"/>
                <a:ea typeface="Arial"/>
                <a:cs typeface="Arial"/>
              </a:rPr>
              <a:t>Running cost and rollback</a:t>
            </a:r>
          </a:p>
        </p:txBody>
      </p:sp>
      <p:sp>
        <p:nvSpPr>
          <p:cNvPr id="2" name="">
            <a:extLst xmlns:a="http://schemas.openxmlformats.org/drawingml/2006/main">
              <a:ext uri="{FF2B5EF4-FFF2-40B4-BE49-F238E27FC236}">
                <a16:creationId xmlns:a16="http://schemas.microsoft.com/office/drawing/2014/main" id="{DC7693D8-2971-43FC-8764-E07B4A78A149}"/>
              </a:ext>
            </a:extLst>
          </p:cNvPr>
          <p:cNvSpPr>
            <a:spLocks xmlns:a="http://schemas.openxmlformats.org/drawingml/2006/main" noGrp="1"/>
          </p:cNvSpPr>
          <p:nvPr/>
        </p:nvSpPr>
        <p:spPr>
          <a:xfrm xmlns:a="http://schemas.openxmlformats.org/drawingml/2006/main">
            <a:off x="609600" y="1495425"/>
            <a:ext cx="10763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750" b="1">
                <a:solidFill>
                  <a:srgbClr val="008666"/>
                </a:solidFill>
                <a:latin typeface="Arial"/>
                <a:ea typeface="Arial"/>
                <a:cs typeface="Arial"/>
              </a:defRPr>
            </a:pPr>
            <a:r>
              <a:rPr sz="3750" b="1">
                <a:solidFill>
                  <a:srgbClr val="008666"/>
                </a:solidFill>
                <a:latin typeface="Arial"/>
                <a:ea typeface="Arial"/>
                <a:cs typeface="Arial"/>
              </a:rPr>
              <a:t>$0.139 per running hour</a:t>
            </a:r>
          </a:p>
        </p:txBody>
      </p:sp>
      <p:sp>
        <p:nvSpPr>
          <p:cNvPr id="3" name="">
            <a:extLst xmlns:a="http://schemas.openxmlformats.org/drawingml/2006/main">
              <a:ext uri="{FF2B5EF4-FFF2-40B4-BE49-F238E27FC236}">
                <a16:creationId xmlns:a16="http://schemas.microsoft.com/office/drawing/2014/main" id="{3F619DDD-02BF-4243-B122-CBEA11474DC9}"/>
              </a:ext>
            </a:extLst>
          </p:cNvPr>
          <p:cNvSpPr>
            <a:spLocks xmlns:a="http://schemas.openxmlformats.org/drawingml/2006/main" noGrp="1"/>
          </p:cNvSpPr>
          <p:nvPr/>
        </p:nvSpPr>
        <p:spPr>
          <a:xfrm xmlns:a="http://schemas.openxmlformats.org/drawingml/2006/main">
            <a:off x="609600" y="2476500"/>
            <a:ext cx="108585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10243B"/>
                </a:solidFill>
                <a:latin typeface="Arial"/>
                <a:ea typeface="Arial"/>
                <a:cs typeface="Arial"/>
              </a:defRPr>
            </a:pPr>
            <a:r>
              <a:rPr sz="2025" b="0">
                <a:solidFill>
                  <a:srgbClr val="10243B"/>
                </a:solidFill>
                <a:latin typeface="Arial"/>
                <a:ea typeface="Arial"/>
                <a:cs typeface="Arial"/>
              </a:rPr>
              <a:t>Compute + IPv4. ARM 40 GiB storage adds $3.20/month.</a:t>
            </a:r>
          </a:p>
          <a:p xmlns:a="http://schemas.openxmlformats.org/drawingml/2006/main">
            <a:pPr>
              <a:defRPr sz="2025" b="0">
                <a:solidFill>
                  <a:srgbClr val="10243B"/>
                </a:solidFill>
                <a:latin typeface="Arial"/>
                <a:ea typeface="Arial"/>
                <a:cs typeface="Arial"/>
              </a:defRPr>
            </a:pPr>
            <a:r>
              <a:rPr sz="2025" b="0">
                <a:solidFill>
                  <a:srgbClr val="10243B"/>
                </a:solidFill>
                <a:latin typeface="Arial"/>
                <a:ea typeface="Arial"/>
                <a:cs typeface="Arial"/>
              </a:rPr>
              <a:t>Stopped t3a.small: 24 GiB storage still costs $1.92/month.</a:t>
            </a:r>
          </a:p>
        </p:txBody>
      </p:sp>
      <p:sp>
        <p:nvSpPr>
          <p:cNvPr id="4" name="">
            <a:extLst xmlns:a="http://schemas.openxmlformats.org/drawingml/2006/main">
              <a:ext uri="{FF2B5EF4-FFF2-40B4-BE49-F238E27FC236}">
                <a16:creationId xmlns:a16="http://schemas.microsoft.com/office/drawing/2014/main" id="{8F02B60D-B348-4791-98E9-72AF50D14CDF}"/>
              </a:ext>
            </a:extLst>
          </p:cNvPr>
          <p:cNvSpPr>
            <a:spLocks xmlns:a="http://schemas.openxmlformats.org/drawingml/2006/main" noGrp="1"/>
          </p:cNvSpPr>
          <p:nvPr/>
        </p:nvSpPr>
        <p:spPr>
          <a:xfrm xmlns:a="http://schemas.openxmlformats.org/drawingml/2006/main">
            <a:off x="609600" y="3667125"/>
            <a:ext cx="1095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10243B"/>
                </a:solidFill>
                <a:latin typeface="Arial"/>
                <a:ea typeface="Arial"/>
                <a:cs typeface="Arial"/>
              </a:defRPr>
            </a:pPr>
            <a:r>
              <a:rPr sz="2550" b="1">
                <a:solidFill>
                  <a:srgbClr val="10243B"/>
                </a:solidFill>
                <a:latin typeface="Arial"/>
                <a:ea typeface="Arial"/>
                <a:cs typeface="Arial"/>
              </a:rPr>
              <a:t>About $107 per month if always on</a:t>
            </a:r>
          </a:p>
        </p:txBody>
      </p:sp>
      <p:sp>
        <p:nvSpPr>
          <p:cNvPr id="5" name="">
            <a:extLst xmlns:a="http://schemas.openxmlformats.org/drawingml/2006/main">
              <a:ext uri="{FF2B5EF4-FFF2-40B4-BE49-F238E27FC236}">
                <a16:creationId xmlns:a16="http://schemas.microsoft.com/office/drawing/2014/main" id="{DED1B108-940B-4E27-81C4-99421ACE5AC9}"/>
              </a:ext>
            </a:extLst>
          </p:cNvPr>
          <p:cNvSpPr>
            <a:spLocks xmlns:a="http://schemas.openxmlformats.org/drawingml/2006/main" noGrp="1"/>
          </p:cNvSpPr>
          <p:nvPr/>
        </p:nvSpPr>
        <p:spPr>
          <a:xfrm xmlns:a="http://schemas.openxmlformats.org/drawingml/2006/main">
            <a:off x="609600" y="4333875"/>
            <a:ext cx="1095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0">
                <a:solidFill>
                  <a:srgbClr val="10243B"/>
                </a:solidFill>
                <a:latin typeface="Arial"/>
                <a:ea typeface="Arial"/>
                <a:cs typeface="Arial"/>
              </a:defRPr>
            </a:pPr>
            <a:r>
              <a:rPr sz="1950" b="0">
                <a:solidFill>
                  <a:srgbClr val="10243B"/>
                </a:solidFill>
                <a:latin typeface="Arial"/>
                <a:ea typeface="Arial"/>
                <a:cs typeface="Arial"/>
              </a:rPr>
              <a:t>Includes both disks; excludes S3, transfer, model use and tax.</a:t>
            </a:r>
          </a:p>
        </p:txBody>
      </p:sp>
      <p:sp>
        <p:nvSpPr>
          <p:cNvPr id="6" name="">
            <a:extLst xmlns:a="http://schemas.openxmlformats.org/drawingml/2006/main">
              <a:ext uri="{FF2B5EF4-FFF2-40B4-BE49-F238E27FC236}">
                <a16:creationId xmlns:a16="http://schemas.microsoft.com/office/drawing/2014/main" id="{ABB5545E-3CF6-45C7-923E-BFB6C06C4F59}"/>
              </a:ext>
            </a:extLst>
          </p:cNvPr>
          <p:cNvSpPr>
            <a:spLocks xmlns:a="http://schemas.openxmlformats.org/drawingml/2006/main" noGrp="1"/>
          </p:cNvSpPr>
          <p:nvPr/>
        </p:nvSpPr>
        <p:spPr>
          <a:xfrm xmlns:a="http://schemas.openxmlformats.org/drawingml/2006/main">
            <a:off x="609600" y="4991100"/>
            <a:ext cx="10953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a:solidFill>
                  <a:srgbClr val="B62758"/>
                </a:solidFill>
                <a:latin typeface="Arial"/>
                <a:ea typeface="Arial"/>
                <a:cs typeface="Arial"/>
              </a:defRPr>
            </a:pPr>
            <a:r>
              <a:rPr sz="2025" b="1">
                <a:solidFill>
                  <a:srgbClr val="B62758"/>
                </a:solidFill>
                <a:latin typeface="Arial"/>
                <a:ea typeface="Arial"/>
                <a:cs typeface="Arial"/>
              </a:rPr>
              <a:t>Standard CPU credits: no surplus charges.</a:t>
            </a:r>
          </a:p>
          <a:p xmlns:a="http://schemas.openxmlformats.org/drawingml/2006/main">
            <a:pPr>
              <a:defRPr sz="2025" b="1">
                <a:solidFill>
                  <a:srgbClr val="B62758"/>
                </a:solidFill>
                <a:latin typeface="Arial"/>
                <a:ea typeface="Arial"/>
                <a:cs typeface="Arial"/>
              </a:defRPr>
            </a:pPr>
            <a:r>
              <a:rPr sz="2025" b="1">
                <a:solidFill>
                  <a:srgbClr val="B62758"/>
                </a:solidFill>
                <a:latin typeface="Arial"/>
                <a:ea typeface="Arial"/>
                <a:cs typeface="Arial"/>
              </a:rPr>
              <a:t>Sustained load can throttle to baseline.</a:t>
            </a:r>
          </a:p>
        </p:txBody>
      </p:sp>
      <p:sp>
        <p:nvSpPr>
          <p:cNvPr id="7" name="">
            <a:extLst xmlns:a="http://schemas.openxmlformats.org/drawingml/2006/main">
              <a:ext uri="{FF2B5EF4-FFF2-40B4-BE49-F238E27FC236}">
                <a16:creationId xmlns:a16="http://schemas.microsoft.com/office/drawing/2014/main" id="{D2569FBC-7BD7-49A5-8C68-A192E4644220}"/>
              </a:ext>
            </a:extLst>
          </p:cNvPr>
          <p:cNvSpPr>
            <a:spLocks xmlns:a="http://schemas.openxmlformats.org/drawingml/2006/main" noGrp="1"/>
          </p:cNvSpPr>
          <p:nvPr/>
        </p:nvSpPr>
        <p:spPr>
          <a:xfrm xmlns:a="http://schemas.openxmlformats.org/drawingml/2006/main">
            <a:off x="609600" y="5943600"/>
            <a:ext cx="10953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10243B"/>
                </a:solidFill>
                <a:latin typeface="Arial"/>
                <a:ea typeface="Arial"/>
                <a:cs typeface="Arial"/>
              </a:defRPr>
            </a:pPr>
            <a:r>
              <a:rPr sz="1875" b="0">
                <a:solidFill>
                  <a:srgbClr val="10243B"/>
                </a:solidFill>
                <a:latin typeface="Arial"/>
                <a:ea typeface="Arial"/>
                <a:cs typeface="Arial"/>
              </a:rPr>
              <a:t>Stop ARM after the demo. EBS remains billable.</a:t>
            </a:r>
          </a:p>
        </p:txBody>
      </p:sp>
      <p:sp>
        <p:nvSpPr>
          <p:cNvPr id="8" name="">
            <a:extLst xmlns:a="http://schemas.openxmlformats.org/drawingml/2006/main">
              <a:ext uri="{FF2B5EF4-FFF2-40B4-BE49-F238E27FC236}">
                <a16:creationId xmlns:a16="http://schemas.microsoft.com/office/drawing/2014/main" id="{C70AD529-60B3-47B6-A856-272427ECB811}"/>
              </a:ext>
            </a:extLst>
          </p:cNvPr>
          <p:cNvSpPr>
            <a:spLocks xmlns:a="http://schemas.openxmlformats.org/drawingml/2006/main" noGrp="1"/>
          </p:cNvSpPr>
          <p:nvPr/>
        </p:nvSpPr>
        <p:spPr>
          <a:xfrm xmlns:a="http://schemas.openxmlformats.org/drawingml/2006/main">
            <a:off x="609600" y="6391275"/>
            <a:ext cx="1095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50667F"/>
                </a:solidFill>
                <a:latin typeface="Arial"/>
                <a:ea typeface="Arial"/>
                <a:cs typeface="Arial"/>
              </a:defRPr>
            </a:pPr>
            <a:r>
              <a:rPr sz="1725" b="0">
                <a:solidFill>
                  <a:srgbClr val="50667F"/>
                </a:solidFill>
                <a:latin typeface="Arial"/>
                <a:ea typeface="Arial"/>
                <a:cs typeface="Arial"/>
              </a:rPr>
              <a:t>Keep x86 stopped for rollback. Refresh the ARM address after restart.</a:t>
            </a:r>
          </a:p>
        </p:txBody>
      </p:sp>
    </p:spTree>
    <p:extLst>
      <p:ext uri="{BB962C8B-B14F-4D97-AF65-F5344CB8AC3E}">
        <p14:creationId xmlns:p14="http://schemas.microsoft.com/office/powerpoint/2010/main" val="121532302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2026-09-13T15:14:21.9560000Z</dcterms:created>
  <dcterms:modified xsi:type="dcterms:W3CDTF">2026-09-13T15:14:21.9560000Z</dcterms:modified>
</coreProperties>
</file>