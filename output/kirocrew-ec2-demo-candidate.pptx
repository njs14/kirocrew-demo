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8a93805f3c412a" /><Relationship Type="http://schemas.openxmlformats.org/officeDocument/2006/relationships/extended-properties" Target="/docProps/app.xml" Id="R851562c17679434c" /><Relationship Type="http://schemas.openxmlformats.org/officeDocument/2006/relationships/officeDocument" Target="/ppt/presentation.xml" Id="R259969768c0842e4" /></Relationships>
</file>

<file path=ppt/presentation.xml><?xml version="1.0" encoding="utf-8"?>
<p:presentation xmlns:p="http://schemas.openxmlformats.org/presentationml/2006/main">
  <p:sldMasterIdLst>
    <p:sldMasterId xmlns:r="http://schemas.openxmlformats.org/officeDocument/2006/relationships" id="2147483648" r:id="R139984adea1d4197"/>
  </p:sldMasterIdLst>
  <p:notesMasterIdLst>
    <p:notesMasterId xmlns:r="http://schemas.openxmlformats.org/officeDocument/2006/relationships" r:id="R76dab8adc7ae4d74"/>
  </p:notesMasterIdLst>
  <p:sldIdLst>
    <p:sldId xmlns:r="http://schemas.openxmlformats.org/officeDocument/2006/relationships" id="256" r:id="Re4c58420d3c145bd"/>
    <p:sldId xmlns:r="http://schemas.openxmlformats.org/officeDocument/2006/relationships" id="257" r:id="Rb31fe01a73574cab"/>
    <p:sldId xmlns:r="http://schemas.openxmlformats.org/officeDocument/2006/relationships" id="258" r:id="R7abb50cc22224fc9"/>
    <p:sldId xmlns:r="http://schemas.openxmlformats.org/officeDocument/2006/relationships" id="259" r:id="R42f8e317cd8e453d"/>
    <p:sldId xmlns:r="http://schemas.openxmlformats.org/officeDocument/2006/relationships" id="260" r:id="Re55bc44ab79b4923"/>
    <p:sldId xmlns:r="http://schemas.openxmlformats.org/officeDocument/2006/relationships" id="261" r:id="R0dcf6b02d541424e"/>
    <p:sldId xmlns:r="http://schemas.openxmlformats.org/officeDocument/2006/relationships" id="262" r:id="R4e4fa792ad394947"/>
    <p:sldId xmlns:r="http://schemas.openxmlformats.org/officeDocument/2006/relationships" id="263" r:id="R3705f36085f844d9"/>
    <p:sldId xmlns:r="http://schemas.openxmlformats.org/officeDocument/2006/relationships" id="264" r:id="Rb5591c739d884c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3e336672524448" /><Relationship Type="http://schemas.openxmlformats.org/officeDocument/2006/relationships/slideMaster" Target="/ppt/slideMasters/slideMaster1.xml" Id="R139984adea1d4197" /><Relationship Type="http://schemas.openxmlformats.org/officeDocument/2006/relationships/notesMaster" Target="/ppt/notesMasters/notesMaster1.xml" Id="R76dab8adc7ae4d74" /><Relationship Type="http://schemas.openxmlformats.org/officeDocument/2006/relationships/presProps" Target="/ppt/presProps.xml" Id="Rfaa12dd9dd3b41cb" /><Relationship Type="http://schemas.openxmlformats.org/officeDocument/2006/relationships/tableStyles" Target="/ppt/tableStyles.xml" Id="R3c89239afa404145" /><Relationship Type="http://schemas.openxmlformats.org/officeDocument/2006/relationships/slide" Target="/ppt/slides/slide1.xml" Id="Re4c58420d3c145bd" /><Relationship Type="http://schemas.openxmlformats.org/officeDocument/2006/relationships/slide" Target="/ppt/slides/slide2.xml" Id="Rb31fe01a73574cab" /><Relationship Type="http://schemas.openxmlformats.org/officeDocument/2006/relationships/slide" Target="/ppt/slides/slide3.xml" Id="R7abb50cc22224fc9" /><Relationship Type="http://schemas.openxmlformats.org/officeDocument/2006/relationships/slide" Target="/ppt/slides/slide4.xml" Id="R42f8e317cd8e453d" /><Relationship Type="http://schemas.openxmlformats.org/officeDocument/2006/relationships/slide" Target="/ppt/slides/slide5.xml" Id="Re55bc44ab79b4923" /><Relationship Type="http://schemas.openxmlformats.org/officeDocument/2006/relationships/slide" Target="/ppt/slides/slide6.xml" Id="R0dcf6b02d541424e" /><Relationship Type="http://schemas.openxmlformats.org/officeDocument/2006/relationships/slide" Target="/ppt/slides/slide7.xml" Id="R4e4fa792ad394947" /><Relationship Type="http://schemas.openxmlformats.org/officeDocument/2006/relationships/slide" Target="/ppt/slides/slide8.xml" Id="R3705f36085f844d9" /><Relationship Type="http://schemas.openxmlformats.org/officeDocument/2006/relationships/slide" Target="/ppt/slides/slide9.xml" Id="Rb5591c739d884c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0b150be5e64d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e6f62f50ad4ace" /><Relationship Type="http://schemas.openxmlformats.org/officeDocument/2006/relationships/notesMaster" Target="/ppt/notesMasters/notesMaster1.xml" Id="R4a1fec2f764d49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6b5f9677cc4641" /><Relationship Type="http://schemas.openxmlformats.org/officeDocument/2006/relationships/notesMaster" Target="/ppt/notesMasters/notesMaster1.xml" Id="Re0cf0bf730f941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c1c39987f0438b" /><Relationship Type="http://schemas.openxmlformats.org/officeDocument/2006/relationships/notesMaster" Target="/ppt/notesMasters/notesMaster1.xml" Id="R69c6e2be15474f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01c8d170f6410d" /><Relationship Type="http://schemas.openxmlformats.org/officeDocument/2006/relationships/notesMaster" Target="/ppt/notesMasters/notesMaster1.xml" Id="R421e1998a5a247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13bf019b0d4446" /><Relationship Type="http://schemas.openxmlformats.org/officeDocument/2006/relationships/notesMaster" Target="/ppt/notesMasters/notesMaster1.xml" Id="R764182013a654c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bfb2567d6642a7" /><Relationship Type="http://schemas.openxmlformats.org/officeDocument/2006/relationships/notesMaster" Target="/ppt/notesMasters/notesMaster1.xml" Id="R5ceeaed183b34c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7801eead934179" /><Relationship Type="http://schemas.openxmlformats.org/officeDocument/2006/relationships/notesMaster" Target="/ppt/notesMasters/notesMaster1.xml" Id="Rd767a57ee5fa48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3f110de5e44e23" /><Relationship Type="http://schemas.openxmlformats.org/officeDocument/2006/relationships/notesMaster" Target="/ppt/notesMasters/notesMaster1.xml" Id="R9b0b08abb94c4a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7884301edf4a17" /><Relationship Type="http://schemas.openxmlformats.org/officeDocument/2006/relationships/notesMaster" Target="/ppt/notesMasters/notesMaster1.xml" Id="Rc136281f22b349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This demo extends the accepted control map into a deployed EC2 environment. The native desktop client connects through local port 5599 to the EC2 Gateway, and the local Gateway listener is off. The EC2 host holds the workspace. The installed Kiro CLI backend still needs successful authentication and a verified native session in this candidate. Direct MCP calls on EC2 already demonstrate an allowed S3 read, an MCP grant denial and an AWS IAM denial. Sources: evidence/aws/stack-state.json; evidence/aws/mcp-live-receipt.json; evidence/aws/client-runtime-verification.json. Runtime status must be updated from fresh receipts before presenting the native walkthrough as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Preserve the accepted enclosure as the control map. In remote mode, the Gateway, selected backend and workspace occupy the same execution host. Enterprise host protection remains a separate responsibility from Crew. The EC2 demo implements the subset shown on later slides. Do not infer EDR enrollment, universal sandbox coverage, central policy distribution or external log retention from this reference image. The diagram retains the September 11 pinned-source baseline. Source image: evidence/browser/endpoint-slide.png, unchanged accepted endpoint SVG screenshot. Sources: HANDOFF.md; kirocrew-security-layers.html; evidence/nightly/baseline-verification.json.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Open the live EC2 architecture artifact for readable node details. CloudFormation created one t3a.small in the existing public subnet, with a public IPv4 address to avoid NAT gateway or load balancer costs. Its security group has one inbound rule: TCP 22 from the current client IPv4 /32. Gateway port 5476 and MCP port 8001 bind to EC2 loopback. The laptop forwards local port 5599 over SSH to remote port 5476. The template includes the instance role, private S3 bucket, encrypted 24 GiB gp3 root volume and IMDSv2 requirement. CloudFormation CREATE_COMPLETE alone does not prove bootstrap, so the host bootstrap marker and service checks are separate evidence. The diagram keeps the earlier private EC2 + SSM architecture as a separate reference. Sources: infrastructure/ec2-demo.json; evidence/aws/stack-state.json; evidence/aws/security-group.json; evidence/aws/route-preflight.json; evidence/aws/ssh-verification.json; evidence/aws/ec2-console-bootstrap.json.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Crew and the MCP service run as separate unprivileged Unix users. Root owns the executable and service files. An owner-based firewall rule rejects metadata requests from the crew UID, and the Gateway requires that guard service. The MCP process obtains the instance role through IMDSv2 and accepts only the four fixed demonstration calls. Its role allows reads under two demonstration prefixes, with an explicit GetObject deny on the denied prefix. The role also includes the SSM core policy. This is a host UID boundary for a small demo. It is not an assertion of isolation against root or arbitrary privilege escalation. No IAM user keys were copied to EC2. Crew configuration is service-user-owned, so it must not be described as an immutable centrally managed policy floor.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This is the live sequence and its expected stopping points. Use a fresh trace_id for every call. The read_allowed tool returns only the object length and digest. crew_denied is allowed by the MCP service so a Crew hook can demonstrate blocking it before dispatch. Its configured deny is @aws-enforcement/crew_denied. mcp_denied remains in the discovery catalog but the service rejects it at call time before loading AWS credentials or calling the SDK. iam_denied passes the MCP grant and attempts GetObject on an existing object under denied/, where IAM applies an explicit deny. Approve individual calls only after checking the actual request. A user rejection must not be counted as an automatic Crew deny. Sources: infrastructure/configure-demo.py; infrastructure/mcp-enforcement/server.py; evidence/aws/iam-demo-policy.json; evidence/aws/fixture-hashes.json. Native Crew evidence remains pending in this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These are actual direct calls against the deployed MCP service on EC2, not native Crew backend observations. The receipt is direct_mcp_service_probe, passed true, timestamp 2026-09-13T04:17:07Z. The unauthenticated request returned 401 and the catalog contained all four tools. read_allowed returned 55 bytes and the full SHA256 recorded in the fixture receipt. mcp_denied returned tool_grant_denied without an AWS dispatch audit record for that trace. iam_denied returned S3 AccessDenied with HTTP 403 and AWS request ID NJ428FX3JS4EV6VK. The object existence check ran first, avoiding confusion with a missing object. The service tests also cover failure attribution so an STS error cannot be reported as S3 IAM proof. Sources: evidence/aws/mcp-live-receipt.json; evidence/aws/mcp-live-audit.jsonl; evidence/aws/seed-fixtures-result.json; infrastructure/mcp-enforcement/TEST-RECEIPT.json.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app and copied package identify 0.7.0-nightly.20260912t060850. The Linux deployment is a custom repack of that frozen package with Linux dependencies and native libraries. It is not an official Linux nightly distribution, and no source commit is assigned to it. The repack archive SHA256 is 5133df99766a436a0fe346c6c57b4475fa00389a62fe7e464ec8440942e33d39. Linux dependency artifacts are hash locked. Kiro CLI 2.21.4 comes from the official stable Linux archive and matches its manifest. The Electron configuration records runLocalGateway=false, the SSH host alias and local port 5599. Native desktop inspection confirms Gateway connected, enforcement-demo selected and /srv/kirocrew-demo/workspace open. The local port 5476 has no listener, and SSH owns port 5599. The UI reports critically low memory with about 1.2 GB free on the 2 GiB instance. Native backend authentication and full-session performance remain pending. Sources: evidence/nightly/installed-nightly-verification.json; evidence/aws/linux-repack.json; infrastructure/crew-requirements-linux.lock; evidence/aws/kiro-cli-artifact.json; evidence/aws/client-runtime-verification.json.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03:50–05:50. Before the audience walkthrough, confirm the EC2 instance, services, SSH tunnel and desktop connection with the current runbook. Show that the laptop has no local Gateway listener and that the desktop is connected through port 5599. Show the remote workspace at /srv/kirocrew-demo/workspace and a Kiro CLI process running as crew on EC2. Request each of the four fixed tools once, with a new trace ID and no retries after a denial. For allowed calls, inspect the permission card and approve once. For crew_denied, the configured hook must deny automatically before any MCP dispatch. Correlate the Crew transcript/SEL, MCP audit and AWS request ID. The direct probe is available if native authentication remains blocked, but it cannot substitute for that session. Native Kiro CLI sign-in and backend session verification pending. Sources: scripts/native-backend-demo.py when available; WALKTHROUGH.md; evidence/aws/mcp-live-receipt.json.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05:50–06:20. AWS Pricing API returned $0.0188 per On Demand Linux t3a.small hour in us-east-1. AWS lists public IPv4 at $0.005 per hour, giving $0.0238 per running hour, rounded to $0.024 on the slide. AWS Pricing API returns $0.08 per GB-month for gp3 in us-east-1, or $1.92 per month for 24 GiB. At 730 running hours the compute, IPv4 and EBS base is $19.294, rounded to about $19 per month. These figures exclude S3, transfer, model usage and taxes. The instance uses standard credits and has no NAT gateway or load balancer. Stop the instance after the demo to stop compute billing and release the ephemeral public IPv4. EBS remains and continues to incur charges. A stop/start changes the public IPv4, so refresh the SSH target. Use CloudFormation to update the permitted client /32 if its address changes. Stack deletion removes the instance and root EBS but retains the private S3 bucket and bucket policy. Inspect and clean up retained data when retiring the demo. The 2 GiB instance triggers the UI low-memory warning, and full backend performance remains unverified. Preserve and use the saved desktop configuration backup to return to local mode. Sources: evidence/aws/t3a-small-pricing.json; evidence/aws/gp3-pricing.json; https://aws.amazon.com/vpc/pricing/ ; infrastructure/ec2-demo.json; evidence/aws/client-runtime-verification.json.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1b8c64d6be42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a4a316756a4289" /><Relationship Type="http://schemas.openxmlformats.org/officeDocument/2006/relationships/slideLayout" Target="/ppt/slideLayouts/slideLayout1.xml" Id="R79d359e3890e43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d359e3890e43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3eea7eb2ab473c" /><Relationship Type="http://schemas.openxmlformats.org/officeDocument/2006/relationships/notesSlide" Target="/ppt/notesSlides/notesSlide1.xml" Id="Re1d0c4c9894f47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8140efe60e4b1c" /><Relationship Type="http://schemas.openxmlformats.org/officeDocument/2006/relationships/image" Target="/ppt/media/image.png" Id="R61b0ed4130b842f4" /><Relationship Type="http://schemas.openxmlformats.org/officeDocument/2006/relationships/notesSlide" Target="/ppt/notesSlides/notesSlide2.xml" Id="R3073188d776646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2bb627047f4a0e" /><Relationship Type="http://schemas.openxmlformats.org/officeDocument/2006/relationships/image" Target="/ppt/media/image2.png" Id="Re5e9c8adfb984374" /><Relationship Type="http://schemas.openxmlformats.org/officeDocument/2006/relationships/notesSlide" Target="/ppt/notesSlides/notesSlide3.xml" Id="R3ba78bf8397446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2598f77b8141cf" /><Relationship Type="http://schemas.openxmlformats.org/officeDocument/2006/relationships/notesSlide" Target="/ppt/notesSlides/notesSlide4.xml" Id="Ra7b7ed012b3f42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3bfc39be924b40" /><Relationship Type="http://schemas.openxmlformats.org/officeDocument/2006/relationships/notesSlide" Target="/ppt/notesSlides/notesSlide5.xml" Id="R818dcce8e2fb41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da68e036e04888" /><Relationship Type="http://schemas.openxmlformats.org/officeDocument/2006/relationships/notesSlide" Target="/ppt/notesSlides/notesSlide6.xml" Id="R123d86d604404d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5d80eef55f4c69" /><Relationship Type="http://schemas.openxmlformats.org/officeDocument/2006/relationships/notesSlide" Target="/ppt/notesSlides/notesSlide7.xml" Id="Re6684100b44c44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224bee4858464d" /><Relationship Type="http://schemas.openxmlformats.org/officeDocument/2006/relationships/notesSlide" Target="/ppt/notesSlides/notesSlide8.xml" Id="Rd1f87aa2afe34d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b68da1784f44cb" /><Relationship Type="http://schemas.openxmlformats.org/officeDocument/2006/relationships/notesSlide" Target="/ppt/notesSlides/notesSlide9.xml" Id="R37ec7581d9ed4aab"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1CF1E6E-A291-4CEF-9DEC-93943F9E85BB}"/>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EC2</a:t>
            </a:r>
          </a:p>
        </p:txBody>
      </p:sp>
      <p:sp>
        <p:nvSpPr>
          <p:cNvPr id="2" name="">
            <a:extLst xmlns:a="http://schemas.openxmlformats.org/drawingml/2006/main">
              <a:ext uri="{FF2B5EF4-FFF2-40B4-BE49-F238E27FC236}">
                <a16:creationId xmlns:a16="http://schemas.microsoft.com/office/drawing/2014/main" id="{FB1275DC-56B2-47D0-A07B-CF3923CF7D4E}"/>
              </a:ext>
            </a:extLst>
          </p:cNvPr>
          <p:cNvSpPr>
            <a:spLocks xmlns:a="http://schemas.openxmlformats.org/drawingml/2006/main" noGrp="1"/>
          </p:cNvSpPr>
          <p:nvPr/>
        </p:nvSpPr>
        <p:spPr>
          <a:xfrm xmlns:a="http://schemas.openxmlformats.org/drawingml/2006/main">
            <a:off x="685800" y="26670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A desktop client with</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coding-agent execution</a:t>
            </a:r>
          </a:p>
        </p:txBody>
      </p:sp>
      <p:sp>
        <p:nvSpPr>
          <p:cNvPr id="3" name="">
            <a:extLst xmlns:a="http://schemas.openxmlformats.org/drawingml/2006/main">
              <a:ext uri="{FF2B5EF4-FFF2-40B4-BE49-F238E27FC236}">
                <a16:creationId xmlns:a16="http://schemas.microsoft.com/office/drawing/2014/main" id="{D86BFB16-E971-43C3-A07A-5C3F1F6264EF}"/>
              </a:ext>
            </a:extLst>
          </p:cNvPr>
          <p:cNvSpPr>
            <a:spLocks xmlns:a="http://schemas.openxmlformats.org/drawingml/2006/main" noGrp="1"/>
          </p:cNvSpPr>
          <p:nvPr/>
        </p:nvSpPr>
        <p:spPr>
          <a:xfrm xmlns:a="http://schemas.openxmlformats.org/drawingml/2006/main">
            <a:off x="685800" y="48577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deployment in us-east-1</a:t>
            </a:r>
          </a:p>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Crew controls, an MCP service and AWS IAM</a:t>
            </a:r>
          </a:p>
        </p:txBody>
      </p:sp>
    </p:spTree>
    <p:extLst>
      <p:ext uri="{BB962C8B-B14F-4D97-AF65-F5344CB8AC3E}">
        <p14:creationId xmlns:p14="http://schemas.microsoft.com/office/powerpoint/2010/main" val="422371883"/>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053234-596F-4377-B578-F8470248EBE4}"/>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endpoint-control box</a:t>
            </a:r>
          </a:p>
        </p:txBody>
      </p:sp>
      <p:sp>
        <p:nvSpPr>
          <p:cNvPr id="2" name="">
            <a:extLst xmlns:a="http://schemas.openxmlformats.org/drawingml/2006/main">
              <a:ext uri="{FF2B5EF4-FFF2-40B4-BE49-F238E27FC236}">
                <a16:creationId xmlns:a16="http://schemas.microsoft.com/office/drawing/2014/main" id="{11FEE0A7-4649-4C6B-AA6D-08C6536B2258}"/>
              </a:ext>
            </a:extLst>
          </p:cNvPr>
          <p:cNvSpPr>
            <a:spLocks xmlns:a="http://schemas.openxmlformats.org/drawingml/2006/main" noGrp="1"/>
          </p:cNvSpPr>
          <p:nvPr/>
        </p:nvSpPr>
        <p:spPr>
          <a:xfrm xmlns:a="http://schemas.openxmlformats.org/drawingml/2006/main">
            <a:off x="609600" y="152400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008666"/>
                </a:solidFill>
                <a:latin typeface="Arial"/>
                <a:ea typeface="Arial"/>
                <a:cs typeface="Arial"/>
              </a:defRPr>
            </a:pPr>
            <a:r>
              <a:rPr sz="2700" b="1">
                <a:solidFill>
                  <a:srgbClr val="008666"/>
                </a:solidFill>
                <a:latin typeface="Arial"/>
                <a:ea typeface="Arial"/>
                <a:cs typeface="Arial"/>
              </a:rPr>
              <a:t>The execution host</a:t>
            </a:r>
          </a:p>
        </p:txBody>
      </p:sp>
      <p:sp>
        <p:nvSpPr>
          <p:cNvPr id="3" name="">
            <a:extLst xmlns:a="http://schemas.openxmlformats.org/drawingml/2006/main">
              <a:ext uri="{FF2B5EF4-FFF2-40B4-BE49-F238E27FC236}">
                <a16:creationId xmlns:a16="http://schemas.microsoft.com/office/drawing/2014/main" id="{B92DA741-65DD-487A-9EAD-6953DD235974}"/>
              </a:ext>
            </a:extLst>
          </p:cNvPr>
          <p:cNvSpPr>
            <a:spLocks xmlns:a="http://schemas.openxmlformats.org/drawingml/2006/main" noGrp="1"/>
          </p:cNvSpPr>
          <p:nvPr/>
        </p:nvSpPr>
        <p:spPr>
          <a:xfrm xmlns:a="http://schemas.openxmlformats.org/drawingml/2006/main">
            <a:off x="609600" y="2714625"/>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4" name="">
            <a:extLst xmlns:a="http://schemas.openxmlformats.org/drawingml/2006/main">
              <a:ext uri="{FF2B5EF4-FFF2-40B4-BE49-F238E27FC236}">
                <a16:creationId xmlns:a16="http://schemas.microsoft.com/office/drawing/2014/main" id="{40EE8CAC-DB59-4BB1-9784-7D94DEF4CD0E}"/>
              </a:ext>
            </a:extLst>
          </p:cNvPr>
          <p:cNvSpPr>
            <a:spLocks xmlns:a="http://schemas.openxmlformats.org/drawingml/2006/main" noGrp="1"/>
          </p:cNvSpPr>
          <p:nvPr/>
        </p:nvSpPr>
        <p:spPr>
          <a:xfrm xmlns:a="http://schemas.openxmlformats.org/drawingml/2006/main">
            <a:off x="609600" y="4000500"/>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sp>
        <p:nvSpPr>
          <p:cNvPr id="5" name="">
            <a:extLst xmlns:a="http://schemas.openxmlformats.org/drawingml/2006/main">
              <a:ext uri="{FF2B5EF4-FFF2-40B4-BE49-F238E27FC236}">
                <a16:creationId xmlns:a16="http://schemas.microsoft.com/office/drawing/2014/main" id="{D754E6F4-D95B-4B44-ADCF-D9B02E191289}"/>
              </a:ext>
            </a:extLst>
          </p:cNvPr>
          <p:cNvSpPr>
            <a:spLocks xmlns:a="http://schemas.openxmlformats.org/drawingml/2006/main" noGrp="1"/>
          </p:cNvSpPr>
          <p:nvPr/>
        </p:nvSpPr>
        <p:spPr>
          <a:xfrm xmlns:a="http://schemas.openxmlformats.org/drawingml/2006/main">
            <a:off x="609600" y="58578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Control map. The following slides show</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the deployed subset and its evidence.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1b0ed4130b842f4"/>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Tree>
    <p:extLst>
      <p:ext uri="{BB962C8B-B14F-4D97-AF65-F5344CB8AC3E}">
        <p14:creationId xmlns:p14="http://schemas.microsoft.com/office/powerpoint/2010/main" val="1600433686"/>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1D64FD0-5C39-40F2-A08E-D3BD0773BEA7}"/>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CloudFormation deployment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e5e9c8adfb984374"/>
          <a:stretch xmlns:a="http://schemas.openxmlformats.org/drawingml/2006/main"/>
        </p:blipFill>
        <p:spPr>
          <a:xfrm xmlns:a="http://schemas.openxmlformats.org/drawingml/2006/main">
            <a:off x="1858628" y="1314450"/>
            <a:ext cx="8474743"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FEC1DD2-07A2-4F98-AAA1-7F964135C46C}"/>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One t3a.small. SSH from the client IP /32. Gateway and MCP listen on loopback.</a:t>
            </a:r>
          </a:p>
        </p:txBody>
      </p:sp>
    </p:spTree>
    <p:extLst>
      <p:ext uri="{BB962C8B-B14F-4D97-AF65-F5344CB8AC3E}">
        <p14:creationId xmlns:p14="http://schemas.microsoft.com/office/powerpoint/2010/main" val="355662246"/>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20DFFFA-C975-4B10-A42A-E215542BB40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37719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066800">
                <a:tc>
                  <a:txBody>
                    <a:bodyPr/>
                    <a:lstStyle/>
                    <a:p>
                      <a:r>
                        <a:rPr sz="2100" b="0">
                          <a:solidFill>
                            <a:srgbClr val="10243B"/>
                          </a:solidFill>
                          <a:latin typeface="Arial"/>
                          <a:ea typeface="Arial"/>
                          <a:cs typeface="Arial"/>
                        </a:rPr>
                        <a:t>crew</a:t>
                      </a:r>
                    </a:p>
                  </a:txBody>
                  <a:tcPr marL="91440" marR="91440" marT="45720" marB="45720">
                    <a:solidFill>
                      <a:srgbClr val="FFFFFF"/>
                    </a:solidFill>
                  </a:tcPr>
                </a:tc>
                <a:tc>
                  <a:txBody>
                    <a:bodyPr/>
                    <a:lstStyle/>
                    <a:p>
                      <a:r>
                        <a:rPr sz="2100" b="0">
                          <a:solidFill>
                            <a:srgbClr val="10243B"/>
                          </a:solidFill>
                          <a:latin typeface="Arial"/>
                          <a:ea typeface="Arial"/>
                          <a:cs typeface="Arial"/>
                        </a:rPr>
                        <a:t>Gateway, Kiro CLI and workspace</a:t>
                      </a:r>
                    </a:p>
                    <a:p>
                      <a:r>
                        <a:rPr sz="2100" b="0">
                          <a:solidFill>
                            <a:srgbClr val="10243B"/>
                          </a:solidFill>
                          <a:latin typeface="Arial"/>
                          <a:ea typeface="Arial"/>
                          <a:cs typeface="Arial"/>
                        </a:rPr>
                        <a:t>Firewall blocks instance metadata</a:t>
                      </a:r>
                    </a:p>
                  </a:txBody>
                  <a:tcPr marL="91440" marR="91440" marT="45720" marB="45720">
                    <a:solidFill>
                      <a:srgbClr val="FFFFFF"/>
                    </a:solidFill>
                  </a:tcPr>
                </a:tc>
              </a:tr>
              <a:tr h="1066800">
                <a:tc>
                  <a:txBody>
                    <a:bodyPr/>
                    <a:lstStyle/>
                    <a:p>
                      <a:r>
                        <a:rPr sz="2100" b="0">
                          <a:solidFill>
                            <a:srgbClr val="10243B"/>
                          </a:solidFill>
                          <a:latin typeface="Arial"/>
                          <a:ea typeface="Arial"/>
                          <a:cs typeface="Arial"/>
                        </a:rPr>
                        <a:t>mcp-demo</a:t>
                      </a:r>
                    </a:p>
                  </a:txBody>
                  <a:tcPr marL="91440" marR="91440" marT="45720" marB="45720">
                    <a:solidFill>
                      <a:srgbClr val="E9EFF6"/>
                    </a:solidFill>
                  </a:tcPr>
                </a:tc>
                <a:tc>
                  <a:txBody>
                    <a:bodyPr/>
                    <a:lstStyle/>
                    <a:p>
                      <a:r>
                        <a:rPr sz="2100" b="0">
                          <a:solidFill>
                            <a:srgbClr val="10243B"/>
                          </a:solidFill>
                          <a:latin typeface="Arial"/>
                          <a:ea typeface="Arial"/>
                          <a:cs typeface="Arial"/>
                        </a:rPr>
                        <a:t>Fixed MCP tools and S3 reads</a:t>
                      </a:r>
                    </a:p>
                    <a:p>
                      <a:r>
                        <a:rPr sz="2100" b="0">
                          <a:solidFill>
                            <a:srgbClr val="10243B"/>
                          </a:solidFill>
                          <a:latin typeface="Arial"/>
                          <a:ea typeface="Arial"/>
                          <a:cs typeface="Arial"/>
                        </a:rPr>
                        <a:t>Instance role through IMDSv2</a:t>
                      </a:r>
                    </a:p>
                  </a:txBody>
                  <a:tcPr marL="91440" marR="91440" marT="45720" marB="45720">
                    <a:solidFill>
                      <a:srgbClr val="E9EFF6"/>
                    </a:solidFill>
                  </a:tcPr>
                </a:tc>
              </a:tr>
              <a:tr h="1066800">
                <a:tc>
                  <a:txBody>
                    <a:bodyPr/>
                    <a:lstStyle/>
                    <a:p>
                      <a:r>
                        <a:rPr sz="2100"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100" b="0">
                          <a:solidFill>
                            <a:srgbClr val="10243B"/>
                          </a:solidFill>
                          <a:latin typeface="Arial"/>
                          <a:ea typeface="Arial"/>
                          <a:cs typeface="Arial"/>
                        </a:rPr>
                        <a:t>Installs code and manages services</a:t>
                      </a:r>
                    </a:p>
                    <a:p>
                      <a:r>
                        <a:rPr sz="2100"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5B66044-CD68-4D42-A948-4EC4FA9FD9F7}"/>
              </a:ext>
            </a:extLst>
          </p:cNvPr>
          <p:cNvSpPr>
            <a:spLocks xmlns:a="http://schemas.openxmlformats.org/drawingml/2006/main" noGrp="1"/>
          </p:cNvSpPr>
          <p:nvPr/>
        </p:nvSpPr>
        <p:spPr>
          <a:xfrm xmlns:a="http://schemas.openxmlformats.org/drawingml/2006/main">
            <a:off x="609600" y="583882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The MCP process holds AWS authority. Crew reaches it through bounded tool calls.</a:t>
            </a:r>
          </a:p>
        </p:txBody>
      </p:sp>
    </p:spTree>
    <p:extLst>
      <p:ext uri="{BB962C8B-B14F-4D97-AF65-F5344CB8AC3E}">
        <p14:creationId xmlns:p14="http://schemas.microsoft.com/office/powerpoint/2010/main" val="1869882697"/>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23207EB-C080-45E3-90B1-2A55D5E3D349}"/>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3D06E8CB-375E-49D9-8063-AF32B33D62C8}"/>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Crew denial requires the native backend to reach its pre-execution gate.</a:t>
            </a:r>
          </a:p>
        </p:txBody>
      </p:sp>
    </p:spTree>
    <p:extLst>
      <p:ext uri="{BB962C8B-B14F-4D97-AF65-F5344CB8AC3E}">
        <p14:creationId xmlns:p14="http://schemas.microsoft.com/office/powerpoint/2010/main" val="2035462405"/>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C12A20-DE78-4905-AC64-D78C6987502D}"/>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Observed MCP and AWS results</a:t>
            </a:r>
          </a:p>
        </p:txBody>
      </p:sp>
      <p:sp>
        <p:nvSpPr>
          <p:cNvPr id="2" name="">
            <a:extLst xmlns:a="http://schemas.openxmlformats.org/drawingml/2006/main">
              <a:ext uri="{FF2B5EF4-FFF2-40B4-BE49-F238E27FC236}">
                <a16:creationId xmlns:a16="http://schemas.microsoft.com/office/drawing/2014/main" id="{C357A272-8EE9-439F-A324-A5683D5DC7A4}"/>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EC2</a:t>
            </a:r>
          </a:p>
        </p:txBody>
      </p:sp>
      <p:graphicFrame>
        <p:nvGraphicFramePr>
          <p:cNvPr id="7" name=""/>
          <p:cNvGraphicFramePr/>
          <p:nvPr/>
        </p:nvGraphicFramePr>
        <p:xfrm>
          <a:off xmlns:a="http://schemas.openxmlformats.org/drawingml/2006/main" x="609600" y="2314575"/>
          <a:ext xmlns:a="http://schemas.openxmlformats.org/drawingml/2006/main" cx="10972800" cy="3257550"/>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95350">
                <a:tc>
                  <a:txBody>
                    <a:bodyPr/>
                    <a:lstStyle/>
                    <a:p>
                      <a:r>
                        <a:rPr sz="2100" b="0">
                          <a:solidFill>
                            <a:srgbClr val="10243B"/>
                          </a:solidFill>
                          <a:latin typeface="Arial"/>
                          <a:ea typeface="Arial"/>
                          <a:cs typeface="Arial"/>
                        </a:rPr>
                        <a:t>read_allowed</a:t>
                      </a:r>
                    </a:p>
                  </a:txBody>
                  <a:tcPr marL="91440" marR="91440" marT="45720" marB="45720">
                    <a:solidFill>
                      <a:srgbClr val="FFFFFF"/>
                    </a:solidFill>
                  </a:tcPr>
                </a:tc>
                <a:tc>
                  <a:txBody>
                    <a:bodyPr/>
                    <a:lstStyle/>
                    <a:p>
                      <a:r>
                        <a:rPr sz="2100" b="0">
                          <a:solidFill>
                            <a:srgbClr val="10243B"/>
                          </a:solidFill>
                          <a:latin typeface="Arial"/>
                          <a:ea typeface="Arial"/>
                          <a:cs typeface="Arial"/>
                        </a:rPr>
                        <a:t>55 bytes</a:t>
                      </a:r>
                    </a:p>
                    <a:p>
                      <a:r>
                        <a:rPr sz="2100" b="0">
                          <a:solidFill>
                            <a:srgbClr val="10243B"/>
                          </a:solidFill>
                          <a:latin typeface="Arial"/>
                          <a:ea typeface="Arial"/>
                          <a:cs typeface="Arial"/>
                        </a:rPr>
                        <a:t>SHA256 34ebbefeb5f66527…</a:t>
                      </a:r>
                    </a:p>
                  </a:txBody>
                  <a:tcPr marL="91440" marR="91440" marT="45720" marB="45720">
                    <a:solidFill>
                      <a:srgbClr val="FFFFFF"/>
                    </a:solidFill>
                  </a:tcPr>
                </a:tc>
              </a:tr>
              <a:tr h="895350">
                <a:tc>
                  <a:txBody>
                    <a:bodyPr/>
                    <a:lstStyle/>
                    <a:p>
                      <a:r>
                        <a:rPr sz="2100" b="0">
                          <a:solidFill>
                            <a:srgbClr val="10243B"/>
                          </a:solidFill>
                          <a:latin typeface="Arial"/>
                          <a:ea typeface="Arial"/>
                          <a:cs typeface="Arial"/>
                        </a:rPr>
                        <a:t>mcp_denied</a:t>
                      </a:r>
                    </a:p>
                  </a:txBody>
                  <a:tcPr marL="91440" marR="91440" marT="45720" marB="45720">
                    <a:solidFill>
                      <a:srgbClr val="E9EFF6"/>
                    </a:solidFill>
                  </a:tcPr>
                </a:tc>
                <a:tc>
                  <a:txBody>
                    <a:bodyPr/>
                    <a:lstStyle/>
                    <a:p>
                      <a:r>
                        <a:rPr sz="2100" b="0">
                          <a:solidFill>
                            <a:srgbClr val="10243B"/>
                          </a:solidFill>
                          <a:latin typeface="Arial"/>
                          <a:ea typeface="Arial"/>
                          <a:cs typeface="Arial"/>
                        </a:rPr>
                        <a:t>tool_grant_denied</a:t>
                      </a:r>
                    </a:p>
                    <a:p>
                      <a:r>
                        <a:rPr sz="2100" b="0">
                          <a:solidFill>
                            <a:srgbClr val="10243B"/>
                          </a:solidFill>
                          <a:latin typeface="Arial"/>
                          <a:ea typeface="Arial"/>
                          <a:cs typeface="Arial"/>
                        </a:rPr>
                        <a:t>No AWS dispatch for that trace</a:t>
                      </a:r>
                    </a:p>
                  </a:txBody>
                  <a:tcPr marL="91440" marR="91440" marT="45720" marB="45720">
                    <a:solidFill>
                      <a:srgbClr val="E9EFF6"/>
                    </a:solidFill>
                  </a:tcPr>
                </a:tc>
              </a:tr>
              <a:tr h="895350">
                <a:tc>
                  <a:txBody>
                    <a:bodyPr/>
                    <a:lstStyle/>
                    <a:p>
                      <a:r>
                        <a:rPr sz="2100" b="0">
                          <a:solidFill>
                            <a:srgbClr val="10243B"/>
                          </a:solidFill>
                          <a:latin typeface="Arial"/>
                          <a:ea typeface="Arial"/>
                          <a:cs typeface="Arial"/>
                        </a:rPr>
                        <a:t>iam_denied</a:t>
                      </a:r>
                    </a:p>
                  </a:txBody>
                  <a:tcPr marL="91440" marR="91440" marT="45720" marB="45720">
                    <a:solidFill>
                      <a:srgbClr val="FFFFFF"/>
                    </a:solidFill>
                  </a:tcPr>
                </a:tc>
                <a:tc>
                  <a:txBody>
                    <a:bodyPr/>
                    <a:lstStyle/>
                    <a:p>
                      <a:r>
                        <a:rPr sz="2100" b="0">
                          <a:solidFill>
                            <a:srgbClr val="10243B"/>
                          </a:solidFill>
                          <a:latin typeface="Arial"/>
                          <a:ea typeface="Arial"/>
                          <a:cs typeface="Arial"/>
                        </a:rPr>
                        <a:t>S3 AccessDenied, HTTP 403</a:t>
                      </a:r>
                    </a:p>
                    <a:p>
                      <a:r>
                        <a:rPr sz="2100" b="0">
                          <a:solidFill>
                            <a:srgbClr val="10243B"/>
                          </a:solidFill>
                          <a:latin typeface="Arial"/>
                          <a:ea typeface="Arial"/>
                          <a:cs typeface="Arial"/>
                        </a:rPr>
                        <a:t>AWS request ID recorded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5B1B012-33B7-4CC4-8E9C-877B348FD3F6}"/>
              </a:ext>
            </a:extLst>
          </p:cNvPr>
          <p:cNvSpPr>
            <a:spLocks xmlns:a="http://schemas.openxmlformats.org/drawingml/2006/main" noGrp="1"/>
          </p:cNvSpPr>
          <p:nvPr/>
        </p:nvSpPr>
        <p:spPr>
          <a:xfrm xmlns:a="http://schemas.openxmlformats.org/drawingml/2006/main">
            <a:off x="609600" y="60198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native Crew session remains a separate verification step.</a:t>
            </a:r>
          </a:p>
        </p:txBody>
      </p:sp>
    </p:spTree>
    <p:extLst>
      <p:ext uri="{BB962C8B-B14F-4D97-AF65-F5344CB8AC3E}">
        <p14:creationId xmlns:p14="http://schemas.microsoft.com/office/powerpoint/2010/main" val="186441274"/>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FCAAF0-96CB-4715-A104-9632B8AA4A1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Installed nightly and client baseline</a:t>
            </a:r>
          </a:p>
        </p:txBody>
      </p:sp>
      <p:sp>
        <p:nvSpPr>
          <p:cNvPr id="2" name="">
            <a:extLst xmlns:a="http://schemas.openxmlformats.org/drawingml/2006/main">
              <a:ext uri="{FF2B5EF4-FFF2-40B4-BE49-F238E27FC236}">
                <a16:creationId xmlns:a16="http://schemas.microsoft.com/office/drawing/2014/main" id="{CBD61BB2-A293-47AF-8E70-BB0F68243047}"/>
              </a:ext>
            </a:extLst>
          </p:cNvPr>
          <p:cNvSpPr>
            <a:spLocks xmlns:a="http://schemas.openxmlformats.org/drawingml/2006/main" noGrp="1"/>
          </p:cNvSpPr>
          <p:nvPr/>
        </p:nvSpPr>
        <p:spPr>
          <a:xfrm xmlns:a="http://schemas.openxmlformats.org/drawingml/2006/main">
            <a:off x="609600" y="156210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Crew package</a:t>
            </a:r>
          </a:p>
        </p:txBody>
      </p:sp>
      <p:sp>
        <p:nvSpPr>
          <p:cNvPr id="3" name="">
            <a:extLst xmlns:a="http://schemas.openxmlformats.org/drawingml/2006/main">
              <a:ext uri="{FF2B5EF4-FFF2-40B4-BE49-F238E27FC236}">
                <a16:creationId xmlns:a16="http://schemas.microsoft.com/office/drawing/2014/main" id="{68E8CA01-0C02-4BA8-8102-82E524789D47}"/>
              </a:ext>
            </a:extLst>
          </p:cNvPr>
          <p:cNvSpPr>
            <a:spLocks xmlns:a="http://schemas.openxmlformats.org/drawingml/2006/main" noGrp="1"/>
          </p:cNvSpPr>
          <p:nvPr/>
        </p:nvSpPr>
        <p:spPr>
          <a:xfrm xmlns:a="http://schemas.openxmlformats.org/drawingml/2006/main">
            <a:off x="609600" y="228600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0.7.0-nightly.20260912t060850</a:t>
            </a:r>
          </a:p>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Custom Linux repack of the installed package</a:t>
            </a:r>
          </a:p>
        </p:txBody>
      </p:sp>
      <p:sp>
        <p:nvSpPr>
          <p:cNvPr id="4" name="">
            <a:extLst xmlns:a="http://schemas.openxmlformats.org/drawingml/2006/main">
              <a:ext uri="{FF2B5EF4-FFF2-40B4-BE49-F238E27FC236}">
                <a16:creationId xmlns:a16="http://schemas.microsoft.com/office/drawing/2014/main" id="{542F10F9-37E7-4A21-8D88-E56D845BF192}"/>
              </a:ext>
            </a:extLst>
          </p:cNvPr>
          <p:cNvSpPr>
            <a:spLocks xmlns:a="http://schemas.openxmlformats.org/drawingml/2006/main" noGrp="1"/>
          </p:cNvSpPr>
          <p:nvPr/>
        </p:nvSpPr>
        <p:spPr>
          <a:xfrm xmlns:a="http://schemas.openxmlformats.org/drawingml/2006/main">
            <a:off x="609600" y="354330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Kiro CLI backend</a:t>
            </a:r>
          </a:p>
        </p:txBody>
      </p:sp>
      <p:sp>
        <p:nvSpPr>
          <p:cNvPr id="5" name="">
            <a:extLst xmlns:a="http://schemas.openxmlformats.org/drawingml/2006/main">
              <a:ext uri="{FF2B5EF4-FFF2-40B4-BE49-F238E27FC236}">
                <a16:creationId xmlns:a16="http://schemas.microsoft.com/office/drawing/2014/main" id="{56699E85-9747-43D1-803E-53C5EFBAE67D}"/>
              </a:ext>
            </a:extLst>
          </p:cNvPr>
          <p:cNvSpPr>
            <a:spLocks xmlns:a="http://schemas.openxmlformats.org/drawingml/2006/main" noGrp="1"/>
          </p:cNvSpPr>
          <p:nvPr/>
        </p:nvSpPr>
        <p:spPr>
          <a:xfrm xmlns:a="http://schemas.openxmlformats.org/drawingml/2006/main">
            <a:off x="609600" y="426720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2.21.4 official Linux artifact</a:t>
            </a:r>
          </a:p>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Hash-locked Linux dependencies for Crew</a:t>
            </a:r>
          </a:p>
        </p:txBody>
      </p:sp>
      <p:sp>
        <p:nvSpPr>
          <p:cNvPr id="6" name="">
            <a:extLst xmlns:a="http://schemas.openxmlformats.org/drawingml/2006/main">
              <a:ext uri="{FF2B5EF4-FFF2-40B4-BE49-F238E27FC236}">
                <a16:creationId xmlns:a16="http://schemas.microsoft.com/office/drawing/2014/main" id="{AD41DDCF-189B-4B7C-8A1D-4227C549A0D0}"/>
              </a:ext>
            </a:extLst>
          </p:cNvPr>
          <p:cNvSpPr>
            <a:spLocks xmlns:a="http://schemas.openxmlformats.org/drawingml/2006/main" noGrp="1"/>
          </p:cNvSpPr>
          <p:nvPr/>
        </p:nvSpPr>
        <p:spPr>
          <a:xfrm xmlns:a="http://schemas.openxmlformats.org/drawingml/2006/main">
            <a:off x="609600" y="58102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008666"/>
                </a:solidFill>
                <a:latin typeface="Arial"/>
                <a:ea typeface="Arial"/>
                <a:cs typeface="Arial"/>
              </a:defRPr>
            </a:pPr>
            <a:r>
              <a:rPr sz="1950" b="0">
                <a:solidFill>
                  <a:srgbClr val="008666"/>
                </a:solidFill>
                <a:latin typeface="Arial"/>
                <a:ea typeface="Arial"/>
                <a:cs typeface="Arial"/>
              </a:rPr>
              <a:t>Desktop runtime verified with the local Gateway off.</a:t>
            </a:r>
          </a:p>
        </p:txBody>
      </p:sp>
    </p:spTree>
    <p:extLst>
      <p:ext uri="{BB962C8B-B14F-4D97-AF65-F5344CB8AC3E}">
        <p14:creationId xmlns:p14="http://schemas.microsoft.com/office/powerpoint/2010/main" val="2141829658"/>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5B9AF2-285A-4B88-8E3A-8555E220589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CF8CC1F9-7776-4521-A383-A5A94775F1C9}"/>
              </a:ext>
            </a:extLst>
          </p:cNvPr>
          <p:cNvSpPr>
            <a:spLocks xmlns:a="http://schemas.openxmlformats.org/drawingml/2006/main" noGrp="1"/>
          </p:cNvSpPr>
          <p:nvPr/>
        </p:nvSpPr>
        <p:spPr>
          <a:xfrm xmlns:a="http://schemas.openxmlformats.org/drawingml/2006/main">
            <a:off x="609600" y="16287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1   Confirm the desktop uses the EC2 Gateway</a:t>
            </a:r>
          </a:p>
        </p:txBody>
      </p:sp>
      <p:sp>
        <p:nvSpPr>
          <p:cNvPr id="3" name="">
            <a:extLst xmlns:a="http://schemas.openxmlformats.org/drawingml/2006/main">
              <a:ext uri="{FF2B5EF4-FFF2-40B4-BE49-F238E27FC236}">
                <a16:creationId xmlns:a16="http://schemas.microsoft.com/office/drawing/2014/main" id="{B6BB8124-E41D-46F5-BF82-F4EC3DB2B86E}"/>
              </a:ext>
            </a:extLst>
          </p:cNvPr>
          <p:cNvSpPr>
            <a:spLocks xmlns:a="http://schemas.openxmlformats.org/drawingml/2006/main" noGrp="1"/>
          </p:cNvSpPr>
          <p:nvPr/>
        </p:nvSpPr>
        <p:spPr>
          <a:xfrm xmlns:a="http://schemas.openxmlformats.org/drawingml/2006/main">
            <a:off x="609600" y="26098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2   Open the remote workspace and Kiro CLI session</a:t>
            </a:r>
          </a:p>
        </p:txBody>
      </p:sp>
      <p:sp>
        <p:nvSpPr>
          <p:cNvPr id="4" name="">
            <a:extLst xmlns:a="http://schemas.openxmlformats.org/drawingml/2006/main">
              <a:ext uri="{FF2B5EF4-FFF2-40B4-BE49-F238E27FC236}">
                <a16:creationId xmlns:a16="http://schemas.microsoft.com/office/drawing/2014/main" id="{BBFF1611-6FC2-4B9E-AFB1-32C6A9E6D4D7}"/>
              </a:ext>
            </a:extLst>
          </p:cNvPr>
          <p:cNvSpPr>
            <a:spLocks xmlns:a="http://schemas.openxmlformats.org/drawingml/2006/main" noGrp="1"/>
          </p:cNvSpPr>
          <p:nvPr/>
        </p:nvSpPr>
        <p:spPr>
          <a:xfrm xmlns:a="http://schemas.openxmlformats.org/drawingml/2006/main">
            <a:off x="609600" y="35909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3   Run the four fixed tools, approving individual calls</a:t>
            </a:r>
          </a:p>
        </p:txBody>
      </p:sp>
      <p:sp>
        <p:nvSpPr>
          <p:cNvPr id="5" name="">
            <a:extLst xmlns:a="http://schemas.openxmlformats.org/drawingml/2006/main">
              <a:ext uri="{FF2B5EF4-FFF2-40B4-BE49-F238E27FC236}">
                <a16:creationId xmlns:a16="http://schemas.microsoft.com/office/drawing/2014/main" id="{084565B9-7324-4438-BEB4-1B2C85EA09B6}"/>
              </a:ext>
            </a:extLst>
          </p:cNvPr>
          <p:cNvSpPr>
            <a:spLocks xmlns:a="http://schemas.openxmlformats.org/drawingml/2006/main" noGrp="1"/>
          </p:cNvSpPr>
          <p:nvPr/>
        </p:nvSpPr>
        <p:spPr>
          <a:xfrm xmlns:a="http://schemas.openxmlformats.org/drawingml/2006/main">
            <a:off x="609600" y="4572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4   Compare Crew, MCP and AWS records by trace ID</a:t>
            </a:r>
          </a:p>
        </p:txBody>
      </p:sp>
      <p:sp>
        <p:nvSpPr>
          <p:cNvPr id="6" name="">
            <a:extLst xmlns:a="http://schemas.openxmlformats.org/drawingml/2006/main">
              <a:ext uri="{FF2B5EF4-FFF2-40B4-BE49-F238E27FC236}">
                <a16:creationId xmlns:a16="http://schemas.microsoft.com/office/drawing/2014/main" id="{0AAA1286-1ADD-4D78-AC94-45FBE0B8426D}"/>
              </a:ext>
            </a:extLst>
          </p:cNvPr>
          <p:cNvSpPr>
            <a:spLocks xmlns:a="http://schemas.openxmlformats.org/drawingml/2006/main" noGrp="1"/>
          </p:cNvSpPr>
          <p:nvPr/>
        </p:nvSpPr>
        <p:spPr>
          <a:xfrm xmlns:a="http://schemas.openxmlformats.org/drawingml/2006/main">
            <a:off x="609600" y="5791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Native Kiro CLI sign-in and backend session verification pending.</a:t>
            </a:r>
          </a:p>
        </p:txBody>
      </p:sp>
    </p:spTree>
    <p:extLst>
      <p:ext uri="{BB962C8B-B14F-4D97-AF65-F5344CB8AC3E}">
        <p14:creationId xmlns:p14="http://schemas.microsoft.com/office/powerpoint/2010/main" val="1141398880"/>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5B18F5-0E39-41AD-AC8C-ED2A469FFE68}"/>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Demo cost and return to baseline</a:t>
            </a:r>
          </a:p>
        </p:txBody>
      </p:sp>
      <p:sp>
        <p:nvSpPr>
          <p:cNvPr id="2" name="">
            <a:extLst xmlns:a="http://schemas.openxmlformats.org/drawingml/2006/main">
              <a:ext uri="{FF2B5EF4-FFF2-40B4-BE49-F238E27FC236}">
                <a16:creationId xmlns:a16="http://schemas.microsoft.com/office/drawing/2014/main" id="{5276F0A5-CFB7-4C64-ACC9-4810CB9AB604}"/>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$0.024 per running hour</a:t>
            </a:r>
          </a:p>
        </p:txBody>
      </p:sp>
      <p:sp>
        <p:nvSpPr>
          <p:cNvPr id="3" name="">
            <a:extLst xmlns:a="http://schemas.openxmlformats.org/drawingml/2006/main">
              <a:ext uri="{FF2B5EF4-FFF2-40B4-BE49-F238E27FC236}">
                <a16:creationId xmlns:a16="http://schemas.microsoft.com/office/drawing/2014/main" id="{CB9AC21E-5635-462E-93F5-C7A071C83CEF}"/>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Storage adds $1.92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About $19 per month if always on, before other usage.</a:t>
            </a:r>
          </a:p>
        </p:txBody>
      </p:sp>
      <p:sp>
        <p:nvSpPr>
          <p:cNvPr id="4" name="">
            <a:extLst xmlns:a="http://schemas.openxmlformats.org/drawingml/2006/main">
              <a:ext uri="{FF2B5EF4-FFF2-40B4-BE49-F238E27FC236}">
                <a16:creationId xmlns:a16="http://schemas.microsoft.com/office/drawing/2014/main" id="{36279C38-1DD5-4164-BEE3-6E71D5C5018E}"/>
              </a:ext>
            </a:extLst>
          </p:cNvPr>
          <p:cNvSpPr>
            <a:spLocks xmlns:a="http://schemas.openxmlformats.org/drawingml/2006/main" noGrp="1"/>
          </p:cNvSpPr>
          <p:nvPr/>
        </p:nvSpPr>
        <p:spPr>
          <a:xfrm xmlns:a="http://schemas.openxmlformats.org/drawingml/2006/main">
            <a:off x="6096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After the demo</a:t>
            </a:r>
          </a:p>
        </p:txBody>
      </p:sp>
      <p:sp>
        <p:nvSpPr>
          <p:cNvPr id="5" name="">
            <a:extLst xmlns:a="http://schemas.openxmlformats.org/drawingml/2006/main">
              <a:ext uri="{FF2B5EF4-FFF2-40B4-BE49-F238E27FC236}">
                <a16:creationId xmlns:a16="http://schemas.microsoft.com/office/drawing/2014/main" id="{2E531E82-653E-4517-BDB4-52418E1CE9FF}"/>
              </a:ext>
            </a:extLst>
          </p:cNvPr>
          <p:cNvSpPr>
            <a:spLocks xmlns:a="http://schemas.openxmlformats.org/drawingml/2006/main" noGrp="1"/>
          </p:cNvSpPr>
          <p:nvPr/>
        </p:nvSpPr>
        <p:spPr>
          <a:xfrm xmlns:a="http://schemas.openxmlformats.org/drawingml/2006/main">
            <a:off x="609600" y="4638675"/>
            <a:ext cx="10858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Stop the instance. EBS remains.</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Refresh its address after restart.</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Stack deletion retains the S3 demo data.</a:t>
            </a:r>
          </a:p>
        </p:txBody>
      </p:sp>
      <p:sp>
        <p:nvSpPr>
          <p:cNvPr id="6" name="">
            <a:extLst xmlns:a="http://schemas.openxmlformats.org/drawingml/2006/main">
              <a:ext uri="{FF2B5EF4-FFF2-40B4-BE49-F238E27FC236}">
                <a16:creationId xmlns:a16="http://schemas.microsoft.com/office/drawing/2014/main" id="{1EB9846B-AD48-4942-83E4-5C75879B6625}"/>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2 GiB host. The UI warns about low memory. Full-session performance is pending.</a:t>
            </a:r>
          </a:p>
        </p:txBody>
      </p:sp>
    </p:spTree>
    <p:extLst>
      <p:ext uri="{BB962C8B-B14F-4D97-AF65-F5344CB8AC3E}">
        <p14:creationId xmlns:p14="http://schemas.microsoft.com/office/powerpoint/2010/main" val="15222990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2026-09-13T04:34:58.5630000Z</dcterms:created>
  <dcterms:modified xsi:type="dcterms:W3CDTF">2026-09-13T04:34:58.5630000Z</dcterms:modified>
</coreProperties>
</file>