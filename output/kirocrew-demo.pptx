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3bc960de9d437c" /><Relationship Type="http://schemas.openxmlformats.org/officeDocument/2006/relationships/extended-properties" Target="/docProps/app.xml" Id="R869dbe1296d84deb" /><Relationship Type="http://schemas.openxmlformats.org/officeDocument/2006/relationships/officeDocument" Target="/ppt/presentation.xml" Id="Rba0e4e0dc13f4630" /></Relationships>
</file>

<file path=ppt/presentation.xml><?xml version="1.0" encoding="utf-8"?>
<p:presentation xmlns:p="http://schemas.openxmlformats.org/presentationml/2006/main">
  <p:sldMasterIdLst>
    <p:sldMasterId xmlns:r="http://schemas.openxmlformats.org/officeDocument/2006/relationships" id="2147483648" r:id="R960878b566df438f"/>
  </p:sldMasterIdLst>
  <p:notesMasterIdLst>
    <p:notesMasterId xmlns:r="http://schemas.openxmlformats.org/officeDocument/2006/relationships" r:id="Rfcada770eb5a4163"/>
  </p:notesMasterIdLst>
  <p:sldIdLst>
    <p:sldId xmlns:r="http://schemas.openxmlformats.org/officeDocument/2006/relationships" id="256" r:id="R51b0898282c34cc6"/>
    <p:sldId xmlns:r="http://schemas.openxmlformats.org/officeDocument/2006/relationships" id="257" r:id="R029e97f8c62a42b9"/>
    <p:sldId xmlns:r="http://schemas.openxmlformats.org/officeDocument/2006/relationships" id="258" r:id="R27171f97e1bc4e14"/>
    <p:sldId xmlns:r="http://schemas.openxmlformats.org/officeDocument/2006/relationships" id="259" r:id="R982aeb9fe0f848a1"/>
    <p:sldId xmlns:r="http://schemas.openxmlformats.org/officeDocument/2006/relationships" id="260" r:id="Rb1a63a1d1bdc4c74"/>
    <p:sldId xmlns:r="http://schemas.openxmlformats.org/officeDocument/2006/relationships" id="261" r:id="Ra3d097bfe7e84e57"/>
    <p:sldId xmlns:r="http://schemas.openxmlformats.org/officeDocument/2006/relationships" id="262" r:id="R318a831f166641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355921d09c4982" /><Relationship Type="http://schemas.openxmlformats.org/officeDocument/2006/relationships/slideMaster" Target="/ppt/slideMasters/slideMaster1.xml" Id="R960878b566df438f" /><Relationship Type="http://schemas.openxmlformats.org/officeDocument/2006/relationships/notesMaster" Target="/ppt/notesMasters/notesMaster1.xml" Id="Rfcada770eb5a4163" /><Relationship Type="http://schemas.openxmlformats.org/officeDocument/2006/relationships/presProps" Target="/ppt/presProps.xml" Id="Recfa39492c4a4747" /><Relationship Type="http://schemas.openxmlformats.org/officeDocument/2006/relationships/tableStyles" Target="/ppt/tableStyles.xml" Id="R5a2093bf8e1548fd" /><Relationship Type="http://schemas.openxmlformats.org/officeDocument/2006/relationships/slide" Target="/ppt/slides/slide1.xml" Id="R51b0898282c34cc6" /><Relationship Type="http://schemas.openxmlformats.org/officeDocument/2006/relationships/slide" Target="/ppt/slides/slide2.xml" Id="R029e97f8c62a42b9" /><Relationship Type="http://schemas.openxmlformats.org/officeDocument/2006/relationships/slide" Target="/ppt/slides/slide3.xml" Id="R27171f97e1bc4e14" /><Relationship Type="http://schemas.openxmlformats.org/officeDocument/2006/relationships/slide" Target="/ppt/slides/slide4.xml" Id="R982aeb9fe0f848a1" /><Relationship Type="http://schemas.openxmlformats.org/officeDocument/2006/relationships/slide" Target="/ppt/slides/slide5.xml" Id="Rb1a63a1d1bdc4c74" /><Relationship Type="http://schemas.openxmlformats.org/officeDocument/2006/relationships/slide" Target="/ppt/slides/slide6.xml" Id="Ra3d097bfe7e84e57" /><Relationship Type="http://schemas.openxmlformats.org/officeDocument/2006/relationships/slide" Target="/ppt/slides/slide7.xml" Id="R318a831f166641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78408c6d914d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7e1876e24f4c3f" /><Relationship Type="http://schemas.openxmlformats.org/officeDocument/2006/relationships/notesMaster" Target="/ppt/notesMasters/notesMaster1.xml" Id="Rc8bb0fa3e9bb4f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b5434de0af4671" /><Relationship Type="http://schemas.openxmlformats.org/officeDocument/2006/relationships/notesMaster" Target="/ppt/notesMasters/notesMaster1.xml" Id="R6e737b62e4c845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a0e5532973401e" /><Relationship Type="http://schemas.openxmlformats.org/officeDocument/2006/relationships/notesMaster" Target="/ppt/notesMasters/notesMaster1.xml" Id="R2e9efb992be849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951abc25d74307" /><Relationship Type="http://schemas.openxmlformats.org/officeDocument/2006/relationships/notesMaster" Target="/ppt/notesMasters/notesMaster1.xml" Id="Rd827ff21c8414c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3ef7304a114b24" /><Relationship Type="http://schemas.openxmlformats.org/officeDocument/2006/relationships/notesMaster" Target="/ppt/notesMasters/notesMaster1.xml" Id="Rbff3aee10d5044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9a7f0beaa848e7" /><Relationship Type="http://schemas.openxmlformats.org/officeDocument/2006/relationships/notesMaster" Target="/ppt/notesMasters/notesMaster1.xml" Id="R7e9c62480f0743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16bdb2f3534ebb" /><Relationship Type="http://schemas.openxmlformats.org/officeDocument/2006/relationships/notesMaster" Target="/ppt/notesMasters/notesMaster1.xml" Id="Re299e256781d4a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Crew is a persistent workspace and Gateway around coding-agent execution. It manages sessions, context, approvals and policy on the execution host. The reviewed public backend registry registers Kiro CLI, Codex and Claude Code alongside KAS. A registered provider still needs its executable, authentication and governance admission to be usable. This rehearsal does not start a backend. Sources: https://github.com/kirodotdev/KiroCrew/blob/fa0d8cf3c241b3b53b81fe4115ab70a30c1ca482/src/kiro_crew/agent_sdk/backends.py ; https://github.com/kirodotdev/KiroCrew/blob/fa0d8cf3c241b3b53b81fe4115ab70a30c1ca482/src/kiro_crew/agent_backend_governance.py . Diagram and pinned-link baseline: 0.7.0.dev20260911060948. Rehearsal: user-installed 0.7.0-nightly.20260912t060850, copied and fingerprinted locally. The CDN latest feed remains inaccessible; latest is user-reported.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00:30–01:15. Keep this one box intact. In local mode it is the developer machine. In remote mode Crew Gateway, selected backend and workspace run together on the server. EDR and OS controls belong to the enterprise. L0–L5 and policy apply at their covered Crew/backend boundaries. Switch to Security layers in the viewer to trace the outside actors. Source image: evidence/browser/endpoint-slide.png, browser screenshot of the unchanged accepted endpoint SVG. Sources: HANDOFF.md; https://github.com/kirodotdev/KiroCrew/blob/fa0d8cf3c241b3b53b81fe4115ab70a30c1ca482/src/kiro_crew/security_posture.py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01:15–02:00. The numbered layers are a control map. A tool must reach a pre-execution hook or permission callback for prevention. An event received after execution only supports observation. The same local or remote host still needs enterprise protection. Sources: https://github.com/kirodotdev/KiroCrew/blob/fa0d8cf3c241b3b53b81fe4115ab70a30c1ca482/src/kiro_crew/hooks.py ; https://github.com/kirodotdev/KiroCrew/blob/fa0d8cf3c241b3b53b81fe4115ab70a30c1ca482/src/kiro_crew/security/paths.py ; https://github.com/kirodotdev/KiroCrew/blob/fa0d8cf3c241b3b53b81fe4115ab70a30c1ca482/src/kiro_crew/sel.py ; https://docs.litellm.ai/docs/mcp_control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02:00–02:45. Proposed external integration. Caller authentication, tool permission and downstream resource authority are separate checks. LiteLLM documents server/tool restrictions and several OAuth flows. Interactive authorization-code PKCE is for user consent; client credentials is for service identities. Entra delegation uses its OBO profile, with caller token audience for the LiteLLM app registration. SigV4 uses separate AWS workload credentials. Pin and rehearse the deployed LiteLLM version before using exact configuration. Current docs accessed September 12 EDT / September 13 UTC, 2026. Sources: https://docs.litellm.ai/docs/mcp_control ; https://docs.litellm.ai/docs/mcp_oauth ; https://docs.litellm.ai/docs/mcp_obo_auth ; https://docs.litellm.ai/docs/mcp_aws_sigv4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02:45–03:30. Open the AWS deployment tab after this slide for the readable full topology. The private EC2 host is the retained design. SSM controls transport access. A privileged sync adapter would write S3 policy artifacts to a protected local file while Crew runs unprivileged. Broad instance-profile credentials must be unavailable to agent processes through an effective boundary. The optional MCP tier and collector need their own roles and configuration. CloudTrail records Session Manager API activity; SSM does not record port-forwarded payloads. No resources deployed here. Sources: accepted kirocrew-aws-deployment-preview.png; kirocrew-aws-deployment-notes.md; https://docs.aws.amazon.com/systems-manager/latest/userguide/session-manager.html ; https://docs.aws.amazon.com/systems-manager/latest/userguide/session-manager-auditing.html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 Switch to terminal in this project and run ./demo.sh --interactive. Expect about one minute on this Mac, with the intentional approval pause. Explain the scope before running: real functions from the frozen user-installed September 12 nightly package, with synthetic tool requests, no ACP backend and no cloud calls. ReadDemo auto-approves. WriteDemo returns normal handling and the harness asks the presenter to type APPROVE. DenyDemo never executes. The protected-policy fixture stays unchanged. The exfiltration-shaped command is classified but never sent to a shell. Policy/Profile identifies the limiting level. The fake credential redacts. Seven SEL entries verify, then a changed record fails and the restored log passes. Source and runnable evidence: scripts/run-live-demo.py; evidence/live/latest.json.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terminal demonstration, return here for 30 seconds. The local harness shows controls from installed nightly 0.7.0-nightly.20260912t060850. Package bytes are recorded in evidence/nightly/installed-nightly-verification.json; no source commit is claimed for that package. The MCP and IAM rows are acceptance criteria for a future deployment, not observed outcomes. Use one request identifier across the service boundary. An MCP denial should show the target handler was not invoked. For IAM denial, first prove the MCP grant permitted the call, then show the AWS error and target evidence. Never fabricate a cloud receipt. Source: HANDOFF.md; https://docs.litellm.ai/docs/mcp_control ; https://docs.aws.amazon.com/systems-manager/latest/userguide/session-manager-auditing.html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7b7bcaa7e348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cf72d3b7cf4d01" /><Relationship Type="http://schemas.openxmlformats.org/officeDocument/2006/relationships/slideLayout" Target="/ppt/slideLayouts/slideLayout1.xml" Id="R1f1b265b886346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1b265b886346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154521865949b4" /><Relationship Type="http://schemas.openxmlformats.org/officeDocument/2006/relationships/notesSlide" Target="/ppt/notesSlides/notesSlide1.xml" Id="Re6162be2d0984f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e31e573d3940cd" /><Relationship Type="http://schemas.openxmlformats.org/officeDocument/2006/relationships/image" Target="/ppt/media/image.png" Id="Rfbdb85c8e99e4aff" /><Relationship Type="http://schemas.openxmlformats.org/officeDocument/2006/relationships/notesSlide" Target="/ppt/notesSlides/notesSlide2.xml" Id="R10c6060d59e342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0d423db15748cb" /><Relationship Type="http://schemas.openxmlformats.org/officeDocument/2006/relationships/notesSlide" Target="/ppt/notesSlides/notesSlide3.xml" Id="R8541d1e2028e48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33ffaa629240fe" /><Relationship Type="http://schemas.openxmlformats.org/officeDocument/2006/relationships/notesSlide" Target="/ppt/notesSlides/notesSlide4.xml" Id="Rc081ba48ba2043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e45c23df854428" /><Relationship Type="http://schemas.openxmlformats.org/officeDocument/2006/relationships/image" Target="/ppt/media/image2.png" Id="Rca2ab9a02df94f53" /><Relationship Type="http://schemas.openxmlformats.org/officeDocument/2006/relationships/notesSlide" Target="/ppt/notesSlides/notesSlide5.xml" Id="Re17a5323c26d43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693842079040c5" /><Relationship Type="http://schemas.openxmlformats.org/officeDocument/2006/relationships/notesSlide" Target="/ppt/notesSlides/notesSlide6.xml" Id="R2525a1d608b94c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2fefd83f7c4c0e" /><Relationship Type="http://schemas.openxmlformats.org/officeDocument/2006/relationships/notesSlide" Target="/ppt/notesSlides/notesSlide7.xml" Id="R25b8435c19ac4b8a"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1959133-A374-488E-A954-576DC4220AE9}"/>
              </a:ext>
            </a:extLst>
          </p:cNvPr>
          <p:cNvSpPr>
            <a:spLocks xmlns:a="http://schemas.openxmlformats.org/drawingml/2006/main" noGrp="1"/>
          </p:cNvSpPr>
          <p:nvPr/>
        </p:nvSpPr>
        <p:spPr>
          <a:xfrm xmlns:a="http://schemas.openxmlformats.org/drawingml/2006/main">
            <a:off x="647700" y="1000125"/>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KiroCrew</a:t>
            </a:r>
          </a:p>
        </p:txBody>
      </p:sp>
      <p:sp>
        <p:nvSpPr>
          <p:cNvPr id="2" name="">
            <a:extLst xmlns:a="http://schemas.openxmlformats.org/drawingml/2006/main">
              <a:ext uri="{FF2B5EF4-FFF2-40B4-BE49-F238E27FC236}">
                <a16:creationId xmlns:a16="http://schemas.microsoft.com/office/drawing/2014/main" id="{AE1B5266-5CD0-431E-8D75-4059E8029EA3}"/>
              </a:ext>
            </a:extLst>
          </p:cNvPr>
          <p:cNvSpPr>
            <a:spLocks xmlns:a="http://schemas.openxmlformats.org/drawingml/2006/main" noGrp="1"/>
          </p:cNvSpPr>
          <p:nvPr/>
        </p:nvSpPr>
        <p:spPr>
          <a:xfrm xmlns:a="http://schemas.openxmlformats.org/drawingml/2006/main">
            <a:off x="685800" y="2381250"/>
            <a:ext cx="990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Governance around managed</a:t>
            </a:r>
          </a:p>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coding-agent execution</a:t>
            </a:r>
          </a:p>
        </p:txBody>
      </p:sp>
      <p:sp>
        <p:nvSpPr>
          <p:cNvPr id="3" name="">
            <a:extLst xmlns:a="http://schemas.openxmlformats.org/drawingml/2006/main">
              <a:ext uri="{FF2B5EF4-FFF2-40B4-BE49-F238E27FC236}">
                <a16:creationId xmlns:a16="http://schemas.microsoft.com/office/drawing/2014/main" id="{AE3C6286-8FBB-45C1-B16C-840218A3C0EB}"/>
              </a:ext>
            </a:extLst>
          </p:cNvPr>
          <p:cNvSpPr>
            <a:spLocks xmlns:a="http://schemas.openxmlformats.org/drawingml/2006/main" noGrp="1"/>
          </p:cNvSpPr>
          <p:nvPr/>
        </p:nvSpPr>
        <p:spPr>
          <a:xfrm xmlns:a="http://schemas.openxmlformats.org/drawingml/2006/main">
            <a:off x="685800" y="4524375"/>
            <a:ext cx="1038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BCD3E7"/>
                </a:solidFill>
                <a:latin typeface="Arial"/>
                <a:ea typeface="Arial"/>
                <a:cs typeface="Arial"/>
              </a:defRPr>
            </a:pPr>
            <a:r>
              <a:rPr sz="1950" b="0">
                <a:solidFill>
                  <a:srgbClr val="BCD3E7"/>
                </a:solidFill>
                <a:latin typeface="Arial"/>
                <a:ea typeface="Arial"/>
                <a:cs typeface="Arial"/>
              </a:rPr>
              <a:t>Kiro CLI, Codex and Claude Code</a:t>
            </a:r>
          </a:p>
          <a:p xmlns:a="http://schemas.openxmlformats.org/drawingml/2006/main">
            <a:pPr>
              <a:defRPr sz="1950" b="0">
                <a:solidFill>
                  <a:srgbClr val="BCD3E7"/>
                </a:solidFill>
                <a:latin typeface="Arial"/>
                <a:ea typeface="Arial"/>
                <a:cs typeface="Arial"/>
              </a:defRPr>
            </a:pPr>
            <a:r>
              <a:rPr sz="1950" b="0">
                <a:solidFill>
                  <a:srgbClr val="BCD3E7"/>
                </a:solidFill>
                <a:latin typeface="Arial"/>
                <a:ea typeface="Arial"/>
                <a:cs typeface="Arial"/>
              </a:rPr>
              <a:t>Usable backends depend on installation, authentication and governance.</a:t>
            </a:r>
          </a:p>
        </p:txBody>
      </p:sp>
    </p:spTree>
    <p:extLst>
      <p:ext uri="{BB962C8B-B14F-4D97-AF65-F5344CB8AC3E}">
        <p14:creationId xmlns:p14="http://schemas.microsoft.com/office/powerpoint/2010/main" val="1004417904"/>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96EBA2-D5FF-414E-9B93-3CA9D3CA7C4B}"/>
              </a:ext>
            </a:extLst>
          </p:cNvPr>
          <p:cNvSpPr>
            <a:spLocks xmlns:a="http://schemas.openxmlformats.org/drawingml/2006/main" noGrp="1"/>
          </p:cNvSpPr>
          <p:nvPr/>
        </p:nvSpPr>
        <p:spPr>
          <a:xfrm xmlns:a="http://schemas.openxmlformats.org/drawingml/2006/main">
            <a:off x="609600" y="42862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DA902E41-C8EF-40E7-8596-CDA60F22C325}"/>
              </a:ext>
            </a:extLst>
          </p:cNvPr>
          <p:cNvSpPr>
            <a:spLocks xmlns:a="http://schemas.openxmlformats.org/drawingml/2006/main" noGrp="1"/>
          </p:cNvSpPr>
          <p:nvPr/>
        </p:nvSpPr>
        <p:spPr>
          <a:xfrm xmlns:a="http://schemas.openxmlformats.org/drawingml/2006/main">
            <a:off x="609600" y="15240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008666"/>
                </a:solidFill>
                <a:latin typeface="Arial"/>
                <a:ea typeface="Arial"/>
                <a:cs typeface="Arial"/>
              </a:defRPr>
            </a:pPr>
            <a:r>
              <a:rPr sz="2700" b="1">
                <a:solidFill>
                  <a:srgbClr val="008666"/>
                </a:solidFill>
                <a:latin typeface="Arial"/>
                <a:ea typeface="Arial"/>
                <a:cs typeface="Arial"/>
              </a:rPr>
              <a:t>The box follows execution.</a:t>
            </a:r>
          </a:p>
        </p:txBody>
      </p:sp>
      <p:sp>
        <p:nvSpPr>
          <p:cNvPr id="3" name="">
            <a:extLst xmlns:a="http://schemas.openxmlformats.org/drawingml/2006/main">
              <a:ext uri="{FF2B5EF4-FFF2-40B4-BE49-F238E27FC236}">
                <a16:creationId xmlns:a16="http://schemas.microsoft.com/office/drawing/2014/main" id="{EC4F6280-4357-40EE-A120-14AA2774B28D}"/>
              </a:ext>
            </a:extLst>
          </p:cNvPr>
          <p:cNvSpPr>
            <a:spLocks xmlns:a="http://schemas.openxmlformats.org/drawingml/2006/main" noGrp="1"/>
          </p:cNvSpPr>
          <p:nvPr/>
        </p:nvSpPr>
        <p:spPr>
          <a:xfrm xmlns:a="http://schemas.openxmlformats.org/drawingml/2006/main">
            <a:off x="609600" y="2667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4" name="">
            <a:extLst xmlns:a="http://schemas.openxmlformats.org/drawingml/2006/main">
              <a:ext uri="{FF2B5EF4-FFF2-40B4-BE49-F238E27FC236}">
                <a16:creationId xmlns:a16="http://schemas.microsoft.com/office/drawing/2014/main" id="{D1B5008E-CE7B-487A-B4E5-031F452BDAAC}"/>
              </a:ext>
            </a:extLst>
          </p:cNvPr>
          <p:cNvSpPr>
            <a:spLocks xmlns:a="http://schemas.openxmlformats.org/drawingml/2006/main" noGrp="1"/>
          </p:cNvSpPr>
          <p:nvPr/>
        </p:nvSpPr>
        <p:spPr>
          <a:xfrm xmlns:a="http://schemas.openxmlformats.org/drawingml/2006/main">
            <a:off x="609600" y="3952875"/>
            <a:ext cx="419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same execution host</a:t>
            </a:r>
          </a:p>
        </p:txBody>
      </p:sp>
      <p:sp>
        <p:nvSpPr>
          <p:cNvPr id="5" name="">
            <a:extLst xmlns:a="http://schemas.openxmlformats.org/drawingml/2006/main">
              <a:ext uri="{FF2B5EF4-FFF2-40B4-BE49-F238E27FC236}">
                <a16:creationId xmlns:a16="http://schemas.microsoft.com/office/drawing/2014/main" id="{256F1546-1AE3-473B-888E-88F45078205F}"/>
              </a:ext>
            </a:extLst>
          </p:cNvPr>
          <p:cNvSpPr>
            <a:spLocks xmlns:a="http://schemas.openxmlformats.org/drawingml/2006/main" noGrp="1"/>
          </p:cNvSpPr>
          <p:nvPr/>
        </p:nvSpPr>
        <p:spPr>
          <a:xfrm xmlns:a="http://schemas.openxmlformats.org/drawingml/2006/main">
            <a:off x="609600" y="576262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Independent laptop agents stay outside</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a remote Crew service.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bdb85c8e99e4aff"/>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Tree>
    <p:extLst>
      <p:ext uri="{BB962C8B-B14F-4D97-AF65-F5344CB8AC3E}">
        <p14:creationId xmlns:p14="http://schemas.microsoft.com/office/powerpoint/2010/main" val="1959112293"/>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7B64D36-6FB3-464C-B18F-DCE5DF9B5F5E}"/>
              </a:ext>
            </a:extLst>
          </p:cNvPr>
          <p:cNvSpPr>
            <a:spLocks xmlns:a="http://schemas.openxmlformats.org/drawingml/2006/main" noGrp="1"/>
          </p:cNvSpPr>
          <p:nvPr/>
        </p:nvSpPr>
        <p:spPr>
          <a:xfrm xmlns:a="http://schemas.openxmlformats.org/drawingml/2006/main">
            <a:off x="609600" y="42862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Control ownership</a:t>
            </a:r>
          </a:p>
        </p:txBody>
      </p:sp>
      <p:graphicFrame>
        <p:nvGraphicFramePr>
          <p:cNvPr id="5" name=""/>
          <p:cNvGraphicFramePr/>
          <p:nvPr/>
        </p:nvGraphicFramePr>
        <p:xfrm>
          <a:off xmlns:a="http://schemas.openxmlformats.org/drawingml/2006/main" x="609600" y="1476375"/>
          <a:ext xmlns:a="http://schemas.openxmlformats.org/drawingml/2006/main" cx="10972800" cy="3905250"/>
        </p:xfrm>
        <a:graphic xmlns:a="http://schemas.openxmlformats.org/drawingml/2006/main">
          <a:graphicData uri="http://schemas.openxmlformats.org/drawingml/2006/table">
            <a:tbl>
              <a:tblPr/>
              <a:tblGrid>
                <a:gridCol w="2714625"/>
                <a:gridCol w="4143375"/>
                <a:gridCol w="4114800"/>
              </a:tblGrid>
              <a:tr h="571500">
                <a:tc>
                  <a:txBody>
                    <a:bodyPr/>
                    <a:lstStyle/>
                    <a:p>
                      <a:r>
                        <a:rPr sz="1800" b="1">
                          <a:solidFill>
                            <a:srgbClr val="FFFFFF"/>
                          </a:solidFill>
                          <a:latin typeface="Arial"/>
                          <a:ea typeface="Arial"/>
                          <a:cs typeface="Arial"/>
                        </a:rPr>
                        <a:t>Owner</a:t>
                      </a:r>
                    </a:p>
                  </a:txBody>
                  <a:tcPr marL="91440" marR="91440" marT="45720" marB="45720">
                    <a:solidFill>
                      <a:srgbClr val="10243B"/>
                    </a:solidFill>
                  </a:tcPr>
                </a:tc>
                <a:tc>
                  <a:txBody>
                    <a:bodyPr/>
                    <a:lstStyle/>
                    <a:p>
                      <a:r>
                        <a:rPr sz="1800" b="1">
                          <a:solidFill>
                            <a:srgbClr val="FFFFFF"/>
                          </a:solidFill>
                          <a:latin typeface="Arial"/>
                          <a:ea typeface="Arial"/>
                          <a:cs typeface="Arial"/>
                        </a:rPr>
                        <a:t>Decision</a:t>
                      </a:r>
                    </a:p>
                  </a:txBody>
                  <a:tcPr marL="91440" marR="91440" marT="45720" marB="45720">
                    <a:solidFill>
                      <a:srgbClr val="10243B"/>
                    </a:solidFill>
                  </a:tcPr>
                </a:tc>
                <a:tc>
                  <a:txBody>
                    <a:bodyPr/>
                    <a:lstStyle/>
                    <a:p>
                      <a:r>
                        <a:rPr sz="1800" b="1">
                          <a:solidFill>
                            <a:srgbClr val="FFFFFF"/>
                          </a:solidFill>
                          <a:latin typeface="Arial"/>
                          <a:ea typeface="Arial"/>
                          <a:cs typeface="Arial"/>
                        </a:rPr>
                        <a:t>Evidence</a:t>
                      </a:r>
                    </a:p>
                  </a:txBody>
                  <a:tcPr marL="91440" marR="91440" marT="45720" marB="45720">
                    <a:solidFill>
                      <a:srgbClr val="10243B"/>
                    </a:solidFill>
                  </a:tcPr>
                </a:tc>
              </a:tr>
              <a:tr h="781050">
                <a:tc>
                  <a:txBody>
                    <a:bodyPr/>
                    <a:lstStyle/>
                    <a:p>
                      <a:r>
                        <a:rPr sz="1875" b="0">
                          <a:solidFill>
                            <a:srgbClr val="10243B"/>
                          </a:solidFill>
                          <a:latin typeface="Arial"/>
                          <a:ea typeface="Arial"/>
                          <a:cs typeface="Arial"/>
                        </a:rPr>
                        <a:t>Enterprise / OS</a:t>
                      </a:r>
                    </a:p>
                  </a:txBody>
                  <a:tcPr marL="91440" marR="91440" marT="45720" marB="45720">
                    <a:solidFill>
                      <a:srgbClr val="FFFFFF"/>
                    </a:solidFill>
                  </a:tcPr>
                </a:tc>
                <a:tc>
                  <a:txBody>
                    <a:bodyPr/>
                    <a:lstStyle/>
                    <a:p>
                      <a:r>
                        <a:rPr sz="1875" b="0">
                          <a:solidFill>
                            <a:srgbClr val="10243B"/>
                          </a:solidFill>
                          <a:latin typeface="Arial"/>
                          <a:ea typeface="Arial"/>
                          <a:cs typeface="Arial"/>
                        </a:rPr>
                        <a:t>Host posture and isolation</a:t>
                      </a:r>
                    </a:p>
                  </a:txBody>
                  <a:tcPr marL="91440" marR="91440" marT="45720" marB="45720">
                    <a:solidFill>
                      <a:srgbClr val="FFFFFF"/>
                    </a:solidFill>
                  </a:tcPr>
                </a:tc>
                <a:tc>
                  <a:txBody>
                    <a:bodyPr/>
                    <a:lstStyle/>
                    <a:p>
                      <a:r>
                        <a:rPr sz="1875" b="0">
                          <a:solidFill>
                            <a:srgbClr val="10243B"/>
                          </a:solidFill>
                          <a:latin typeface="Arial"/>
                          <a:ea typeface="Arial"/>
                          <a:cs typeface="Arial"/>
                        </a:rPr>
                        <a:t>Effective sandbox, EDR, egress</a:t>
                      </a:r>
                    </a:p>
                  </a:txBody>
                  <a:tcPr marL="91440" marR="91440" marT="45720" marB="45720">
                    <a:solidFill>
                      <a:srgbClr val="FFFFFF"/>
                    </a:solidFill>
                  </a:tcPr>
                </a:tc>
              </a:tr>
              <a:tr h="781050">
                <a:tc>
                  <a:txBody>
                    <a:bodyPr/>
                    <a:lstStyle/>
                    <a:p>
                      <a:r>
                        <a:rPr sz="1875" b="0">
                          <a:solidFill>
                            <a:srgbClr val="10243B"/>
                          </a:solidFill>
                          <a:latin typeface="Arial"/>
                          <a:ea typeface="Arial"/>
                          <a:cs typeface="Arial"/>
                        </a:rPr>
                        <a:t>Crew</a:t>
                      </a:r>
                    </a:p>
                  </a:txBody>
                  <a:tcPr marL="91440" marR="91440" marT="45720" marB="45720">
                    <a:solidFill>
                      <a:srgbClr val="E9EFF6"/>
                    </a:solidFill>
                  </a:tcPr>
                </a:tc>
                <a:tc>
                  <a:txBody>
                    <a:bodyPr/>
                    <a:lstStyle/>
                    <a:p>
                      <a:r>
                        <a:rPr sz="1875" b="0">
                          <a:solidFill>
                            <a:srgbClr val="10243B"/>
                          </a:solidFill>
                          <a:latin typeface="Arial"/>
                          <a:ea typeface="Arial"/>
                          <a:cs typeface="Arial"/>
                        </a:rPr>
                        <a:t>Policy, paths and tool requests</a:t>
                      </a:r>
                    </a:p>
                  </a:txBody>
                  <a:tcPr marL="91440" marR="91440" marT="45720" marB="45720">
                    <a:solidFill>
                      <a:srgbClr val="E9EFF6"/>
                    </a:solidFill>
                  </a:tcPr>
                </a:tc>
                <a:tc>
                  <a:txBody>
                    <a:bodyPr/>
                    <a:lstStyle/>
                    <a:p>
                      <a:r>
                        <a:rPr sz="1875" b="0">
                          <a:solidFill>
                            <a:srgbClr val="10243B"/>
                          </a:solidFill>
                          <a:latin typeface="Arial"/>
                          <a:ea typeface="Arial"/>
                          <a:cs typeface="Arial"/>
                        </a:rPr>
                        <a:t>Gate verdict and covered SEL events</a:t>
                      </a:r>
                    </a:p>
                  </a:txBody>
                  <a:tcPr marL="91440" marR="91440" marT="45720" marB="45720">
                    <a:solidFill>
                      <a:srgbClr val="E9EFF6"/>
                    </a:solidFill>
                  </a:tcPr>
                </a:tc>
              </a:tr>
              <a:tr h="781050">
                <a:tc>
                  <a:txBody>
                    <a:bodyPr/>
                    <a:lstStyle/>
                    <a:p>
                      <a:r>
                        <a:rPr sz="1875" b="0">
                          <a:solidFill>
                            <a:srgbClr val="10243B"/>
                          </a:solidFill>
                          <a:latin typeface="Arial"/>
                          <a:ea typeface="Arial"/>
                          <a:cs typeface="Arial"/>
                        </a:rPr>
                        <a:t>MCP service / gateway</a:t>
                      </a:r>
                    </a:p>
                  </a:txBody>
                  <a:tcPr marL="91440" marR="91440" marT="45720" marB="45720">
                    <a:solidFill>
                      <a:srgbClr val="FFFFFF"/>
                    </a:solidFill>
                  </a:tcPr>
                </a:tc>
                <a:tc>
                  <a:txBody>
                    <a:bodyPr/>
                    <a:lstStyle/>
                    <a:p>
                      <a:r>
                        <a:rPr sz="1875" b="0">
                          <a:solidFill>
                            <a:srgbClr val="10243B"/>
                          </a:solidFill>
                          <a:latin typeface="Arial"/>
                          <a:ea typeface="Arial"/>
                          <a:cs typeface="Arial"/>
                        </a:rPr>
                        <a:t>Caller and tool grants</a:t>
                      </a:r>
                    </a:p>
                  </a:txBody>
                  <a:tcPr marL="91440" marR="91440" marT="45720" marB="45720">
                    <a:solidFill>
                      <a:srgbClr val="FFFFFF"/>
                    </a:solidFill>
                  </a:tcPr>
                </a:tc>
                <a:tc>
                  <a:txBody>
                    <a:bodyPr/>
                    <a:lstStyle/>
                    <a:p>
                      <a:r>
                        <a:rPr sz="1875" b="0">
                          <a:solidFill>
                            <a:srgbClr val="10243B"/>
                          </a:solidFill>
                          <a:latin typeface="Arial"/>
                          <a:ea typeface="Arial"/>
                          <a:cs typeface="Arial"/>
                        </a:rPr>
                        <a:t>Denied call before target execution</a:t>
                      </a:r>
                    </a:p>
                  </a:txBody>
                  <a:tcPr marL="91440" marR="91440" marT="45720" marB="45720">
                    <a:solidFill>
                      <a:srgbClr val="FFFFFF"/>
                    </a:solidFill>
                  </a:tcPr>
                </a:tc>
              </a:tr>
              <a:tr h="781050">
                <a:tc>
                  <a:txBody>
                    <a:bodyPr/>
                    <a:lstStyle/>
                    <a:p>
                      <a:r>
                        <a:rPr sz="1875" b="0">
                          <a:solidFill>
                            <a:srgbClr val="10243B"/>
                          </a:solidFill>
                          <a:latin typeface="Arial"/>
                          <a:ea typeface="Arial"/>
                          <a:cs typeface="Arial"/>
                        </a:rPr>
                        <a:t>Target service</a:t>
                      </a:r>
                    </a:p>
                  </a:txBody>
                  <a:tcPr marL="91440" marR="91440" marT="45720" marB="45720">
                    <a:solidFill>
                      <a:srgbClr val="E9EFF6"/>
                    </a:solidFill>
                  </a:tcPr>
                </a:tc>
                <a:tc>
                  <a:txBody>
                    <a:bodyPr/>
                    <a:lstStyle/>
                    <a:p>
                      <a:r>
                        <a:rPr sz="1875" b="0">
                          <a:solidFill>
                            <a:srgbClr val="10243B"/>
                          </a:solidFill>
                          <a:latin typeface="Arial"/>
                          <a:ea typeface="Arial"/>
                          <a:cs typeface="Arial"/>
                        </a:rPr>
                        <a:t>Resource authorization</a:t>
                      </a:r>
                    </a:p>
                  </a:txBody>
                  <a:tcPr marL="91440" marR="91440" marT="45720" marB="45720">
                    <a:solidFill>
                      <a:srgbClr val="E9EFF6"/>
                    </a:solidFill>
                  </a:tcPr>
                </a:tc>
                <a:tc>
                  <a:txBody>
                    <a:bodyPr/>
                    <a:lstStyle/>
                    <a:p>
                      <a:r>
                        <a:rPr sz="1875" b="0">
                          <a:solidFill>
                            <a:srgbClr val="10243B"/>
                          </a:solidFill>
                          <a:latin typeface="Arial"/>
                          <a:ea typeface="Arial"/>
                          <a:cs typeface="Arial"/>
                        </a:rPr>
                        <a:t>IAM or SaaS denial</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23ADC6B7-FB75-47A4-BBED-BA825ABE434F}"/>
              </a:ext>
            </a:extLst>
          </p:cNvPr>
          <p:cNvSpPr>
            <a:spLocks xmlns:a="http://schemas.openxmlformats.org/drawingml/2006/main" noGrp="1"/>
          </p:cNvSpPr>
          <p:nvPr/>
        </p:nvSpPr>
        <p:spPr>
          <a:xfrm xmlns:a="http://schemas.openxmlformats.org/drawingml/2006/main">
            <a:off x="6096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Prevention depends on the actual backend reaching the Crew gate.</a:t>
            </a:r>
          </a:p>
        </p:txBody>
      </p:sp>
    </p:spTree>
    <p:extLst>
      <p:ext uri="{BB962C8B-B14F-4D97-AF65-F5344CB8AC3E}">
        <p14:creationId xmlns:p14="http://schemas.microsoft.com/office/powerpoint/2010/main" val="1385030970"/>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572B50-B7E1-4BA3-9932-C85BF9DC3DD4}"/>
              </a:ext>
            </a:extLst>
          </p:cNvPr>
          <p:cNvSpPr>
            <a:spLocks xmlns:a="http://schemas.openxmlformats.org/drawingml/2006/main" noGrp="1"/>
          </p:cNvSpPr>
          <p:nvPr/>
        </p:nvSpPr>
        <p:spPr>
          <a:xfrm xmlns:a="http://schemas.openxmlformats.org/drawingml/2006/main">
            <a:off x="609600" y="42862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MCP identity and tool access</a:t>
            </a:r>
          </a:p>
        </p:txBody>
      </p:sp>
      <p:sp>
        <p:nvSpPr>
          <p:cNvPr id="2" name="">
            <a:extLst xmlns:a="http://schemas.openxmlformats.org/drawingml/2006/main">
              <a:ext uri="{FF2B5EF4-FFF2-40B4-BE49-F238E27FC236}">
                <a16:creationId xmlns:a16="http://schemas.microsoft.com/office/drawing/2014/main" id="{7FE6D6A7-1FFC-4BB6-AE93-7B80693AF408}"/>
              </a:ext>
            </a:extLst>
          </p:cNvPr>
          <p:cNvSpPr>
            <a:spLocks xmlns:a="http://schemas.openxmlformats.org/drawingml/2006/main" noGrp="1"/>
          </p:cNvSpPr>
          <p:nvPr/>
        </p:nvSpPr>
        <p:spPr>
          <a:xfrm xmlns:a="http://schemas.openxmlformats.org/drawingml/2006/main">
            <a:off x="609600" y="15811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Caller identity</a:t>
            </a:r>
          </a:p>
        </p:txBody>
      </p:sp>
      <p:sp>
        <p:nvSpPr>
          <p:cNvPr id="3" name="">
            <a:extLst xmlns:a="http://schemas.openxmlformats.org/drawingml/2006/main">
              <a:ext uri="{FF2B5EF4-FFF2-40B4-BE49-F238E27FC236}">
                <a16:creationId xmlns:a16="http://schemas.microsoft.com/office/drawing/2014/main" id="{F3EEDBEB-C501-4B08-A221-85084A81B866}"/>
              </a:ext>
            </a:extLst>
          </p:cNvPr>
          <p:cNvSpPr>
            <a:spLocks xmlns:a="http://schemas.openxmlformats.org/drawingml/2006/main" noGrp="1"/>
          </p:cNvSpPr>
          <p:nvPr/>
        </p:nvSpPr>
        <p:spPr>
          <a:xfrm xmlns:a="http://schemas.openxmlformats.org/drawingml/2006/main">
            <a:off x="609600" y="2381250"/>
            <a:ext cx="5143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User consent: OAuth with PKCE</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Service identity: client credentials</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Delegated identity: Entra OBO</a:t>
            </a:r>
          </a:p>
        </p:txBody>
      </p:sp>
      <p:sp>
        <p:nvSpPr>
          <p:cNvPr id="4" name="">
            <a:extLst xmlns:a="http://schemas.openxmlformats.org/drawingml/2006/main">
              <a:ext uri="{FF2B5EF4-FFF2-40B4-BE49-F238E27FC236}">
                <a16:creationId xmlns:a16="http://schemas.microsoft.com/office/drawing/2014/main" id="{48401D68-EF0C-48CB-9593-DCF30880ECE9}"/>
              </a:ext>
            </a:extLst>
          </p:cNvPr>
          <p:cNvSpPr>
            <a:spLocks xmlns:a="http://schemas.openxmlformats.org/drawingml/2006/main" noGrp="1"/>
          </p:cNvSpPr>
          <p:nvPr/>
        </p:nvSpPr>
        <p:spPr>
          <a:xfrm xmlns:a="http://schemas.openxmlformats.org/drawingml/2006/main">
            <a:off x="6534150" y="15811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Tool and resource authority</a:t>
            </a:r>
          </a:p>
        </p:txBody>
      </p:sp>
      <p:sp>
        <p:nvSpPr>
          <p:cNvPr id="5" name="">
            <a:extLst xmlns:a="http://schemas.openxmlformats.org/drawingml/2006/main">
              <a:ext uri="{FF2B5EF4-FFF2-40B4-BE49-F238E27FC236}">
                <a16:creationId xmlns:a16="http://schemas.microsoft.com/office/drawing/2014/main" id="{2CAC1096-035A-4073-8845-67C0C6585C3B}"/>
              </a:ext>
            </a:extLst>
          </p:cNvPr>
          <p:cNvSpPr>
            <a:spLocks xmlns:a="http://schemas.openxmlformats.org/drawingml/2006/main" noGrp="1"/>
          </p:cNvSpPr>
          <p:nvPr/>
        </p:nvSpPr>
        <p:spPr>
          <a:xfrm xmlns:a="http://schemas.openxmlformats.org/drawingml/2006/main">
            <a:off x="6534150" y="2381250"/>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Explicit server and tool grants</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Downstream IAM or SaaS scope</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Separate service credentials</a:t>
            </a:r>
          </a:p>
        </p:txBody>
      </p:sp>
      <p:sp>
        <p:nvSpPr>
          <p:cNvPr id="6" name="">
            <a:extLst xmlns:a="http://schemas.openxmlformats.org/drawingml/2006/main">
              <a:ext uri="{FF2B5EF4-FFF2-40B4-BE49-F238E27FC236}">
                <a16:creationId xmlns:a16="http://schemas.microsoft.com/office/drawing/2014/main" id="{02910EC7-3045-48D6-A258-1980A18CC020}"/>
              </a:ext>
            </a:extLst>
          </p:cNvPr>
          <p:cNvSpPr>
            <a:spLocks xmlns:a="http://schemas.openxmlformats.org/drawingml/2006/main" noGrp="1"/>
          </p:cNvSpPr>
          <p:nvPr/>
        </p:nvSpPr>
        <p:spPr>
          <a:xfrm xmlns:a="http://schemas.openxmlformats.org/drawingml/2006/main">
            <a:off x="609600" y="481012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Only routed MCP calls reach this gateway.</a:t>
            </a:r>
          </a:p>
        </p:txBody>
      </p:sp>
      <p:sp>
        <p:nvSpPr>
          <p:cNvPr id="7" name="">
            <a:extLst xmlns:a="http://schemas.openxmlformats.org/drawingml/2006/main">
              <a:ext uri="{FF2B5EF4-FFF2-40B4-BE49-F238E27FC236}">
                <a16:creationId xmlns:a16="http://schemas.microsoft.com/office/drawing/2014/main" id="{74E0CE64-2D61-4A10-BF60-9182021B7E31}"/>
              </a:ext>
            </a:extLst>
          </p:cNvPr>
          <p:cNvSpPr>
            <a:spLocks xmlns:a="http://schemas.openxmlformats.org/drawingml/2006/main" noGrp="1"/>
          </p:cNvSpPr>
          <p:nvPr/>
        </p:nvSpPr>
        <p:spPr>
          <a:xfrm xmlns:a="http://schemas.openxmlformats.org/drawingml/2006/main">
            <a:off x="609600" y="56197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50667F"/>
                </a:solidFill>
                <a:latin typeface="Arial"/>
                <a:ea typeface="Arial"/>
                <a:cs typeface="Arial"/>
              </a:defRPr>
            </a:pPr>
            <a:r>
              <a:rPr sz="1950" b="0">
                <a:solidFill>
                  <a:srgbClr val="50667F"/>
                </a:solidFill>
                <a:latin typeface="Arial"/>
                <a:ea typeface="Arial"/>
                <a:cs typeface="Arial"/>
              </a:rPr>
              <a:t>LiteLLM integration remains proposed. Direct shell, SDK and network routes need their own controls.</a:t>
            </a:r>
          </a:p>
        </p:txBody>
      </p:sp>
    </p:spTree>
    <p:extLst>
      <p:ext uri="{BB962C8B-B14F-4D97-AF65-F5344CB8AC3E}">
        <p14:creationId xmlns:p14="http://schemas.microsoft.com/office/powerpoint/2010/main" val="1728469889"/>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FFE5A0-8DA0-4D0A-A60C-EE8CB3BFFEDD}"/>
              </a:ext>
            </a:extLst>
          </p:cNvPr>
          <p:cNvSpPr>
            <a:spLocks xmlns:a="http://schemas.openxmlformats.org/drawingml/2006/main" noGrp="1"/>
          </p:cNvSpPr>
          <p:nvPr/>
        </p:nvSpPr>
        <p:spPr>
          <a:xfrm xmlns:a="http://schemas.openxmlformats.org/drawingml/2006/main">
            <a:off x="609600" y="42862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Proposed remote service on AWS</a:t>
            </a:r>
          </a:p>
        </p:txBody>
      </p:sp>
      <p:sp>
        <p:nvSpPr>
          <p:cNvPr id="2" name="">
            <a:extLst xmlns:a="http://schemas.openxmlformats.org/drawingml/2006/main">
              <a:ext uri="{FF2B5EF4-FFF2-40B4-BE49-F238E27FC236}">
                <a16:creationId xmlns:a16="http://schemas.microsoft.com/office/drawing/2014/main" id="{4C4A1990-BF2D-443D-B255-F04496FB0614}"/>
              </a:ext>
            </a:extLst>
          </p:cNvPr>
          <p:cNvSpPr>
            <a:spLocks xmlns:a="http://schemas.openxmlformats.org/drawingml/2006/main" noGrp="1"/>
          </p:cNvSpPr>
          <p:nvPr/>
        </p:nvSpPr>
        <p:spPr>
          <a:xfrm xmlns:a="http://schemas.openxmlformats.org/drawingml/2006/main">
            <a:off x="609600" y="16954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008666"/>
                </a:solidFill>
                <a:latin typeface="Arial"/>
                <a:ea typeface="Arial"/>
                <a:cs typeface="Arial"/>
              </a:defRPr>
            </a:pPr>
            <a:r>
              <a:rPr sz="2625" b="1">
                <a:solidFill>
                  <a:srgbClr val="008666"/>
                </a:solidFill>
                <a:latin typeface="Arial"/>
                <a:ea typeface="Arial"/>
                <a:cs typeface="Arial"/>
              </a:rPr>
              <a:t>Private EC2 + SSM</a:t>
            </a:r>
          </a:p>
        </p:txBody>
      </p:sp>
      <p:sp>
        <p:nvSpPr>
          <p:cNvPr id="3" name="">
            <a:extLst xmlns:a="http://schemas.openxmlformats.org/drawingml/2006/main">
              <a:ext uri="{FF2B5EF4-FFF2-40B4-BE49-F238E27FC236}">
                <a16:creationId xmlns:a16="http://schemas.microsoft.com/office/drawing/2014/main" id="{069208A3-1B0A-45DA-A3C1-77215316BD9C}"/>
              </a:ext>
            </a:extLst>
          </p:cNvPr>
          <p:cNvSpPr>
            <a:spLocks xmlns:a="http://schemas.openxmlformats.org/drawingml/2006/main" noGrp="1"/>
          </p:cNvSpPr>
          <p:nvPr/>
        </p:nvSpPr>
        <p:spPr>
          <a:xfrm xmlns:a="http://schemas.openxmlformats.org/drawingml/2006/main">
            <a:off x="609600" y="2743200"/>
            <a:ext cx="40671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Crew runs unprivileged.</a:t>
            </a:r>
          </a:p>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Privileged sync writes policy</a:t>
            </a:r>
          </a:p>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to a protected local file.</a:t>
            </a:r>
          </a:p>
        </p:txBody>
      </p:sp>
      <p:sp>
        <p:nvSpPr>
          <p:cNvPr id="4" name="">
            <a:extLst xmlns:a="http://schemas.openxmlformats.org/drawingml/2006/main">
              <a:ext uri="{FF2B5EF4-FFF2-40B4-BE49-F238E27FC236}">
                <a16:creationId xmlns:a16="http://schemas.microsoft.com/office/drawing/2014/main" id="{AD7B5968-7856-461C-9C9F-DB2A2DFB5B3D}"/>
              </a:ext>
            </a:extLst>
          </p:cNvPr>
          <p:cNvSpPr>
            <a:spLocks xmlns:a="http://schemas.openxmlformats.org/drawingml/2006/main" noGrp="1"/>
          </p:cNvSpPr>
          <p:nvPr/>
        </p:nvSpPr>
        <p:spPr>
          <a:xfrm xmlns:a="http://schemas.openxmlformats.org/drawingml/2006/main">
            <a:off x="609600" y="4953000"/>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MCP roles and log collection</a:t>
            </a:r>
          </a:p>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remain separate work.</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a2ab9a02df94f53"/>
          <a:stretch xmlns:a="http://schemas.openxmlformats.org/drawingml/2006/main"/>
        </p:blipFill>
        <p:spPr>
          <a:xfrm xmlns:a="http://schemas.openxmlformats.org/drawingml/2006/main">
            <a:off x="4953000" y="1382207"/>
            <a:ext cx="6715125" cy="5188960"/>
          </a:xfrm>
          <a:prstGeom xmlns:a="http://schemas.openxmlformats.org/drawingml/2006/main" prst="rect">
            <a:avLst/>
          </a:prstGeom>
        </p:spPr>
      </p:pic>
    </p:spTree>
    <p:extLst>
      <p:ext uri="{BB962C8B-B14F-4D97-AF65-F5344CB8AC3E}">
        <p14:creationId xmlns:p14="http://schemas.microsoft.com/office/powerpoint/2010/main" val="571132462"/>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8B19A9-09B3-4FDE-9F5B-F5AB49C51D0E}"/>
              </a:ext>
            </a:extLst>
          </p:cNvPr>
          <p:cNvSpPr>
            <a:spLocks xmlns:a="http://schemas.openxmlformats.org/drawingml/2006/main" noGrp="1"/>
          </p:cNvSpPr>
          <p:nvPr/>
        </p:nvSpPr>
        <p:spPr>
          <a:xfrm xmlns:a="http://schemas.openxmlformats.org/drawingml/2006/main">
            <a:off x="609600" y="42862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Live control evidence</a:t>
            </a:r>
          </a:p>
        </p:txBody>
      </p:sp>
      <p:sp>
        <p:nvSpPr>
          <p:cNvPr id="2" name="">
            <a:extLst xmlns:a="http://schemas.openxmlformats.org/drawingml/2006/main">
              <a:ext uri="{FF2B5EF4-FFF2-40B4-BE49-F238E27FC236}">
                <a16:creationId xmlns:a16="http://schemas.microsoft.com/office/drawing/2014/main" id="{D0A9453B-9BB4-4CA6-815D-CB007E511103}"/>
              </a:ext>
            </a:extLst>
          </p:cNvPr>
          <p:cNvSpPr>
            <a:spLocks xmlns:a="http://schemas.openxmlformats.org/drawingml/2006/main" noGrp="1"/>
          </p:cNvSpPr>
          <p:nvPr/>
        </p:nvSpPr>
        <p:spPr>
          <a:xfrm xmlns:a="http://schemas.openxmlformats.org/drawingml/2006/main">
            <a:off x="609600" y="15621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8666"/>
                </a:solidFill>
                <a:latin typeface="Arial"/>
                <a:ea typeface="Arial"/>
                <a:cs typeface="Arial"/>
              </a:defRPr>
            </a:pPr>
            <a:r>
              <a:rPr sz="3150" b="1">
                <a:solidFill>
                  <a:srgbClr val="008666"/>
                </a:solidFill>
                <a:latin typeface="Arial"/>
                <a:ea typeface="Arial"/>
                <a:cs typeface="Arial"/>
              </a:rPr>
              <a:t>./demo.sh --interactive</a:t>
            </a:r>
          </a:p>
        </p:txBody>
      </p:sp>
      <p:sp>
        <p:nvSpPr>
          <p:cNvPr id="3" name="">
            <a:extLst xmlns:a="http://schemas.openxmlformats.org/drawingml/2006/main">
              <a:ext uri="{FF2B5EF4-FFF2-40B4-BE49-F238E27FC236}">
                <a16:creationId xmlns:a16="http://schemas.microsoft.com/office/drawing/2014/main" id="{E4D482C9-83AD-4E9E-BBEA-318B082E91EC}"/>
              </a:ext>
            </a:extLst>
          </p:cNvPr>
          <p:cNvSpPr>
            <a:spLocks xmlns:a="http://schemas.openxmlformats.org/drawingml/2006/main" noGrp="1"/>
          </p:cNvSpPr>
          <p:nvPr/>
        </p:nvSpPr>
        <p:spPr>
          <a:xfrm xmlns:a="http://schemas.openxmlformats.org/drawingml/2006/main">
            <a:off x="609600" y="2809875"/>
            <a:ext cx="10763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10243B"/>
                </a:solidFill>
                <a:latin typeface="Arial"/>
                <a:ea typeface="Arial"/>
                <a:cs typeface="Arial"/>
              </a:defRPr>
            </a:pPr>
            <a:r>
              <a:rPr sz="2400" b="0">
                <a:solidFill>
                  <a:srgbClr val="10243B"/>
                </a:solidFill>
                <a:latin typeface="Arial"/>
                <a:ea typeface="Arial"/>
                <a:cs typeface="Arial"/>
              </a:rPr>
              <a:t>Allow, then pause for approval</a:t>
            </a:r>
          </a:p>
          <a:p xmlns:a="http://schemas.openxmlformats.org/drawingml/2006/main">
            <a:pPr>
              <a:defRPr sz="2400" b="0">
                <a:solidFill>
                  <a:srgbClr val="10243B"/>
                </a:solidFill>
                <a:latin typeface="Arial"/>
                <a:ea typeface="Arial"/>
                <a:cs typeface="Arial"/>
              </a:defRPr>
            </a:pPr>
            <a:r>
              <a:rPr sz="2400" b="0">
                <a:solidFill>
                  <a:srgbClr val="10243B"/>
                </a:solidFill>
                <a:latin typeface="Arial"/>
                <a:ea typeface="Arial"/>
                <a:cs typeface="Arial"/>
              </a:rPr>
              <a:t>Deny a tool and protect a policy path</a:t>
            </a:r>
          </a:p>
          <a:p xmlns:a="http://schemas.openxmlformats.org/drawingml/2006/main">
            <a:pPr>
              <a:defRPr sz="2400" b="0">
                <a:solidFill>
                  <a:srgbClr val="10243B"/>
                </a:solidFill>
                <a:latin typeface="Arial"/>
                <a:ea typeface="Arial"/>
                <a:cs typeface="Arial"/>
              </a:defRPr>
            </a:pPr>
            <a:r>
              <a:rPr sz="2400" b="0">
                <a:solidFill>
                  <a:srgbClr val="10243B"/>
                </a:solidFill>
                <a:latin typeface="Arial"/>
                <a:ea typeface="Arial"/>
                <a:cs typeface="Arial"/>
              </a:rPr>
              <a:t>Classify a synthetic exfiltration command</a:t>
            </a:r>
          </a:p>
          <a:p xmlns:a="http://schemas.openxmlformats.org/drawingml/2006/main">
            <a:pPr>
              <a:defRPr sz="2400" b="0">
                <a:solidFill>
                  <a:srgbClr val="10243B"/>
                </a:solidFill>
                <a:latin typeface="Arial"/>
                <a:ea typeface="Arial"/>
                <a:cs typeface="Arial"/>
              </a:defRPr>
            </a:pPr>
            <a:r>
              <a:rPr sz="2400" b="0">
                <a:solidFill>
                  <a:srgbClr val="10243B"/>
                </a:solidFill>
                <a:latin typeface="Arial"/>
                <a:ea typeface="Arial"/>
                <a:cs typeface="Arial"/>
              </a:rPr>
              <a:t>Redact a fake credential</a:t>
            </a:r>
          </a:p>
          <a:p xmlns:a="http://schemas.openxmlformats.org/drawingml/2006/main">
            <a:pPr>
              <a:defRPr sz="2400" b="0">
                <a:solidFill>
                  <a:srgbClr val="10243B"/>
                </a:solidFill>
                <a:latin typeface="Arial"/>
                <a:ea typeface="Arial"/>
                <a:cs typeface="Arial"/>
              </a:defRPr>
            </a:pPr>
            <a:r>
              <a:rPr sz="2400" b="0">
                <a:solidFill>
                  <a:srgbClr val="10243B"/>
                </a:solidFill>
                <a:latin typeface="Arial"/>
                <a:ea typeface="Arial"/>
                <a:cs typeface="Arial"/>
              </a:rPr>
              <a:t>Verify SEL and detect a changed entry</a:t>
            </a:r>
          </a:p>
        </p:txBody>
      </p:sp>
      <p:sp>
        <p:nvSpPr>
          <p:cNvPr id="4" name="">
            <a:extLst xmlns:a="http://schemas.openxmlformats.org/drawingml/2006/main">
              <a:ext uri="{FF2B5EF4-FFF2-40B4-BE49-F238E27FC236}">
                <a16:creationId xmlns:a16="http://schemas.microsoft.com/office/drawing/2014/main" id="{54DFE970-E85A-4353-9C67-4FF8BB5F7783}"/>
              </a:ext>
            </a:extLst>
          </p:cNvPr>
          <p:cNvSpPr>
            <a:spLocks xmlns:a="http://schemas.openxmlformats.org/drawingml/2006/main" noGrp="1"/>
          </p:cNvSpPr>
          <p:nvPr/>
        </p:nvSpPr>
        <p:spPr>
          <a:xfrm xmlns:a="http://schemas.openxmlformats.org/drawingml/2006/main">
            <a:off x="609600" y="58102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B62758"/>
                </a:solidFill>
                <a:latin typeface="Arial"/>
                <a:ea typeface="Arial"/>
                <a:cs typeface="Arial"/>
              </a:defRPr>
            </a:pPr>
            <a:r>
              <a:rPr sz="1950" b="0">
                <a:solidFill>
                  <a:srgbClr val="B62758"/>
                </a:solidFill>
                <a:latin typeface="Arial"/>
                <a:ea typeface="Arial"/>
                <a:cs typeface="Arial"/>
              </a:rPr>
              <a:t>Actual Crew functions in a synthetic callback harness.</a:t>
            </a:r>
          </a:p>
          <a:p xmlns:a="http://schemas.openxmlformats.org/drawingml/2006/main">
            <a:pPr>
              <a:defRPr sz="1950" b="0">
                <a:solidFill>
                  <a:srgbClr val="B62758"/>
                </a:solidFill>
                <a:latin typeface="Arial"/>
                <a:ea typeface="Arial"/>
                <a:cs typeface="Arial"/>
              </a:defRPr>
            </a:pPr>
            <a:r>
              <a:rPr sz="1950" b="0">
                <a:solidFill>
                  <a:srgbClr val="B62758"/>
                </a:solidFill>
                <a:latin typeface="Arial"/>
                <a:ea typeface="Arial"/>
                <a:cs typeface="Arial"/>
              </a:rPr>
              <a:t>Backend, MCP and AWS enforcement remain separate demonstrations.</a:t>
            </a:r>
          </a:p>
        </p:txBody>
      </p:sp>
    </p:spTree>
    <p:extLst>
      <p:ext uri="{BB962C8B-B14F-4D97-AF65-F5344CB8AC3E}">
        <p14:creationId xmlns:p14="http://schemas.microsoft.com/office/powerpoint/2010/main" val="1280184081"/>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3EE06DB-505F-4AA5-80EA-87AA27DE3280}"/>
              </a:ext>
            </a:extLst>
          </p:cNvPr>
          <p:cNvSpPr>
            <a:spLocks xmlns:a="http://schemas.openxmlformats.org/drawingml/2006/main" noGrp="1"/>
          </p:cNvSpPr>
          <p:nvPr/>
        </p:nvSpPr>
        <p:spPr>
          <a:xfrm xmlns:a="http://schemas.openxmlformats.org/drawingml/2006/main">
            <a:off x="609600" y="42862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Crew denial, MCP denial and IAM denial</a:t>
            </a:r>
          </a:p>
        </p:txBody>
      </p:sp>
      <p:graphicFrame>
        <p:nvGraphicFramePr>
          <p:cNvPr id="5" name=""/>
          <p:cNvGraphicFramePr/>
          <p:nvPr/>
        </p:nvGraphicFramePr>
        <p:xfrm>
          <a:off xmlns:a="http://schemas.openxmlformats.org/drawingml/2006/main" x="609600" y="1524000"/>
          <a:ext xmlns:a="http://schemas.openxmlformats.org/drawingml/2006/main" cx="10972800" cy="3124200"/>
        </p:xfrm>
        <a:graphic xmlns:a="http://schemas.openxmlformats.org/drawingml/2006/main">
          <a:graphicData uri="http://schemas.openxmlformats.org/drawingml/2006/table">
            <a:tbl>
              <a:tblPr/>
              <a:tblGrid>
                <a:gridCol w="2809875"/>
                <a:gridCol w="4810125"/>
                <a:gridCol w="3352800"/>
              </a:tblGrid>
              <a:tr h="571500">
                <a:tc>
                  <a:txBody>
                    <a:bodyPr/>
                    <a:lstStyle/>
                    <a:p>
                      <a:r>
                        <a:rPr sz="1800" b="1">
                          <a:solidFill>
                            <a:srgbClr val="FFFFFF"/>
                          </a:solidFill>
                          <a:latin typeface="Arial"/>
                          <a:ea typeface="Arial"/>
                          <a:cs typeface="Arial"/>
                        </a:rPr>
                        <a:t>Decision boundary</a:t>
                      </a:r>
                    </a:p>
                  </a:txBody>
                  <a:tcPr marL="91440" marR="91440" marT="45720" marB="45720">
                    <a:solidFill>
                      <a:srgbClr val="10243B"/>
                    </a:solidFill>
                  </a:tcPr>
                </a:tc>
                <a:tc>
                  <a:txBody>
                    <a:bodyPr/>
                    <a:lstStyle/>
                    <a:p>
                      <a:r>
                        <a:rPr sz="1800" b="1">
                          <a:solidFill>
                            <a:srgbClr val="FFFFFF"/>
                          </a:solidFill>
                          <a:latin typeface="Arial"/>
                          <a:ea typeface="Arial"/>
                          <a:cs typeface="Arial"/>
                        </a:rPr>
                        <a:t>Proof to present</a:t>
                      </a:r>
                    </a:p>
                  </a:txBody>
                  <a:tcPr marL="91440" marR="91440" marT="45720" marB="45720">
                    <a:solidFill>
                      <a:srgbClr val="10243B"/>
                    </a:solidFill>
                  </a:tcPr>
                </a:tc>
                <a:tc>
                  <a:txBody>
                    <a:bodyPr/>
                    <a:lstStyle/>
                    <a:p>
                      <a:r>
                        <a:rPr sz="1800" b="1">
                          <a:solidFill>
                            <a:srgbClr val="FFFFFF"/>
                          </a:solidFill>
                          <a:latin typeface="Arial"/>
                          <a:ea typeface="Arial"/>
                          <a:cs typeface="Arial"/>
                        </a:rPr>
                        <a:t>Current evidence</a:t>
                      </a:r>
                    </a:p>
                  </a:txBody>
                  <a:tcPr marL="91440" marR="91440" marT="45720" marB="45720">
                    <a:solidFill>
                      <a:srgbClr val="10243B"/>
                    </a:solidFill>
                  </a:tcPr>
                </a:tc>
              </a:tr>
              <a:tr h="781050">
                <a:tc>
                  <a:txBody>
                    <a:bodyPr/>
                    <a:lstStyle/>
                    <a:p>
                      <a:r>
                        <a:rPr sz="1875" b="0">
                          <a:solidFill>
                            <a:srgbClr val="10243B"/>
                          </a:solidFill>
                          <a:latin typeface="Arial"/>
                          <a:ea typeface="Arial"/>
                          <a:cs typeface="Arial"/>
                        </a:rPr>
                        <a:t>Crew hook</a:t>
                      </a:r>
                    </a:p>
                  </a:txBody>
                  <a:tcPr marL="91440" marR="91440" marT="45720" marB="45720">
                    <a:solidFill>
                      <a:srgbClr val="FFFFFF"/>
                    </a:solidFill>
                  </a:tcPr>
                </a:tc>
                <a:tc>
                  <a:txBody>
                    <a:bodyPr/>
                    <a:lstStyle/>
                    <a:p>
                      <a:r>
                        <a:rPr sz="1875" b="0">
                          <a:solidFill>
                            <a:srgbClr val="10243B"/>
                          </a:solidFill>
                          <a:latin typeface="Arial"/>
                          <a:ea typeface="Arial"/>
                          <a:cs typeface="Arial"/>
                        </a:rPr>
                        <a:t>Denial before synthetic handler</a:t>
                      </a:r>
                    </a:p>
                  </a:txBody>
                  <a:tcPr marL="91440" marR="91440" marT="45720" marB="45720">
                    <a:solidFill>
                      <a:srgbClr val="FFFFFF"/>
                    </a:solidFill>
                  </a:tcPr>
                </a:tc>
                <a:tc>
                  <a:txBody>
                    <a:bodyPr/>
                    <a:lstStyle/>
                    <a:p>
                      <a:r>
                        <a:rPr sz="1875" b="0">
                          <a:solidFill>
                            <a:srgbClr val="10243B"/>
                          </a:solidFill>
                          <a:latin typeface="Arial"/>
                          <a:ea typeface="Arial"/>
                          <a:cs typeface="Arial"/>
                        </a:rPr>
                        <a:t>Rehearsed locally</a:t>
                      </a:r>
                    </a:p>
                  </a:txBody>
                  <a:tcPr marL="91440" marR="91440" marT="45720" marB="45720">
                    <a:solidFill>
                      <a:srgbClr val="FFFFFF"/>
                    </a:solidFill>
                  </a:tcPr>
                </a:tc>
              </a:tr>
              <a:tr h="781050">
                <a:tc>
                  <a:txBody>
                    <a:bodyPr/>
                    <a:lstStyle/>
                    <a:p>
                      <a:r>
                        <a:rPr sz="1875" b="0">
                          <a:solidFill>
                            <a:srgbClr val="10243B"/>
                          </a:solidFill>
                          <a:latin typeface="Arial"/>
                          <a:ea typeface="Arial"/>
                          <a:cs typeface="Arial"/>
                        </a:rPr>
                        <a:t>MCP gateway</a:t>
                      </a:r>
                    </a:p>
                  </a:txBody>
                  <a:tcPr marL="91440" marR="91440" marT="45720" marB="45720">
                    <a:solidFill>
                      <a:srgbClr val="E9EFF6"/>
                    </a:solidFill>
                  </a:tcPr>
                </a:tc>
                <a:tc>
                  <a:txBody>
                    <a:bodyPr/>
                    <a:lstStyle/>
                    <a:p>
                      <a:r>
                        <a:rPr sz="1875" b="0">
                          <a:solidFill>
                            <a:srgbClr val="10243B"/>
                          </a:solidFill>
                          <a:latin typeface="Arial"/>
                          <a:ea typeface="Arial"/>
                          <a:cs typeface="Arial"/>
                        </a:rPr>
                        <a:t>Tool grant denies before target call</a:t>
                      </a:r>
                    </a:p>
                  </a:txBody>
                  <a:tcPr marL="91440" marR="91440" marT="45720" marB="45720">
                    <a:solidFill>
                      <a:srgbClr val="E9EFF6"/>
                    </a:solidFill>
                  </a:tcPr>
                </a:tc>
                <a:tc>
                  <a:txBody>
                    <a:bodyPr/>
                    <a:lstStyle/>
                    <a:p>
                      <a:r>
                        <a:rPr sz="1875" b="0">
                          <a:solidFill>
                            <a:srgbClr val="10243B"/>
                          </a:solidFill>
                          <a:latin typeface="Arial"/>
                          <a:ea typeface="Arial"/>
                          <a:cs typeface="Arial"/>
                        </a:rPr>
                        <a:t>Requires deployed gateway</a:t>
                      </a:r>
                    </a:p>
                  </a:txBody>
                  <a:tcPr marL="91440" marR="91440" marT="45720" marB="45720">
                    <a:solidFill>
                      <a:srgbClr val="E9EFF6"/>
                    </a:solidFill>
                  </a:tcPr>
                </a:tc>
              </a:tr>
              <a:tr h="781050">
                <a:tc>
                  <a:txBody>
                    <a:bodyPr/>
                    <a:lstStyle/>
                    <a:p>
                      <a:r>
                        <a:rPr sz="1875" b="0">
                          <a:solidFill>
                            <a:srgbClr val="10243B"/>
                          </a:solidFill>
                          <a:latin typeface="Arial"/>
                          <a:ea typeface="Arial"/>
                          <a:cs typeface="Arial"/>
                        </a:rPr>
                        <a:t>AWS IAM</a:t>
                      </a:r>
                    </a:p>
                  </a:txBody>
                  <a:tcPr marL="91440" marR="91440" marT="45720" marB="45720">
                    <a:solidFill>
                      <a:srgbClr val="FFFFFF"/>
                    </a:solidFill>
                  </a:tcPr>
                </a:tc>
                <a:tc>
                  <a:txBody>
                    <a:bodyPr/>
                    <a:lstStyle/>
                    <a:p>
                      <a:r>
                        <a:rPr sz="1875" b="0">
                          <a:solidFill>
                            <a:srgbClr val="10243B"/>
                          </a:solidFill>
                          <a:latin typeface="Arial"/>
                          <a:ea typeface="Arial"/>
                          <a:cs typeface="Arial"/>
                        </a:rPr>
                        <a:t>MCP permits, target API denies</a:t>
                      </a:r>
                    </a:p>
                  </a:txBody>
                  <a:tcPr marL="91440" marR="91440" marT="45720" marB="45720">
                    <a:solidFill>
                      <a:srgbClr val="FFFFFF"/>
                    </a:solidFill>
                  </a:tcPr>
                </a:tc>
                <a:tc>
                  <a:txBody>
                    <a:bodyPr/>
                    <a:lstStyle/>
                    <a:p>
                      <a:r>
                        <a:rPr sz="1875" b="0">
                          <a:solidFill>
                            <a:srgbClr val="10243B"/>
                          </a:solidFill>
                          <a:latin typeface="Arial"/>
                          <a:ea typeface="Arial"/>
                          <a:cs typeface="Arial"/>
                        </a:rPr>
                        <a:t>Requires approved AWS environment</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F9BE532-6BC2-46AB-8DD7-17A5F8C6696D}"/>
              </a:ext>
            </a:extLst>
          </p:cNvPr>
          <p:cNvSpPr>
            <a:spLocks xmlns:a="http://schemas.openxmlformats.org/drawingml/2006/main" noGrp="1"/>
          </p:cNvSpPr>
          <p:nvPr/>
        </p:nvSpPr>
        <p:spPr>
          <a:xfrm xmlns:a="http://schemas.openxmlformats.org/drawingml/2006/main">
            <a:off x="609600" y="5381625"/>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50667F"/>
                </a:solidFill>
                <a:latin typeface="Arial"/>
                <a:ea typeface="Arial"/>
                <a:cs typeface="Arial"/>
              </a:defRPr>
            </a:pPr>
            <a:r>
              <a:rPr sz="2250" b="0">
                <a:solidFill>
                  <a:srgbClr val="50667F"/>
                </a:solidFill>
                <a:latin typeface="Arial"/>
                <a:ea typeface="Arial"/>
                <a:cs typeface="Arial"/>
              </a:rPr>
              <a:t>SEL integrity covers recorded events. External retention and complete capture need separate evidence.</a:t>
            </a:r>
          </a:p>
        </p:txBody>
      </p:sp>
    </p:spTree>
    <p:extLst>
      <p:ext uri="{BB962C8B-B14F-4D97-AF65-F5344CB8AC3E}">
        <p14:creationId xmlns:p14="http://schemas.microsoft.com/office/powerpoint/2010/main" val="957260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2026-09-13T03:34:56.7780000Z</dcterms:created>
  <dcterms:modified xsi:type="dcterms:W3CDTF">2026-09-13T03:34:56.7780000Z</dcterms:modified>
</coreProperties>
</file>