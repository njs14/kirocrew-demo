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43396e94e4632" /><Relationship Type="http://schemas.openxmlformats.org/officeDocument/2006/relationships/extended-properties" Target="/docProps/app.xml" Id="R389f32a5f32347ec" /><Relationship Type="http://schemas.openxmlformats.org/officeDocument/2006/relationships/officeDocument" Target="/ppt/presentation.xml" Id="R18fbbc478441425d" /></Relationships>
</file>

<file path=ppt/presentation.xml><?xml version="1.0" encoding="utf-8"?>
<p:presentation xmlns:p="http://schemas.openxmlformats.org/presentationml/2006/main">
  <p:sldMasterIdLst>
    <p:sldMasterId xmlns:r="http://schemas.openxmlformats.org/officeDocument/2006/relationships" id="2147483648" r:id="Rdfe307f3a523420c"/>
  </p:sldMasterIdLst>
  <p:notesMasterIdLst>
    <p:notesMasterId xmlns:r="http://schemas.openxmlformats.org/officeDocument/2006/relationships" r:id="R6c5b1282e2234c7a"/>
  </p:notesMasterIdLst>
  <p:sldIdLst>
    <p:sldId xmlns:r="http://schemas.openxmlformats.org/officeDocument/2006/relationships" id="256" r:id="R24247131e0f2408b"/>
    <p:sldId xmlns:r="http://schemas.openxmlformats.org/officeDocument/2006/relationships" id="257" r:id="R46ae9f856a9c49c2"/>
    <p:sldId xmlns:r="http://schemas.openxmlformats.org/officeDocument/2006/relationships" id="258" r:id="Rdbcf13d67b984640"/>
    <p:sldId xmlns:r="http://schemas.openxmlformats.org/officeDocument/2006/relationships" id="259" r:id="R5b0b98e0d3c947b7"/>
    <p:sldId xmlns:r="http://schemas.openxmlformats.org/officeDocument/2006/relationships" id="260" r:id="R50bd9b8b19564ae5"/>
    <p:sldId xmlns:r="http://schemas.openxmlformats.org/officeDocument/2006/relationships" id="261" r:id="R3481f57ac44d4420"/>
    <p:sldId xmlns:r="http://schemas.openxmlformats.org/officeDocument/2006/relationships" id="262" r:id="R33124401a0534a94"/>
    <p:sldId xmlns:r="http://schemas.openxmlformats.org/officeDocument/2006/relationships" id="263" r:id="Rb4f446c7a6c042e5"/>
    <p:sldId xmlns:r="http://schemas.openxmlformats.org/officeDocument/2006/relationships" id="264" r:id="Rf96ce49d40b04d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d5596f6b5848c9" /><Relationship Type="http://schemas.openxmlformats.org/officeDocument/2006/relationships/slideMaster" Target="/ppt/slideMasters/slideMaster1.xml" Id="Rdfe307f3a523420c" /><Relationship Type="http://schemas.openxmlformats.org/officeDocument/2006/relationships/notesMaster" Target="/ppt/notesMasters/notesMaster1.xml" Id="R6c5b1282e2234c7a" /><Relationship Type="http://schemas.openxmlformats.org/officeDocument/2006/relationships/presProps" Target="/ppt/presProps.xml" Id="R346237c8d21c4f6f" /><Relationship Type="http://schemas.openxmlformats.org/officeDocument/2006/relationships/tableStyles" Target="/ppt/tableStyles.xml" Id="Re24ff8cf55ac4d67" /><Relationship Type="http://schemas.openxmlformats.org/officeDocument/2006/relationships/slide" Target="/ppt/slides/slide1.xml" Id="R24247131e0f2408b" /><Relationship Type="http://schemas.openxmlformats.org/officeDocument/2006/relationships/slide" Target="/ppt/slides/slide2.xml" Id="R46ae9f856a9c49c2" /><Relationship Type="http://schemas.openxmlformats.org/officeDocument/2006/relationships/slide" Target="/ppt/slides/slide3.xml" Id="Rdbcf13d67b984640" /><Relationship Type="http://schemas.openxmlformats.org/officeDocument/2006/relationships/slide" Target="/ppt/slides/slide4.xml" Id="R5b0b98e0d3c947b7" /><Relationship Type="http://schemas.openxmlformats.org/officeDocument/2006/relationships/slide" Target="/ppt/slides/slide5.xml" Id="R50bd9b8b19564ae5" /><Relationship Type="http://schemas.openxmlformats.org/officeDocument/2006/relationships/slide" Target="/ppt/slides/slide6.xml" Id="R3481f57ac44d4420" /><Relationship Type="http://schemas.openxmlformats.org/officeDocument/2006/relationships/slide" Target="/ppt/slides/slide7.xml" Id="R33124401a0534a94" /><Relationship Type="http://schemas.openxmlformats.org/officeDocument/2006/relationships/slide" Target="/ppt/slides/slide8.xml" Id="Rb4f446c7a6c042e5" /><Relationship Type="http://schemas.openxmlformats.org/officeDocument/2006/relationships/slide" Target="/ppt/slides/slide9.xml" Id="Rf96ce49d40b04d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1975507fd540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d21fe93b2c4826" /><Relationship Type="http://schemas.openxmlformats.org/officeDocument/2006/relationships/notesMaster" Target="/ppt/notesMasters/notesMaster1.xml" Id="Rbe69f99bbe8e47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3fd810d5f84492" /><Relationship Type="http://schemas.openxmlformats.org/officeDocument/2006/relationships/notesMaster" Target="/ppt/notesMasters/notesMaster1.xml" Id="Rccff0bb9ac3a4f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19708a5b774138" /><Relationship Type="http://schemas.openxmlformats.org/officeDocument/2006/relationships/notesMaster" Target="/ppt/notesMasters/notesMaster1.xml" Id="Rcf6b7bd8d51747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93dc95eba04d43" /><Relationship Type="http://schemas.openxmlformats.org/officeDocument/2006/relationships/notesMaster" Target="/ppt/notesMasters/notesMaster1.xml" Id="R320b43c0081748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5712da80824a58" /><Relationship Type="http://schemas.openxmlformats.org/officeDocument/2006/relationships/notesMaster" Target="/ppt/notesMasters/notesMaster1.xml" Id="R46a9ba8e549f4b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deeebb384d4823" /><Relationship Type="http://schemas.openxmlformats.org/officeDocument/2006/relationships/notesMaster" Target="/ppt/notesMasters/notesMaster1.xml" Id="R520be1ca0d8948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0067c4474c42e9" /><Relationship Type="http://schemas.openxmlformats.org/officeDocument/2006/relationships/notesMaster" Target="/ppt/notesMasters/notesMaster1.xml" Id="R94da17a829c643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1eab3f51414485" /><Relationship Type="http://schemas.openxmlformats.org/officeDocument/2006/relationships/notesMaster" Target="/ppt/notesMasters/notesMaster1.xml" Id="R265d51cd28574a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f1422b046f4685" /><Relationship Type="http://schemas.openxmlformats.org/officeDocument/2006/relationships/notesMaster" Target="/ppt/notesMasters/notesMaster1.xml" Id="R8887da171c0e4c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is the desktop client. The EC2 host runs the Gateway and holds the workspace. The local Gateway listener is off. Direct MCP and AWS checks passed, including an allowed S3 read, an MCP grant denial and an S3 IAM denial. Native Kiro CLI authentication and a verified backend session remain pending. Sources: evidence/aws/stack-state.json; evidence/aws/client-runtime-verification.json; evidence/aws/mcp-live-receipt.json;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checks verify the remote desktop connection, direct MCP grants and S3 IAM outcomes. Native backend enforcement and sandbox behavior remain pending. The reference cites the September 11 baseline. Sources: kirocrew-security-layers.html; evidence/nightly/baseline-verification.json; evidence/aws/client-runtime-verification.json;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created one t3a.small in an existing public subnet in us-east-1. The security group admits TCP 22 only from the current client IPv4 /32. SSH forwards laptop port 5599 to EC2 loopback port 5476. The Gateway, Kiro CLI installation and workspace share the Crew execution boundary. The MCP service runs on the same EC2 instance under a separate UID and listens on loopback port 8001. It uses the instance role for the fixed S3 requests. The role permits the allowed prefix and explicitly denies GetObject under the denied prefix. Native Kiro CLI sign-in remains pending. The host has encrypted 24 GiB gp3 storage and requires IMDSv2. Separate host checks confirmed bootstrap and active services after CloudFormation created the stack. Primary AWS MCP in us-east-1 handled provisioning. The demo MCP service on EC2 is separate from that provisioning connector. The detailed browser view contains ports and the remaining host configuration. Sources: infrastructure/ec2-demo.json; evidence/aws/stack-state.json; evidence/aws/security-group.json; evidence/aws/ssh-verification.json; evidence/aws/ec2-console-bootstrap.json; evidence/aws/primary-mcp-tools.json.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probe called the MCP service directly. The direct_mcp_service_probe receipt passed at 2026-09-13T04:17:07Z and explicitly records native_crew_backend_verified=false. The unauthenticated request returned 401, and discovery returned four tools. read_allowed returned 55 bytes and the expected SHA256, with AWS request ID NJ47PCKDNPWNT29P. mcp_denied returned tool_grant_denied without an AWS dispatch for its trace. iam_denied returned S3 AccessDenied, HTTP 403, and request ID NJ428FX3JS4EV6VK. An independent check confirmed that the denied object existed. An STS failure does not satisfy the S3-denial check. The exact command in WALKTHROUGH.md passed again at 2026-09-13T04:48:49Z, with fresh AWS request IDs C25PB34E90H62Y2N for the allowed read and 4FM4E0EGXJ783W7H for the IAM denial. The second run has a separate receipt. Sources: evidence/aws/mcp-live-receipt.json; evidence/aws/mcp-live-audit.jsonl; evidence/aws/walkthrough-direct-probe.json; evidence/aws/seed-fixtures-result.json; infrastructure/mcp-enforcement/TEST-RECEIPT.json.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app and package identify 0.7.0-nightly.20260912t060850. EC2 runs a custom Linux repack with Linux dependencies and native libraries. Installed metadata provides no source commit. The archive SHA256 is 5133df99766a436a0fe346c6c57b4475fa00389a62fe7e464ec8440942e33d39. The Linux dependency lock pins versions and accepted artifact hashes. On EC2, 24 selected modules for Crew controls match the installed nightly RECORD. Those files are root-owned and neither group- nor world-writable. Kiro CLI 2.21.4 comes from the official stable Linux artifact and matches its manifest. Backend authentication and a native session remain pending. The desktop shows Gateway connected, enforcement-demo and /srv/kirocrew-demo/workspace. Local port 5476 has no listener, and SSH owns port 5599. The UI warns about low memory with about 1.2 GB free on the 2 GiB instance. Performance during a full backend session remains unverified. Sources: evidence/nightly/installed-nightly-verification.json; evidence/aws/linux-repack.json; infrastructure/crew-requirements-linux.lock; evidence/aws/deployed-nightly-verification.json; evidence/aws/kiro-cli-artifact.json;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03:50–05:50.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05:50–06:20. AWS Pricing API returned $0.0188 per On Demand Linux t3a.small hour in us-east-1. AWS lists public IPv4 at $0.005 per hour. Together they cost $0.0238 per running hour, rounded to $0.024. The gp3 rate is $0.08 per GB-month, so 24 GiB costs $1.92 per month. At 730 running hours, compute, IPv4 and EBS total $19.294, or about $19 per month. S3, transfer, model usage and taxes add charges. The instance uses standard credits and has no NAT gateway or load balancer. After finishing active work, use scripts/demo-cloud.py stop --dry-run, inspect the plan, then stop --apply. Stopping releases the ephemeral public IPv4 and stops compute billing. The EBS volume remains billable. Refresh the SSH target after restart. Use the helper to update CloudFormation if the allowed client /32 changes. Stack deletion removes the instance and root EBS but retains the S3 bucket and its policy. The UI warns about low memory on the 2 GiB host. Full backend performance remains unverified. The separate client rollback procedure restores local mode. Sources: evidence/aws/t3a-small-pricing.json; evidence/aws/gp3-pricing.json; https://aws.amazon.com/vpc/pricing/ ; infrastructure/ec2-demo.json; infrastructure/RUNBOOK.md.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566c12856244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3d84b7d6a24a80" /><Relationship Type="http://schemas.openxmlformats.org/officeDocument/2006/relationships/slideLayout" Target="/ppt/slideLayouts/slideLayout1.xml" Id="R2d6070b9022a47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6070b9022a47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4c8ec9b02b478c" /><Relationship Type="http://schemas.openxmlformats.org/officeDocument/2006/relationships/notesSlide" Target="/ppt/notesSlides/notesSlide1.xml" Id="R15bc857c458048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94a3146b5c4ff2" /><Relationship Type="http://schemas.openxmlformats.org/officeDocument/2006/relationships/image" Target="/ppt/media/image.png" Id="Rc07c814f3fdb42fa" /><Relationship Type="http://schemas.openxmlformats.org/officeDocument/2006/relationships/notesSlide" Target="/ppt/notesSlides/notesSlide2.xml" Id="R0b852a0c486f48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d096fdd2684cab" /><Relationship Type="http://schemas.openxmlformats.org/officeDocument/2006/relationships/image" Target="/ppt/media/image2.png" Id="R5e5b3fe58d8b48d3" /><Relationship Type="http://schemas.openxmlformats.org/officeDocument/2006/relationships/notesSlide" Target="/ppt/notesSlides/notesSlide3.xml" Id="R01cee48c62804c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d8842d5e184b1b" /><Relationship Type="http://schemas.openxmlformats.org/officeDocument/2006/relationships/notesSlide" Target="/ppt/notesSlides/notesSlide4.xml" Id="R3736888a0ebb49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98b87546cd4678" /><Relationship Type="http://schemas.openxmlformats.org/officeDocument/2006/relationships/notesSlide" Target="/ppt/notesSlides/notesSlide5.xml" Id="R1144b30669914c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fcbf26c14d4e05" /><Relationship Type="http://schemas.openxmlformats.org/officeDocument/2006/relationships/notesSlide" Target="/ppt/notesSlides/notesSlide6.xml" Id="R330981e260cf4d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d5cbeb98dc4ce0" /><Relationship Type="http://schemas.openxmlformats.org/officeDocument/2006/relationships/notesSlide" Target="/ppt/notesSlides/notesSlide7.xml" Id="R5687113ca7d442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55bbd6229f4cdc" /><Relationship Type="http://schemas.openxmlformats.org/officeDocument/2006/relationships/notesSlide" Target="/ppt/notesSlides/notesSlide8.xml" Id="R8e55cbbf2a9640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7d4a942ca64c1c" /><Relationship Type="http://schemas.openxmlformats.org/officeDocument/2006/relationships/notesSlide" Target="/ppt/notesSlides/notesSlide9.xml" Id="Rf97835fd7ae143cf"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643C57-56CC-4FDC-96CC-5A2C6B3022DE}"/>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EC2</a:t>
            </a:r>
          </a:p>
        </p:txBody>
      </p:sp>
      <p:sp>
        <p:nvSpPr>
          <p:cNvPr id="2" name="">
            <a:extLst xmlns:a="http://schemas.openxmlformats.org/drawingml/2006/main">
              <a:ext uri="{FF2B5EF4-FFF2-40B4-BE49-F238E27FC236}">
                <a16:creationId xmlns:a16="http://schemas.microsoft.com/office/drawing/2014/main" id="{AF4A486F-1EF8-44A0-AD11-5950031AA2C0}"/>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Desktop client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EC2 execution environment</a:t>
            </a:r>
          </a:p>
        </p:txBody>
      </p:sp>
      <p:sp>
        <p:nvSpPr>
          <p:cNvPr id="3" name="">
            <a:extLst xmlns:a="http://schemas.openxmlformats.org/drawingml/2006/main">
              <a:ext uri="{FF2B5EF4-FFF2-40B4-BE49-F238E27FC236}">
                <a16:creationId xmlns:a16="http://schemas.microsoft.com/office/drawing/2014/main" id="{C7BE72DF-3869-4447-823F-18E1183B6445}"/>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B1F6D8C1-BD67-425F-B8B7-6E65517ADD8D}"/>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36700208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37A85D-D7D2-4142-9CCF-9B2277E645D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6F72A1B6-FD47-477F-B30A-77B1DECC6235}"/>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60B62F6D-9FB4-4BE7-B284-F568413C1463}"/>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07c814f3fdb42fa"/>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68F4B6-9CC4-435C-9012-018DF655EC77}"/>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1264610760"/>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E4823A6-96CF-4E38-87C7-028E79B6A6D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CloudFormation deployment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e5b3fe58d8b48d3"/>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B078A6-8FAE-4805-AA38-EB73C83B5788}"/>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One t3a.small. SSH from the client IP /32. Gateway and MCP listen on loopback.</a:t>
            </a:r>
          </a:p>
        </p:txBody>
      </p:sp>
    </p:spTree>
    <p:extLst>
      <p:ext uri="{BB962C8B-B14F-4D97-AF65-F5344CB8AC3E}">
        <p14:creationId xmlns:p14="http://schemas.microsoft.com/office/powerpoint/2010/main" val="2055515207"/>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6C9618-420E-4F44-B09D-2324531BF97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26AF580-B72A-41AD-9E43-B2C013120FA1}"/>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1767271088"/>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B16E3D-4AF5-43BF-BA93-FDBCC41CEFB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44792C4F-E36E-4417-A0C8-CF8A7E70E2DB}"/>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2219933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858CAC-35AC-47CE-AE52-7FC4EAAE764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Observed MCP and AWS results</a:t>
            </a:r>
          </a:p>
        </p:txBody>
      </p:sp>
      <p:sp>
        <p:nvSpPr>
          <p:cNvPr id="2" name="">
            <a:extLst xmlns:a="http://schemas.openxmlformats.org/drawingml/2006/main">
              <a:ext uri="{FF2B5EF4-FFF2-40B4-BE49-F238E27FC236}">
                <a16:creationId xmlns:a16="http://schemas.microsoft.com/office/drawing/2014/main" id="{B3CCD715-5A20-4E9B-82FD-69EDA61F1FD6}"/>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EC2</a:t>
            </a:r>
          </a:p>
        </p:txBody>
      </p:sp>
      <p:sp>
        <p:nvSpPr>
          <p:cNvPr id="3" name="">
            <a:extLst xmlns:a="http://schemas.openxmlformats.org/drawingml/2006/main">
              <a:ext uri="{FF2B5EF4-FFF2-40B4-BE49-F238E27FC236}">
                <a16:creationId xmlns:a16="http://schemas.microsoft.com/office/drawing/2014/main" id="{8FEE8B5F-1E71-43FC-83AE-8C6B01CF4DD8}"/>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04:17:07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No AWS dispatch for that trace</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NJ428FX3JS4EV6VK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B528B4-4F73-4D34-AD9E-89262E8F19C9}"/>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BEBAB714-236E-46D8-A22E-B4A639EBF34B}"/>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1347956848"/>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27F286-7674-4598-81B7-2A3DF6B50D6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Installed nightly and client baseline</a:t>
            </a:r>
          </a:p>
        </p:txBody>
      </p:sp>
      <p:sp>
        <p:nvSpPr>
          <p:cNvPr id="2" name="">
            <a:extLst xmlns:a="http://schemas.openxmlformats.org/drawingml/2006/main">
              <a:ext uri="{FF2B5EF4-FFF2-40B4-BE49-F238E27FC236}">
                <a16:creationId xmlns:a16="http://schemas.microsoft.com/office/drawing/2014/main" id="{9E03EE2F-4A26-411F-8540-DD91526D1AD5}"/>
              </a:ext>
            </a:extLst>
          </p:cNvPr>
          <p:cNvSpPr>
            <a:spLocks xmlns:a="http://schemas.openxmlformats.org/drawingml/2006/main" noGrp="1"/>
          </p:cNvSpPr>
          <p:nvPr/>
        </p:nvSpPr>
        <p:spPr>
          <a:xfrm xmlns:a="http://schemas.openxmlformats.org/drawingml/2006/main">
            <a:off x="609600" y="146685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9A1747AB-9609-4E5D-8BC1-89809A8F2282}"/>
              </a:ext>
            </a:extLst>
          </p:cNvPr>
          <p:cNvSpPr>
            <a:spLocks xmlns:a="http://schemas.openxmlformats.org/drawingml/2006/main" noGrp="1"/>
          </p:cNvSpPr>
          <p:nvPr/>
        </p:nvSpPr>
        <p:spPr>
          <a:xfrm xmlns:a="http://schemas.openxmlformats.org/drawingml/2006/main">
            <a:off x="609600" y="2133600"/>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Linux repack of the installed package</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Hash-locked Linux dependencies</a:t>
            </a:r>
          </a:p>
        </p:txBody>
      </p:sp>
      <p:sp>
        <p:nvSpPr>
          <p:cNvPr id="4" name="">
            <a:extLst xmlns:a="http://schemas.openxmlformats.org/drawingml/2006/main">
              <a:ext uri="{FF2B5EF4-FFF2-40B4-BE49-F238E27FC236}">
                <a16:creationId xmlns:a16="http://schemas.microsoft.com/office/drawing/2014/main" id="{E2AE5124-2DD6-4E76-9862-E03CC9396B20}"/>
              </a:ext>
            </a:extLst>
          </p:cNvPr>
          <p:cNvSpPr>
            <a:spLocks xmlns:a="http://schemas.openxmlformats.org/drawingml/2006/main" noGrp="1"/>
          </p:cNvSpPr>
          <p:nvPr/>
        </p:nvSpPr>
        <p:spPr>
          <a:xfrm xmlns:a="http://schemas.openxmlformats.org/drawingml/2006/main">
            <a:off x="609600" y="3638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Kiro CLI artifact</a:t>
            </a:r>
          </a:p>
        </p:txBody>
      </p:sp>
      <p:sp>
        <p:nvSpPr>
          <p:cNvPr id="5" name="">
            <a:extLst xmlns:a="http://schemas.openxmlformats.org/drawingml/2006/main">
              <a:ext uri="{FF2B5EF4-FFF2-40B4-BE49-F238E27FC236}">
                <a16:creationId xmlns:a16="http://schemas.microsoft.com/office/drawing/2014/main" id="{F3C1337B-7650-4108-8459-8CE6EFF9C593}"/>
              </a:ext>
            </a:extLst>
          </p:cNvPr>
          <p:cNvSpPr>
            <a:spLocks xmlns:a="http://schemas.openxmlformats.org/drawingml/2006/main" noGrp="1"/>
          </p:cNvSpPr>
          <p:nvPr/>
        </p:nvSpPr>
        <p:spPr>
          <a:xfrm xmlns:a="http://schemas.openxmlformats.org/drawingml/2006/main">
            <a:off x="609600" y="43053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2.21.4 official Linux artifact</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Archive hash matches the official manifest</a:t>
            </a:r>
          </a:p>
        </p:txBody>
      </p:sp>
      <p:sp>
        <p:nvSpPr>
          <p:cNvPr id="6" name="">
            <a:extLst xmlns:a="http://schemas.openxmlformats.org/drawingml/2006/main">
              <a:ext uri="{FF2B5EF4-FFF2-40B4-BE49-F238E27FC236}">
                <a16:creationId xmlns:a16="http://schemas.microsoft.com/office/drawing/2014/main" id="{AB168F23-8F5E-46EA-BF31-05482C54278A}"/>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8666"/>
                </a:solidFill>
                <a:latin typeface="Arial"/>
                <a:ea typeface="Arial"/>
                <a:cs typeface="Arial"/>
              </a:defRPr>
            </a:pPr>
            <a:r>
              <a:rPr sz="1875" b="0">
                <a:solidFill>
                  <a:srgbClr val="008666"/>
                </a:solidFill>
                <a:latin typeface="Arial"/>
                <a:ea typeface="Arial"/>
                <a:cs typeface="Arial"/>
              </a:rPr>
              <a:t>Desktop uses EC2. Local Gateway is off.</a:t>
            </a:r>
          </a:p>
        </p:txBody>
      </p:sp>
      <p:sp>
        <p:nvSpPr>
          <p:cNvPr id="7" name="">
            <a:extLst xmlns:a="http://schemas.openxmlformats.org/drawingml/2006/main">
              <a:ext uri="{FF2B5EF4-FFF2-40B4-BE49-F238E27FC236}">
                <a16:creationId xmlns:a16="http://schemas.microsoft.com/office/drawing/2014/main" id="{8DFAE641-2E98-426E-B47F-94B73559125E}"/>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Native backend authentication and session pending.</a:t>
            </a:r>
          </a:p>
        </p:txBody>
      </p:sp>
    </p:spTree>
    <p:extLst>
      <p:ext uri="{BB962C8B-B14F-4D97-AF65-F5344CB8AC3E}">
        <p14:creationId xmlns:p14="http://schemas.microsoft.com/office/powerpoint/2010/main" val="1326043707"/>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23EE95-AF5E-4BF6-9218-2209589A2EB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25472C61-0EFB-4262-862B-F8DC8E083AA6}"/>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B187CAF1-83CF-4EB8-A06F-1CD03ACE8665}"/>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36D66281-287F-4E9E-957B-A5A30C1A8649}"/>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8301C74E-F88A-49AF-A865-5C0FC7C3F02E}"/>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931ACD3A-AB8A-4929-A959-95ACFF381900}"/>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959286860"/>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E85DDB-A919-4B2E-B4FE-5CEC2E68DAF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Demo cost and return to baseline</a:t>
            </a:r>
          </a:p>
        </p:txBody>
      </p:sp>
      <p:sp>
        <p:nvSpPr>
          <p:cNvPr id="2" name="">
            <a:extLst xmlns:a="http://schemas.openxmlformats.org/drawingml/2006/main">
              <a:ext uri="{FF2B5EF4-FFF2-40B4-BE49-F238E27FC236}">
                <a16:creationId xmlns:a16="http://schemas.microsoft.com/office/drawing/2014/main" id="{CBE8EF25-ACEE-4D44-8E9A-D2418AC34745}"/>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$0.024 per running hour</a:t>
            </a:r>
          </a:p>
        </p:txBody>
      </p:sp>
      <p:sp>
        <p:nvSpPr>
          <p:cNvPr id="3" name="">
            <a:extLst xmlns:a="http://schemas.openxmlformats.org/drawingml/2006/main">
              <a:ext uri="{FF2B5EF4-FFF2-40B4-BE49-F238E27FC236}">
                <a16:creationId xmlns:a16="http://schemas.microsoft.com/office/drawing/2014/main" id="{6169DE5A-584C-4087-8860-E9A360C7B459}"/>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Storage adds $1.92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About $19 per month if always on, before other usage.</a:t>
            </a:r>
          </a:p>
        </p:txBody>
      </p:sp>
      <p:sp>
        <p:nvSpPr>
          <p:cNvPr id="4" name="">
            <a:extLst xmlns:a="http://schemas.openxmlformats.org/drawingml/2006/main">
              <a:ext uri="{FF2B5EF4-FFF2-40B4-BE49-F238E27FC236}">
                <a16:creationId xmlns:a16="http://schemas.microsoft.com/office/drawing/2014/main" id="{3CBD4380-DDB0-4C2E-9328-B37C137F3CD3}"/>
              </a:ext>
            </a:extLst>
          </p:cNvPr>
          <p:cNvSpPr>
            <a:spLocks xmlns:a="http://schemas.openxmlformats.org/drawingml/2006/main" noGrp="1"/>
          </p:cNvSpPr>
          <p:nvPr/>
        </p:nvSpPr>
        <p:spPr>
          <a:xfrm xmlns:a="http://schemas.openxmlformats.org/drawingml/2006/main">
            <a:off x="6096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After the demo</a:t>
            </a:r>
          </a:p>
        </p:txBody>
      </p:sp>
      <p:sp>
        <p:nvSpPr>
          <p:cNvPr id="5" name="">
            <a:extLst xmlns:a="http://schemas.openxmlformats.org/drawingml/2006/main">
              <a:ext uri="{FF2B5EF4-FFF2-40B4-BE49-F238E27FC236}">
                <a16:creationId xmlns:a16="http://schemas.microsoft.com/office/drawing/2014/main" id="{C780A576-949C-489F-B829-162D3F46731E}"/>
              </a:ext>
            </a:extLst>
          </p:cNvPr>
          <p:cNvSpPr>
            <a:spLocks xmlns:a="http://schemas.openxmlformats.org/drawingml/2006/main" noGrp="1"/>
          </p:cNvSpPr>
          <p:nvPr/>
        </p:nvSpPr>
        <p:spPr>
          <a:xfrm xmlns:a="http://schemas.openxmlformats.org/drawingml/2006/main">
            <a:off x="609600" y="463867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Stop the instance. EBS remains.</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Refresh its address after restart.</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Stack deletion retains the S3 demo data.</a:t>
            </a:r>
          </a:p>
        </p:txBody>
      </p:sp>
      <p:sp>
        <p:nvSpPr>
          <p:cNvPr id="6" name="">
            <a:extLst xmlns:a="http://schemas.openxmlformats.org/drawingml/2006/main">
              <a:ext uri="{FF2B5EF4-FFF2-40B4-BE49-F238E27FC236}">
                <a16:creationId xmlns:a16="http://schemas.microsoft.com/office/drawing/2014/main" id="{58831DC5-2BDC-41B2-9B81-29867D9BBE16}"/>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The 2 GiB host has a low-memory warning. Full backend performance is unverified.</a:t>
            </a:r>
          </a:p>
        </p:txBody>
      </p:sp>
    </p:spTree>
    <p:extLst>
      <p:ext uri="{BB962C8B-B14F-4D97-AF65-F5344CB8AC3E}">
        <p14:creationId xmlns:p14="http://schemas.microsoft.com/office/powerpoint/2010/main" val="364058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2026-09-13T05:01:05.4080000Z</dcterms:created>
  <dcterms:modified xsi:type="dcterms:W3CDTF">2026-09-13T05:01:05.4080000Z</dcterms:modified>
</coreProperties>
</file>