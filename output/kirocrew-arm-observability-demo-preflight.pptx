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bd486c75404d23" /><Relationship Type="http://schemas.openxmlformats.org/officeDocument/2006/relationships/extended-properties" Target="/docProps/app.xml" Id="Rc03740d6e5864a2e" /><Relationship Type="http://schemas.openxmlformats.org/officeDocument/2006/relationships/officeDocument" Target="/ppt/presentation.xml" Id="Rc28fa15e83e84fce" /></Relationships>
</file>

<file path=ppt/presentation.xml><?xml version="1.0" encoding="utf-8"?>
<p:presentation xmlns:p="http://schemas.openxmlformats.org/presentationml/2006/main">
  <p:sldMasterIdLst>
    <p:sldMasterId xmlns:r="http://schemas.openxmlformats.org/officeDocument/2006/relationships" id="2147483648" r:id="Ra178692594294f42"/>
  </p:sldMasterIdLst>
  <p:notesMasterIdLst>
    <p:notesMasterId xmlns:r="http://schemas.openxmlformats.org/officeDocument/2006/relationships" r:id="R9e870b405e1c4f12"/>
  </p:notesMasterIdLst>
  <p:sldIdLst>
    <p:sldId xmlns:r="http://schemas.openxmlformats.org/officeDocument/2006/relationships" id="256" r:id="Re1124f79199f4b61"/>
    <p:sldId xmlns:r="http://schemas.openxmlformats.org/officeDocument/2006/relationships" id="257" r:id="R0f993c7872984fa7"/>
    <p:sldId xmlns:r="http://schemas.openxmlformats.org/officeDocument/2006/relationships" id="258" r:id="R3516c3453831425d"/>
    <p:sldId xmlns:r="http://schemas.openxmlformats.org/officeDocument/2006/relationships" id="259" r:id="R48515d2390c24f29"/>
    <p:sldId xmlns:r="http://schemas.openxmlformats.org/officeDocument/2006/relationships" id="260" r:id="R6d24193a3f8646fb"/>
    <p:sldId xmlns:r="http://schemas.openxmlformats.org/officeDocument/2006/relationships" id="261" r:id="Rbb2bd6e125a9482c"/>
    <p:sldId xmlns:r="http://schemas.openxmlformats.org/officeDocument/2006/relationships" id="262" r:id="Rd3bc9665495e4a59"/>
    <p:sldId xmlns:r="http://schemas.openxmlformats.org/officeDocument/2006/relationships" id="263" r:id="Rc9298e79759f4f24"/>
    <p:sldId xmlns:r="http://schemas.openxmlformats.org/officeDocument/2006/relationships" id="264" r:id="R6537b0e0f5d14d4a"/>
    <p:sldId xmlns:r="http://schemas.openxmlformats.org/officeDocument/2006/relationships" id="265" r:id="Rd0a2b11b0a57464b"/>
    <p:sldId xmlns:r="http://schemas.openxmlformats.org/officeDocument/2006/relationships" id="266" r:id="R552c1a954e5d42b2"/>
    <p:sldId xmlns:r="http://schemas.openxmlformats.org/officeDocument/2006/relationships" id="267" r:id="R392aa26bbf3a47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33541266b046eb" /><Relationship Type="http://schemas.openxmlformats.org/officeDocument/2006/relationships/slideMaster" Target="/ppt/slideMasters/slideMaster1.xml" Id="Ra178692594294f42" /><Relationship Type="http://schemas.openxmlformats.org/officeDocument/2006/relationships/notesMaster" Target="/ppt/notesMasters/notesMaster1.xml" Id="R9e870b405e1c4f12" /><Relationship Type="http://schemas.openxmlformats.org/officeDocument/2006/relationships/presProps" Target="/ppt/presProps.xml" Id="Rd57a8ac4cfaf431f" /><Relationship Type="http://schemas.openxmlformats.org/officeDocument/2006/relationships/tableStyles" Target="/ppt/tableStyles.xml" Id="Rac47032bbebc4978" /><Relationship Type="http://schemas.openxmlformats.org/officeDocument/2006/relationships/slide" Target="/ppt/slides/slide1.xml" Id="Re1124f79199f4b61" /><Relationship Type="http://schemas.openxmlformats.org/officeDocument/2006/relationships/slide" Target="/ppt/slides/slide2.xml" Id="R0f993c7872984fa7" /><Relationship Type="http://schemas.openxmlformats.org/officeDocument/2006/relationships/slide" Target="/ppt/slides/slide3.xml" Id="R3516c3453831425d" /><Relationship Type="http://schemas.openxmlformats.org/officeDocument/2006/relationships/slide" Target="/ppt/slides/slide4.xml" Id="R48515d2390c24f29" /><Relationship Type="http://schemas.openxmlformats.org/officeDocument/2006/relationships/slide" Target="/ppt/slides/slide5.xml" Id="R6d24193a3f8646fb" /><Relationship Type="http://schemas.openxmlformats.org/officeDocument/2006/relationships/slide" Target="/ppt/slides/slide6.xml" Id="Rbb2bd6e125a9482c" /><Relationship Type="http://schemas.openxmlformats.org/officeDocument/2006/relationships/slide" Target="/ppt/slides/slide7.xml" Id="Rd3bc9665495e4a59" /><Relationship Type="http://schemas.openxmlformats.org/officeDocument/2006/relationships/slide" Target="/ppt/slides/slide8.xml" Id="Rc9298e79759f4f24" /><Relationship Type="http://schemas.openxmlformats.org/officeDocument/2006/relationships/slide" Target="/ppt/slides/slide9.xml" Id="R6537b0e0f5d14d4a" /><Relationship Type="http://schemas.openxmlformats.org/officeDocument/2006/relationships/slide" Target="/ppt/slides/slide10.xml" Id="Rd0a2b11b0a57464b" /><Relationship Type="http://schemas.openxmlformats.org/officeDocument/2006/relationships/slide" Target="/ppt/slides/slide11.xml" Id="R552c1a954e5d42b2" /><Relationship Type="http://schemas.openxmlformats.org/officeDocument/2006/relationships/slide" Target="/ppt/slides/slide12.xml" Id="R392aa26bbf3a47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898f1b4d7742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3c8e48041c4117" /><Relationship Type="http://schemas.openxmlformats.org/officeDocument/2006/relationships/notesMaster" Target="/ppt/notesMasters/notesMaster1.xml" Id="R7571bade15134b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42c1c2a6914f2f" /><Relationship Type="http://schemas.openxmlformats.org/officeDocument/2006/relationships/notesMaster" Target="/ppt/notesMasters/notesMaster1.xml" Id="Rce545d1d232648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efe773034b4486" /><Relationship Type="http://schemas.openxmlformats.org/officeDocument/2006/relationships/notesMaster" Target="/ppt/notesMasters/notesMaster1.xml" Id="Rffaa5183565444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8f6c3603c5410b" /><Relationship Type="http://schemas.openxmlformats.org/officeDocument/2006/relationships/notesMaster" Target="/ppt/notesMasters/notesMaster1.xml" Id="R1772c732b1ea40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99ccd7e21349f6" /><Relationship Type="http://schemas.openxmlformats.org/officeDocument/2006/relationships/notesMaster" Target="/ppt/notesMasters/notesMaster1.xml" Id="R9e7424b3199149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c1c9ec8a714a5c" /><Relationship Type="http://schemas.openxmlformats.org/officeDocument/2006/relationships/notesMaster" Target="/ppt/notesMasters/notesMaster1.xml" Id="Race4ec7180964d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ae1ecbb61d4622" /><Relationship Type="http://schemas.openxmlformats.org/officeDocument/2006/relationships/notesMaster" Target="/ppt/notesMasters/notesMaster1.xml" Id="R82ebae687fb64c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5021e3467046db" /><Relationship Type="http://schemas.openxmlformats.org/officeDocument/2006/relationships/notesMaster" Target="/ppt/notesMasters/notesMaster1.xml" Id="R93d7c39f5b1640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8778aac93a4909" /><Relationship Type="http://schemas.openxmlformats.org/officeDocument/2006/relationships/notesMaster" Target="/ppt/notesMasters/notesMaster1.xml" Id="R21a8002b99724d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99beff1164453a" /><Relationship Type="http://schemas.openxmlformats.org/officeDocument/2006/relationships/notesMaster" Target="/ppt/notesMasters/notesMaster1.xml" Id="Ra12f520dab8341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197e0b82164ae4" /><Relationship Type="http://schemas.openxmlformats.org/officeDocument/2006/relationships/notesMaster" Target="/ppt/notesMasters/notesMaster1.xml" Id="R540af96b692d41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f5c0f10c444fb4" /><Relationship Type="http://schemas.openxmlformats.org/officeDocument/2006/relationships/notesMaster" Target="/ppt/notesMasters/notesMaster1.xml" Id="R836e1096739148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runs the desktop client. A t4g.xlarge EC2 host runs the Gateway, Kiro CLI installation, workspace and separate MCP service. The local Gateway is off. Direct MCP and AWS checks passed on ARM. Native Kiro CLI authentication and a verified backend session remain pending. The observability walkthrough distinguishes native Gateway metrics from custom Mac and EC2 samples. Sources: evidence/aws/arm-20260913/final-cloud-verification.json; evidence/aws/arm-20260913/mcp-live-receipt.json. Telemetry activation and screenshots require their own live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checks verify the remote desktop connection, direct MCP grants and S3 IAM outcomes. Native backend enforcement and sandbox behavior remain pending. The reference cites the September 11 baseline. Sources: kirocrew-security-layers.html; evidence/nightly/baseline-verification.json; evidence/aws/client-runtime-verification.json; evidence/aws/mcp-live-receipt.json.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now directs the demo to a t4g.xlarge: four vCPUs, 16 GiB RAM and 40 GiB encrypted gp3 storage. The security group admits TCP 22 only from the client IPv4 /32. SSH forwards laptop port 5599 to EC2 loopback port 5476. The Gateway, Kiro CLI installation and workspace share the Crew execution boundary. The MCP service uses a separate UID and listens on loopback port 8001. IMDSv2 is required with a hop limit of one. The original x86 instance is stopped and remains available for rollback. Its 24 GiB disk remains billable. Cloud verification passed at 2026-09-13T14:22:25Z. The resource check does not establish native backend authentication or telemetry health. Sources: infrastructure/ec2-demo.json; evidence/aws/arm-20260913/final-cloud-verification.json; evidence/aws/arm-20260913/host-checks.txt.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executable and service files. The crew user runs the Gateway, backend and workspace. An owner-based firewall rule blocks metadata requests from the crew UID, and the Gateway requires that guard service.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direct_mcp_service_probe passed on the ARM host at 2026-09-13T14:07:16Z and records native_crew_backend_verified=false. An unauthenticated request returned 401, and discovery returned four tools. read_allowed returned 55 bytes and the expected SHA256, with AWS request ID 5NMYCQ5YF956H52H. mcp_denied returned tool_grant_denied at the MCP boundary. iam_denied returned S3 AccessDenied, HTTP 403, and request ID 5NMQFXT3FYT6A0A9. This probe directly exercises MCP and AWS; it does not establish native Crew execution or the configured Crew hook denial. Sources: evidence/aws/arm-20260913/mcp-live-receipt.json; infrastructure/mcp-enforcement/server.py.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Crew source is the installed 0.7.0-nightly.20260912t060850 package, repacked for Linux ARM64 with pinned dependencies. It is a custom repack, not an official Linux nightly artifact. The ARM dependency lock contains 48 version- and hash-locked packages. The x86-only pysqlite3-binary dependency is omitted under its original platform marker, and the installer checks standard-library SQLite FTS5 support. All 24 selected control modules on the ARM host match the installed nightly source and are root-owned without group or world write access. Kiro CLI is a separate official 2.21.4 ARM artifact. Native authentication and backend performance remain pending. An initial host check reported 14.57 GiB available and ample memory posture. This is an idle-host observation, not a full-session benchmark. Local-model downloads remain off. Sources: evidence/aws/arm-20260913/runtime-preparation.json; infrastructure/crew-requirements-linux-arm64.lock; evidence/aws/arm-20260913/source-verification.json; evidence/aws/arm-20260913/host-checks.txt; evidence/aws/arm-20260913/kiro-cli-manifest.json.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03:50–04:25. Open the admin portal’s Developer → Telemetry view. Native instrumentation reports Gateway metrics. Local collection, anonymous usage beacons and desktop diagnostics are separate systems. The native Telemetry view does not ingest the custom client and server samples. Live collection settings and displayed metrics require a runtime receipt; model-related charts may remain empty while native authentication is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04:25–05:00. Open the Demo Observability App Kit page. The custom app separates Mac client process samples from EC2 host and service samples. Collection events report collector and transfer state. These are custom operational measurements, not native frontend RUM, distributed traces or centralized raw logs. Live sample values and screenshots require their own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05:00–05:30. In the admin walkthrough, first confirm which source produced each metric and when it was sampled. Then inspect the Mac client’s local Gateway-off and remote Gateway-reachable checks. Compare the EC2 Gateway and MCP service checks. The custom app treats old, missing and future-dated samples as distinct states. A reachable port is a transport observation; it does not establish successful model execution. Exact intervals, retention and runtime results require the collector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05:30–07:00.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evidence/aws/arm-20260913/mcp-live-receipt.json.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07:00–07:30. The AWS Pricing API lists On Demand Linux t4g.xlarge at $0.1344 per hour in us-east-1. Public IPv4 adds $0.005 per hour, for $0.1394 per running hour, rounded to $0.139. At $0.08 per GB-month, the active 40 GiB gp3 disk costs $3.20 per month. The stopped x86 rollback host retains a 24 GiB gp3 disk at $1.92 per month. Together the disks cost $5.12 per month while rollback is retained. At 730 running hours, compute, IPv4 and both disks total $106.882, or about $107 per month. S3, transfer, model usage and taxes add charges. The instances use standard credits, and there is no NAT gateway or load balancer. The older x86 instance is stopped. Stop the active ARM instance after the demo with scripts/demo-cloud.py; inspect its dry-run plan first. Stopping releases the ephemeral IPv4 address and stops compute billing; EBS remains billable. Refresh the SSH address after restart. Keep the stopped x86 rollback host until it is no longer needed. Sources: evidence/aws/arm-20260913/price.json; evidence/aws/gp3-pricing.json; https://aws.amazon.com/vpc/pricing/ ; evidence/aws/arm-20260913/final-cloud-verification.json; scripts/demo-cloud.py.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0d96c11b1b4a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9f4aecc7694133" /><Relationship Type="http://schemas.openxmlformats.org/officeDocument/2006/relationships/slideLayout" Target="/ppt/slideLayouts/slideLayout1.xml" Id="R9ece38a9fb0c4a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ce38a9fb0c4a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5ca27d351c4243" /><Relationship Type="http://schemas.openxmlformats.org/officeDocument/2006/relationships/notesSlide" Target="/ppt/notesSlides/notesSlide1.xml" Id="Ra7e71b85a25948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0f3f7eeee9440f" /><Relationship Type="http://schemas.openxmlformats.org/officeDocument/2006/relationships/image" Target="/ppt/media/image.png" Id="Rb89a83dcdc0843d4" /><Relationship Type="http://schemas.openxmlformats.org/officeDocument/2006/relationships/notesSlide" Target="/ppt/notesSlides/notesSlide2.xml" Id="R644fedabc7f94d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0f713db93548e5" /><Relationship Type="http://schemas.openxmlformats.org/officeDocument/2006/relationships/notesSlide" Target="/ppt/notesSlides/notesSlide3.xml" Id="Rd88683e8722e43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55383545354fa8" /><Relationship Type="http://schemas.openxmlformats.org/officeDocument/2006/relationships/notesSlide" Target="/ppt/notesSlides/notesSlide4.xml" Id="Raf05b43e5fac4c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28db8b2b93496b" /><Relationship Type="http://schemas.openxmlformats.org/officeDocument/2006/relationships/notesSlide" Target="/ppt/notesSlides/notesSlide5.xml" Id="R5eb18e14edb54a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d527d41c074c26" /><Relationship Type="http://schemas.openxmlformats.org/officeDocument/2006/relationships/notesSlide" Target="/ppt/notesSlides/notesSlide6.xml" Id="R50dd8deae6df44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453062574c49fa" /><Relationship Type="http://schemas.openxmlformats.org/officeDocument/2006/relationships/notesSlide" Target="/ppt/notesSlides/notesSlide7.xml" Id="Rad7cb45c419b43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c5a6a3ffa14f69" /><Relationship Type="http://schemas.openxmlformats.org/officeDocument/2006/relationships/notesSlide" Target="/ppt/notesSlides/notesSlide8.xml" Id="R244c25a9344c48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ba4e21db2240b7" /><Relationship Type="http://schemas.openxmlformats.org/officeDocument/2006/relationships/notesSlide" Target="/ppt/notesSlides/notesSlide9.xml" Id="R5f84d6258a364c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8c5a734b704189" /><Relationship Type="http://schemas.openxmlformats.org/officeDocument/2006/relationships/notesSlide" Target="/ppt/notesSlides/notesSlide10.xml" Id="R32c4bdf72aa44c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4dbf025a9e472b" /><Relationship Type="http://schemas.openxmlformats.org/officeDocument/2006/relationships/notesSlide" Target="/ppt/notesSlides/notesSlide11.xml" Id="R286d96d00d7543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06d29cae0154a49" /><Relationship Type="http://schemas.openxmlformats.org/officeDocument/2006/relationships/notesSlide" Target="/ppt/notesSlides/notesSlide12.xml" Id="R4f082eb1c59246ff"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7361F2-1B8A-418D-9DDC-B9DB9D4EA7CF}"/>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ARM</a:t>
            </a:r>
          </a:p>
        </p:txBody>
      </p:sp>
      <p:sp>
        <p:nvSpPr>
          <p:cNvPr id="2" name="">
            <a:extLst xmlns:a="http://schemas.openxmlformats.org/drawingml/2006/main">
              <a:ext uri="{FF2B5EF4-FFF2-40B4-BE49-F238E27FC236}">
                <a16:creationId xmlns:a16="http://schemas.microsoft.com/office/drawing/2014/main" id="{164488ED-87C9-421B-BF11-1DCDEABE14A2}"/>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execution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client–server observability</a:t>
            </a:r>
          </a:p>
        </p:txBody>
      </p:sp>
      <p:sp>
        <p:nvSpPr>
          <p:cNvPr id="3" name="">
            <a:extLst xmlns:a="http://schemas.openxmlformats.org/drawingml/2006/main">
              <a:ext uri="{FF2B5EF4-FFF2-40B4-BE49-F238E27FC236}">
                <a16:creationId xmlns:a16="http://schemas.microsoft.com/office/drawing/2014/main" id="{338D75F4-D6C0-49EE-97DD-AA4E87094A90}"/>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6DB5F275-061C-46FC-B13A-87F0029CBDA7}"/>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462134101"/>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43F89B-C35A-4E86-A419-F69EAC6E962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05095D2E-3616-443D-9526-BD7FA5D9F235}"/>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1E9B616B-8A64-4BA2-AE70-C18807F48378}"/>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89a83dcdc0843d4"/>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AA9D117-0F05-402C-A740-3D69734A3AA8}"/>
              </a:ext>
            </a:extLst>
          </p:cNvPr>
          <p:cNvSpPr>
            <a:spLocks xmlns:a="http://schemas.openxmlformats.org/drawingml/2006/main" noGrp="1"/>
          </p:cNvSpPr>
          <p:nvPr/>
        </p:nvSpPr>
        <p:spPr>
          <a:xfrm xmlns:a="http://schemas.openxmlformats.org/drawingml/2006/main">
            <a:off x="609600" y="561975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Reference map.</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Verified here: remote client,</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MCP grants and S3 IAM checks.</a:t>
            </a:r>
          </a:p>
        </p:txBody>
      </p:sp>
    </p:spTree>
    <p:extLst>
      <p:ext uri="{BB962C8B-B14F-4D97-AF65-F5344CB8AC3E}">
        <p14:creationId xmlns:p14="http://schemas.microsoft.com/office/powerpoint/2010/main" val="2012406783"/>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ECE8E06-20F1-4A42-9579-59B0058E4978}"/>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execution in us-east-1</a:t>
            </a:r>
          </a:p>
        </p:txBody>
      </p:sp>
      <p:sp>
        <p:nvSpPr>
          <p:cNvPr id="2" name="">
            <a:extLst xmlns:a="http://schemas.openxmlformats.org/drawingml/2006/main">
              <a:ext uri="{FF2B5EF4-FFF2-40B4-BE49-F238E27FC236}">
                <a16:creationId xmlns:a16="http://schemas.microsoft.com/office/drawing/2014/main" id="{AC1DBF97-4A34-48CE-96D4-50809B1C0245}"/>
              </a:ext>
            </a:extLst>
          </p:cNvPr>
          <p:cNvSpPr>
            <a:spLocks xmlns:a="http://schemas.openxmlformats.org/drawingml/2006/main" noGrp="1"/>
          </p:cNvSpPr>
          <p:nvPr/>
        </p:nvSpPr>
        <p:spPr>
          <a:xfrm xmlns:a="http://schemas.openxmlformats.org/drawingml/2006/main">
            <a:off x="609600" y="2476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B62758"/>
                </a:solidFill>
                <a:latin typeface="Arial"/>
                <a:ea typeface="Arial"/>
                <a:cs typeface="Arial"/>
              </a:defRPr>
            </a:pPr>
            <a:r>
              <a:rPr sz="2850" b="1">
                <a:solidFill>
                  <a:srgbClr val="B62758"/>
                </a:solidFill>
                <a:latin typeface="Arial"/>
                <a:ea typeface="Arial"/>
                <a:cs typeface="Arial"/>
              </a:rPr>
              <a:t>Awaiting live evidence</a:t>
            </a:r>
          </a:p>
        </p:txBody>
      </p:sp>
      <p:sp>
        <p:nvSpPr>
          <p:cNvPr id="3" name="">
            <a:extLst xmlns:a="http://schemas.openxmlformats.org/drawingml/2006/main">
              <a:ext uri="{FF2B5EF4-FFF2-40B4-BE49-F238E27FC236}">
                <a16:creationId xmlns:a16="http://schemas.microsoft.com/office/drawing/2014/main" id="{3C91CE64-6CFE-4FF3-8526-12B39ED0E714}"/>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t4g.xlarge · 4 vCPUs · 16 GiB RAM · 40 GiB gp3 · SSH from the client IP /32</a:t>
            </a:r>
          </a:p>
        </p:txBody>
      </p:sp>
    </p:spTree>
    <p:extLst>
      <p:ext uri="{BB962C8B-B14F-4D97-AF65-F5344CB8AC3E}">
        <p14:creationId xmlns:p14="http://schemas.microsoft.com/office/powerpoint/2010/main" val="133913558"/>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9AF9D69-6825-40B1-93F8-7FC13A352030}"/>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Firewall blocks metadata for the crew UID</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ACE6480-2E39-4AA2-8356-252FE37A597E}"/>
              </a:ext>
            </a:extLst>
          </p:cNvPr>
          <p:cNvSpPr>
            <a:spLocks xmlns:a="http://schemas.openxmlformats.org/drawingml/2006/main" noGrp="1"/>
          </p:cNvSpPr>
          <p:nvPr/>
        </p:nvSpPr>
        <p:spPr>
          <a:xfrm xmlns:a="http://schemas.openxmlformats.org/drawingml/2006/main">
            <a:off x="609600" y="603885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MCP service uses the instance role for fixed S3 calls.</a:t>
            </a:r>
          </a:p>
        </p:txBody>
      </p:sp>
    </p:spTree>
    <p:extLst>
      <p:ext uri="{BB962C8B-B14F-4D97-AF65-F5344CB8AC3E}">
        <p14:creationId xmlns:p14="http://schemas.microsoft.com/office/powerpoint/2010/main" val="1113103716"/>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C6C742F-D9A8-462B-96BC-A6CA7DF37C1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6242C1E7-B8FF-4789-84F8-851E10700CFE}"/>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2018149242"/>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C7539A-5B04-4C92-A6A2-1C66522C415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MCP and AWS results</a:t>
            </a:r>
          </a:p>
        </p:txBody>
      </p:sp>
      <p:sp>
        <p:nvSpPr>
          <p:cNvPr id="2" name="">
            <a:extLst xmlns:a="http://schemas.openxmlformats.org/drawingml/2006/main">
              <a:ext uri="{FF2B5EF4-FFF2-40B4-BE49-F238E27FC236}">
                <a16:creationId xmlns:a16="http://schemas.microsoft.com/office/drawing/2014/main" id="{6822DF08-0CBB-485D-BF32-A08271E36560}"/>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the ARM host</a:t>
            </a:r>
          </a:p>
        </p:txBody>
      </p:sp>
      <p:sp>
        <p:nvSpPr>
          <p:cNvPr id="3" name="">
            <a:extLst xmlns:a="http://schemas.openxmlformats.org/drawingml/2006/main">
              <a:ext uri="{FF2B5EF4-FFF2-40B4-BE49-F238E27FC236}">
                <a16:creationId xmlns:a16="http://schemas.microsoft.com/office/drawing/2014/main" id="{D3DE4CA3-2BEF-40C6-A073-BE02B8AC485D}"/>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14:07:16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MCP stops the call before AWS</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5NMQFXT3FYT6A0A9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B919C24-A386-4381-B5C5-E0B45219E61F}"/>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6C58E996-C8AE-4533-BFA4-0007AEB0D457}"/>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Native Crew session pending.</a:t>
            </a:r>
          </a:p>
        </p:txBody>
      </p:sp>
    </p:spTree>
    <p:extLst>
      <p:ext uri="{BB962C8B-B14F-4D97-AF65-F5344CB8AC3E}">
        <p14:creationId xmlns:p14="http://schemas.microsoft.com/office/powerpoint/2010/main" val="634964799"/>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896E18-DF71-45A7-86ED-3E9209CB271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Nightly on ARM, with room to run</a:t>
            </a:r>
          </a:p>
        </p:txBody>
      </p:sp>
      <p:sp>
        <p:nvSpPr>
          <p:cNvPr id="2" name="">
            <a:extLst xmlns:a="http://schemas.openxmlformats.org/drawingml/2006/main">
              <a:ext uri="{FF2B5EF4-FFF2-40B4-BE49-F238E27FC236}">
                <a16:creationId xmlns:a16="http://schemas.microsoft.com/office/drawing/2014/main" id="{96E4DC93-4A25-418B-9B46-F670349FA238}"/>
              </a:ext>
            </a:extLst>
          </p:cNvPr>
          <p:cNvSpPr>
            <a:spLocks xmlns:a="http://schemas.openxmlformats.org/drawingml/2006/main" noGrp="1"/>
          </p:cNvSpPr>
          <p:nvPr/>
        </p:nvSpPr>
        <p:spPr>
          <a:xfrm xmlns:a="http://schemas.openxmlformats.org/drawingml/2006/main">
            <a:off x="609600" y="146685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Crew package</a:t>
            </a:r>
          </a:p>
        </p:txBody>
      </p:sp>
      <p:sp>
        <p:nvSpPr>
          <p:cNvPr id="3" name="">
            <a:extLst xmlns:a="http://schemas.openxmlformats.org/drawingml/2006/main">
              <a:ext uri="{FF2B5EF4-FFF2-40B4-BE49-F238E27FC236}">
                <a16:creationId xmlns:a16="http://schemas.microsoft.com/office/drawing/2014/main" id="{4F709F5F-0961-4B39-AA51-F1FE5749C1D0}"/>
              </a:ext>
            </a:extLst>
          </p:cNvPr>
          <p:cNvSpPr>
            <a:spLocks xmlns:a="http://schemas.openxmlformats.org/drawingml/2006/main" noGrp="1"/>
          </p:cNvSpPr>
          <p:nvPr/>
        </p:nvSpPr>
        <p:spPr>
          <a:xfrm xmlns:a="http://schemas.openxmlformats.org/drawingml/2006/main">
            <a:off x="609600" y="2133600"/>
            <a:ext cx="1076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Custom Linux ARM64 repack</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48 locked packages; 24 control modules match</a:t>
            </a:r>
          </a:p>
        </p:txBody>
      </p:sp>
      <p:sp>
        <p:nvSpPr>
          <p:cNvPr id="4" name="">
            <a:extLst xmlns:a="http://schemas.openxmlformats.org/drawingml/2006/main">
              <a:ext uri="{FF2B5EF4-FFF2-40B4-BE49-F238E27FC236}">
                <a16:creationId xmlns:a16="http://schemas.microsoft.com/office/drawing/2014/main" id="{80DDAEA5-38D0-4F34-AE1C-F45911A2CBB2}"/>
              </a:ext>
            </a:extLst>
          </p:cNvPr>
          <p:cNvSpPr>
            <a:spLocks xmlns:a="http://schemas.openxmlformats.org/drawingml/2006/main" noGrp="1"/>
          </p:cNvSpPr>
          <p:nvPr/>
        </p:nvSpPr>
        <p:spPr>
          <a:xfrm xmlns:a="http://schemas.openxmlformats.org/drawingml/2006/main">
            <a:off x="609600" y="36385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Host baseline</a:t>
            </a:r>
          </a:p>
        </p:txBody>
      </p:sp>
      <p:sp>
        <p:nvSpPr>
          <p:cNvPr id="5" name="">
            <a:extLst xmlns:a="http://schemas.openxmlformats.org/drawingml/2006/main">
              <a:ext uri="{FF2B5EF4-FFF2-40B4-BE49-F238E27FC236}">
                <a16:creationId xmlns:a16="http://schemas.microsoft.com/office/drawing/2014/main" id="{8FB2946D-AD7F-48BF-A61E-DE702CC12556}"/>
              </a:ext>
            </a:extLst>
          </p:cNvPr>
          <p:cNvSpPr>
            <a:spLocks xmlns:a="http://schemas.openxmlformats.org/drawingml/2006/main" noGrp="1"/>
          </p:cNvSpPr>
          <p:nvPr/>
        </p:nvSpPr>
        <p:spPr>
          <a:xfrm xmlns:a="http://schemas.openxmlformats.org/drawingml/2006/main">
            <a:off x="609600" y="43053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 vCPUs and 16 GiB RAM</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14.57 GiB available in the initial idle check</a:t>
            </a:r>
          </a:p>
        </p:txBody>
      </p:sp>
      <p:sp>
        <p:nvSpPr>
          <p:cNvPr id="6" name="">
            <a:extLst xmlns:a="http://schemas.openxmlformats.org/drawingml/2006/main">
              <a:ext uri="{FF2B5EF4-FFF2-40B4-BE49-F238E27FC236}">
                <a16:creationId xmlns:a16="http://schemas.microsoft.com/office/drawing/2014/main" id="{C4B97B47-46D1-404A-A2BC-40C980061D2F}"/>
              </a:ext>
            </a:extLst>
          </p:cNvPr>
          <p:cNvSpPr>
            <a:spLocks xmlns:a="http://schemas.openxmlformats.org/drawingml/2006/main" noGrp="1"/>
          </p:cNvSpPr>
          <p:nvPr/>
        </p:nvSpPr>
        <p:spPr>
          <a:xfrm xmlns:a="http://schemas.openxmlformats.org/drawingml/2006/main">
            <a:off x="609600" y="5543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8666"/>
                </a:solidFill>
                <a:latin typeface="Arial"/>
                <a:ea typeface="Arial"/>
                <a:cs typeface="Arial"/>
              </a:defRPr>
            </a:pPr>
            <a:r>
              <a:rPr sz="1875" b="0">
                <a:solidFill>
                  <a:srgbClr val="008666"/>
                </a:solidFill>
                <a:latin typeface="Arial"/>
                <a:ea typeface="Arial"/>
                <a:cs typeface="Arial"/>
              </a:rPr>
              <a:t>Kiro CLI 2.21.4 is installed separately.</a:t>
            </a:r>
          </a:p>
        </p:txBody>
      </p:sp>
      <p:sp>
        <p:nvSpPr>
          <p:cNvPr id="7" name="">
            <a:extLst xmlns:a="http://schemas.openxmlformats.org/drawingml/2006/main">
              <a:ext uri="{FF2B5EF4-FFF2-40B4-BE49-F238E27FC236}">
                <a16:creationId xmlns:a16="http://schemas.microsoft.com/office/drawing/2014/main" id="{38D41DA5-E017-49D4-A1F3-065115C932AF}"/>
              </a:ext>
            </a:extLst>
          </p:cNvPr>
          <p:cNvSpPr>
            <a:spLocks xmlns:a="http://schemas.openxmlformats.org/drawingml/2006/main" noGrp="1"/>
          </p:cNvSpPr>
          <p:nvPr/>
        </p:nvSpPr>
        <p:spPr>
          <a:xfrm xmlns:a="http://schemas.openxmlformats.org/drawingml/2006/main">
            <a:off x="609600" y="6057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62758"/>
                </a:solidFill>
                <a:latin typeface="Arial"/>
                <a:ea typeface="Arial"/>
                <a:cs typeface="Arial"/>
              </a:defRPr>
            </a:pPr>
            <a:r>
              <a:rPr sz="1950" b="1">
                <a:solidFill>
                  <a:srgbClr val="B62758"/>
                </a:solidFill>
                <a:latin typeface="Arial"/>
                <a:ea typeface="Arial"/>
                <a:cs typeface="Arial"/>
              </a:rPr>
              <a:t>Native authentication and full-session performance pending.</a:t>
            </a:r>
          </a:p>
        </p:txBody>
      </p:sp>
    </p:spTree>
    <p:extLst>
      <p:ext uri="{BB962C8B-B14F-4D97-AF65-F5344CB8AC3E}">
        <p14:creationId xmlns:p14="http://schemas.microsoft.com/office/powerpoint/2010/main" val="861712861"/>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67120C4-03B1-4BC8-B384-BE9EC93CD49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Native Gateway telemetry</a:t>
            </a:r>
          </a:p>
        </p:txBody>
      </p:sp>
      <p:sp>
        <p:nvSpPr>
          <p:cNvPr id="2" name="">
            <a:extLst xmlns:a="http://schemas.openxmlformats.org/drawingml/2006/main">
              <a:ext uri="{FF2B5EF4-FFF2-40B4-BE49-F238E27FC236}">
                <a16:creationId xmlns:a16="http://schemas.microsoft.com/office/drawing/2014/main" id="{4FF5364D-AD73-4C98-B4CA-9D252DF56F4E}"/>
              </a:ext>
            </a:extLst>
          </p:cNvPr>
          <p:cNvSpPr>
            <a:spLocks xmlns:a="http://schemas.openxmlformats.org/drawingml/2006/main" noGrp="1"/>
          </p:cNvSpPr>
          <p:nvPr/>
        </p:nvSpPr>
        <p:spPr>
          <a:xfrm xmlns:a="http://schemas.openxmlformats.org/drawingml/2006/main">
            <a:off x="609600" y="2476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B62758"/>
                </a:solidFill>
                <a:latin typeface="Arial"/>
                <a:ea typeface="Arial"/>
                <a:cs typeface="Arial"/>
              </a:defRPr>
            </a:pPr>
            <a:r>
              <a:rPr sz="2850" b="1">
                <a:solidFill>
                  <a:srgbClr val="B62758"/>
                </a:solidFill>
                <a:latin typeface="Arial"/>
                <a:ea typeface="Arial"/>
                <a:cs typeface="Arial"/>
              </a:rPr>
              <a:t>Awaiting live evidence</a:t>
            </a:r>
          </a:p>
        </p:txBody>
      </p:sp>
      <p:sp>
        <p:nvSpPr>
          <p:cNvPr id="3" name="">
            <a:extLst xmlns:a="http://schemas.openxmlformats.org/drawingml/2006/main">
              <a:ext uri="{FF2B5EF4-FFF2-40B4-BE49-F238E27FC236}">
                <a16:creationId xmlns:a16="http://schemas.microsoft.com/office/drawing/2014/main" id="{98037629-9B8F-4AA4-915B-F066BE3B1F28}"/>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Gateway instrumentation. Native model-session telemetry remains pending.</a:t>
            </a:r>
          </a:p>
        </p:txBody>
      </p:sp>
    </p:spTree>
    <p:extLst>
      <p:ext uri="{BB962C8B-B14F-4D97-AF65-F5344CB8AC3E}">
        <p14:creationId xmlns:p14="http://schemas.microsoft.com/office/powerpoint/2010/main" val="1994535871"/>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07C5878-B390-486E-B1BB-CA565DD9E22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in Demo Observability</a:t>
            </a:r>
          </a:p>
        </p:txBody>
      </p:sp>
      <p:sp>
        <p:nvSpPr>
          <p:cNvPr id="2" name="">
            <a:extLst xmlns:a="http://schemas.openxmlformats.org/drawingml/2006/main">
              <a:ext uri="{FF2B5EF4-FFF2-40B4-BE49-F238E27FC236}">
                <a16:creationId xmlns:a16="http://schemas.microsoft.com/office/drawing/2014/main" id="{B00268E0-50DB-4BED-877A-2718C9DFAA1B}"/>
              </a:ext>
            </a:extLst>
          </p:cNvPr>
          <p:cNvSpPr>
            <a:spLocks xmlns:a="http://schemas.openxmlformats.org/drawingml/2006/main" noGrp="1"/>
          </p:cNvSpPr>
          <p:nvPr/>
        </p:nvSpPr>
        <p:spPr>
          <a:xfrm xmlns:a="http://schemas.openxmlformats.org/drawingml/2006/main">
            <a:off x="609600" y="2476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B62758"/>
                </a:solidFill>
                <a:latin typeface="Arial"/>
                <a:ea typeface="Arial"/>
                <a:cs typeface="Arial"/>
              </a:defRPr>
            </a:pPr>
            <a:r>
              <a:rPr sz="2850" b="1">
                <a:solidFill>
                  <a:srgbClr val="B62758"/>
                </a:solidFill>
                <a:latin typeface="Arial"/>
                <a:ea typeface="Arial"/>
                <a:cs typeface="Arial"/>
              </a:rPr>
              <a:t>Awaiting live evidence</a:t>
            </a:r>
          </a:p>
        </p:txBody>
      </p:sp>
      <p:sp>
        <p:nvSpPr>
          <p:cNvPr id="3" name="">
            <a:extLst xmlns:a="http://schemas.openxmlformats.org/drawingml/2006/main">
              <a:ext uri="{FF2B5EF4-FFF2-40B4-BE49-F238E27FC236}">
                <a16:creationId xmlns:a16="http://schemas.microsoft.com/office/drawing/2014/main" id="{76727D1C-2BC8-433D-8016-AA327D39CF08}"/>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Custom Mac and EC2 samples; collection events show their freshness.</a:t>
            </a:r>
          </a:p>
        </p:txBody>
      </p:sp>
    </p:spTree>
    <p:extLst>
      <p:ext uri="{BB962C8B-B14F-4D97-AF65-F5344CB8AC3E}">
        <p14:creationId xmlns:p14="http://schemas.microsoft.com/office/powerpoint/2010/main" val="2072888443"/>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99F3FA-BB3E-456A-BE24-C58DEF90444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Read the source and time first</a:t>
            </a:r>
          </a:p>
        </p:txBody>
      </p:sp>
      <p:sp>
        <p:nvSpPr>
          <p:cNvPr id="2" name="">
            <a:extLst xmlns:a="http://schemas.openxmlformats.org/drawingml/2006/main">
              <a:ext uri="{FF2B5EF4-FFF2-40B4-BE49-F238E27FC236}">
                <a16:creationId xmlns:a16="http://schemas.microsoft.com/office/drawing/2014/main" id="{9D8432E6-BAF4-4E5F-BE48-C20C85EC2696}"/>
              </a:ext>
            </a:extLst>
          </p:cNvPr>
          <p:cNvSpPr>
            <a:spLocks xmlns:a="http://schemas.openxmlformats.org/drawingml/2006/main" noGrp="1"/>
          </p:cNvSpPr>
          <p:nvPr/>
        </p:nvSpPr>
        <p:spPr>
          <a:xfrm xmlns:a="http://schemas.openxmlformats.org/drawingml/2006/main">
            <a:off x="609600" y="15621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Open Developer → Telemetry</a:t>
            </a:r>
          </a:p>
        </p:txBody>
      </p:sp>
      <p:sp>
        <p:nvSpPr>
          <p:cNvPr id="3" name="">
            <a:extLst xmlns:a="http://schemas.openxmlformats.org/drawingml/2006/main">
              <a:ext uri="{FF2B5EF4-FFF2-40B4-BE49-F238E27FC236}">
                <a16:creationId xmlns:a16="http://schemas.microsoft.com/office/drawing/2014/main" id="{F160E509-96B1-4E2D-9C82-31CBD8CE594B}"/>
              </a:ext>
            </a:extLst>
          </p:cNvPr>
          <p:cNvSpPr>
            <a:spLocks xmlns:a="http://schemas.openxmlformats.org/drawingml/2006/main" noGrp="1"/>
          </p:cNvSpPr>
          <p:nvPr/>
        </p:nvSpPr>
        <p:spPr>
          <a:xfrm xmlns:a="http://schemas.openxmlformats.org/drawingml/2006/main">
            <a:off x="609600" y="2476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Open Apps → Demo Observability</a:t>
            </a:r>
          </a:p>
        </p:txBody>
      </p:sp>
      <p:sp>
        <p:nvSpPr>
          <p:cNvPr id="4" name="">
            <a:extLst xmlns:a="http://schemas.openxmlformats.org/drawingml/2006/main">
              <a:ext uri="{FF2B5EF4-FFF2-40B4-BE49-F238E27FC236}">
                <a16:creationId xmlns:a16="http://schemas.microsoft.com/office/drawing/2014/main" id="{92F27041-AB55-4845-B1A4-B8859C3CB8EC}"/>
              </a:ext>
            </a:extLst>
          </p:cNvPr>
          <p:cNvSpPr>
            <a:spLocks xmlns:a="http://schemas.openxmlformats.org/drawingml/2006/main" noGrp="1"/>
          </p:cNvSpPr>
          <p:nvPr/>
        </p:nvSpPr>
        <p:spPr>
          <a:xfrm xmlns:a="http://schemas.openxmlformats.org/drawingml/2006/main">
            <a:off x="609600" y="3390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Compare client and EC2 sample times</a:t>
            </a:r>
          </a:p>
        </p:txBody>
      </p:sp>
      <p:sp>
        <p:nvSpPr>
          <p:cNvPr id="5" name="">
            <a:extLst xmlns:a="http://schemas.openxmlformats.org/drawingml/2006/main">
              <a:ext uri="{FF2B5EF4-FFF2-40B4-BE49-F238E27FC236}">
                <a16:creationId xmlns:a16="http://schemas.microsoft.com/office/drawing/2014/main" id="{DFB3C097-269B-4DCF-A192-94460EC979A7}"/>
              </a:ext>
            </a:extLst>
          </p:cNvPr>
          <p:cNvSpPr>
            <a:spLocks xmlns:a="http://schemas.openxmlformats.org/drawingml/2006/main" noGrp="1"/>
          </p:cNvSpPr>
          <p:nvPr/>
        </p:nvSpPr>
        <p:spPr>
          <a:xfrm xmlns:a="http://schemas.openxmlformats.org/drawingml/2006/main">
            <a:off x="609600" y="43053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4   Inspect collection events and stale states</a:t>
            </a:r>
          </a:p>
        </p:txBody>
      </p:sp>
      <p:sp>
        <p:nvSpPr>
          <p:cNvPr id="6" name="">
            <a:extLst xmlns:a="http://schemas.openxmlformats.org/drawingml/2006/main">
              <a:ext uri="{FF2B5EF4-FFF2-40B4-BE49-F238E27FC236}">
                <a16:creationId xmlns:a16="http://schemas.microsoft.com/office/drawing/2014/main" id="{EA1E5E30-74BF-4511-B1EB-631A3F5FA4EE}"/>
              </a:ext>
            </a:extLst>
          </p:cNvPr>
          <p:cNvSpPr>
            <a:spLocks xmlns:a="http://schemas.openxmlformats.org/drawingml/2006/main" noGrp="1"/>
          </p:cNvSpPr>
          <p:nvPr/>
        </p:nvSpPr>
        <p:spPr>
          <a:xfrm xmlns:a="http://schemas.openxmlformats.org/drawingml/2006/main">
            <a:off x="609600" y="5762625"/>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Transport and process health do not prove a native model session.</a:t>
            </a:r>
          </a:p>
        </p:txBody>
      </p:sp>
    </p:spTree>
    <p:extLst>
      <p:ext uri="{BB962C8B-B14F-4D97-AF65-F5344CB8AC3E}">
        <p14:creationId xmlns:p14="http://schemas.microsoft.com/office/powerpoint/2010/main" val="297642553"/>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460ACD-33B7-40AB-97D7-92EAA107B6A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91A529C4-F2B2-41D1-810B-74E675E9E090}"/>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0EF9BEB0-B66B-4998-A6A5-64231730E348}"/>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176C17F1-F8CE-44FA-BDF7-4F678880AB31}"/>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2FC500BB-4E44-4CEF-B8DF-57872735174E}"/>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530F0A79-1B43-44C3-8D71-5E53BC7A8E22}"/>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311977969"/>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071E56-6F0B-42BD-B37A-1A2EC531599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Running cost and rollback</a:t>
            </a:r>
          </a:p>
        </p:txBody>
      </p:sp>
      <p:sp>
        <p:nvSpPr>
          <p:cNvPr id="2" name="">
            <a:extLst xmlns:a="http://schemas.openxmlformats.org/drawingml/2006/main">
              <a:ext uri="{FF2B5EF4-FFF2-40B4-BE49-F238E27FC236}">
                <a16:creationId xmlns:a16="http://schemas.microsoft.com/office/drawing/2014/main" id="{29FFA439-1DCB-45E5-90FC-165E2AF1731B}"/>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$0.139 per running hour</a:t>
            </a:r>
          </a:p>
        </p:txBody>
      </p:sp>
      <p:sp>
        <p:nvSpPr>
          <p:cNvPr id="3" name="">
            <a:extLst xmlns:a="http://schemas.openxmlformats.org/drawingml/2006/main">
              <a:ext uri="{FF2B5EF4-FFF2-40B4-BE49-F238E27FC236}">
                <a16:creationId xmlns:a16="http://schemas.microsoft.com/office/drawing/2014/main" id="{8AB042DF-934B-4640-B624-E30D6D1F928F}"/>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ARM storage adds $3.20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The stopped rollback disk adds $1.92 per month.</a:t>
            </a:r>
          </a:p>
        </p:txBody>
      </p:sp>
      <p:sp>
        <p:nvSpPr>
          <p:cNvPr id="4" name="">
            <a:extLst xmlns:a="http://schemas.openxmlformats.org/drawingml/2006/main">
              <a:ext uri="{FF2B5EF4-FFF2-40B4-BE49-F238E27FC236}">
                <a16:creationId xmlns:a16="http://schemas.microsoft.com/office/drawing/2014/main" id="{4E31211D-11F8-49C7-B746-88BBE5150260}"/>
              </a:ext>
            </a:extLst>
          </p:cNvPr>
          <p:cNvSpPr>
            <a:spLocks xmlns:a="http://schemas.openxmlformats.org/drawingml/2006/main" noGrp="1"/>
          </p:cNvSpPr>
          <p:nvPr/>
        </p:nvSpPr>
        <p:spPr>
          <a:xfrm xmlns:a="http://schemas.openxmlformats.org/drawingml/2006/main">
            <a:off x="609600" y="38862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About $107 per month if always on</a:t>
            </a:r>
          </a:p>
        </p:txBody>
      </p:sp>
      <p:sp>
        <p:nvSpPr>
          <p:cNvPr id="5" name="">
            <a:extLst xmlns:a="http://schemas.openxmlformats.org/drawingml/2006/main">
              <a:ext uri="{FF2B5EF4-FFF2-40B4-BE49-F238E27FC236}">
                <a16:creationId xmlns:a16="http://schemas.microsoft.com/office/drawing/2014/main" id="{E60D148C-2005-4F9C-AED1-A228116C0192}"/>
              </a:ext>
            </a:extLst>
          </p:cNvPr>
          <p:cNvSpPr>
            <a:spLocks xmlns:a="http://schemas.openxmlformats.org/drawingml/2006/main" noGrp="1"/>
          </p:cNvSpPr>
          <p:nvPr/>
        </p:nvSpPr>
        <p:spPr>
          <a:xfrm xmlns:a="http://schemas.openxmlformats.org/drawingml/2006/main">
            <a:off x="609600" y="4695825"/>
            <a:ext cx="10858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Includes both disks; excludes S3, transfer, model use and tax.</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Stop the ARM host after the demo. EBS remains billable.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The x86 host stays stopped for rollback.</a:t>
            </a:r>
          </a:p>
        </p:txBody>
      </p:sp>
      <p:sp>
        <p:nvSpPr>
          <p:cNvPr id="6" name="">
            <a:extLst xmlns:a="http://schemas.openxmlformats.org/drawingml/2006/main">
              <a:ext uri="{FF2B5EF4-FFF2-40B4-BE49-F238E27FC236}">
                <a16:creationId xmlns:a16="http://schemas.microsoft.com/office/drawing/2014/main" id="{01699ADD-A099-4509-B0E3-504E4BA4E792}"/>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Refresh the SSH address after restart.</a:t>
            </a:r>
          </a:p>
        </p:txBody>
      </p:sp>
    </p:spTree>
    <p:extLst>
      <p:ext uri="{BB962C8B-B14F-4D97-AF65-F5344CB8AC3E}">
        <p14:creationId xmlns:p14="http://schemas.microsoft.com/office/powerpoint/2010/main" val="12011070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2026-09-13T14:34:12.4450000Z</dcterms:created>
  <dcterms:modified xsi:type="dcterms:W3CDTF">2026-09-13T14:34:12.4450000Z</dcterms:modified>
</coreProperties>
</file>